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Montserrat Ultra-Bold" charset="1" panose="00000900000000000000"/>
      <p:regular r:id="rId14"/>
    </p:embeddedFont>
    <p:embeddedFont>
      <p:font typeface="Montserrat Semi-Bold" charset="1" panose="00000700000000000000"/>
      <p:regular r:id="rId15"/>
    </p:embeddedFont>
    <p:embeddedFont>
      <p:font typeface="Montserrat Bold" charset="1" panose="00000800000000000000"/>
      <p:regular r:id="rId16"/>
    </p:embeddedFont>
    <p:embeddedFont>
      <p:font typeface="Montserrat" charset="1" panose="00000500000000000000"/>
      <p:regular r:id="rId17"/>
    </p:embeddedFont>
    <p:embeddedFont>
      <p:font typeface="Montserrat Italics" charset="1" panose="00000500000000000000"/>
      <p:regular r:id="rId18"/>
    </p:embeddedFont>
    <p:embeddedFont>
      <p:font typeface="Montserrat Light" charset="1" panose="00000400000000000000"/>
      <p:regular r:id="rId19"/>
    </p:embeddedFont>
    <p:embeddedFont>
      <p:font typeface="Muli Bold" charset="1" panose="00000800000000000000"/>
      <p:regular r:id="rId20"/>
    </p:embeddedFont>
    <p:embeddedFont>
      <p:font typeface="Montserrat Bold Italics" charset="1" panose="000008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13" Target="../media/image30.png" Type="http://schemas.openxmlformats.org/officeDocument/2006/relationships/image"/><Relationship Id="rId14" Target="../media/image31.png" Type="http://schemas.openxmlformats.org/officeDocument/2006/relationships/image"/><Relationship Id="rId15" Target="../media/image32.png" Type="http://schemas.openxmlformats.org/officeDocument/2006/relationships/image"/><Relationship Id="rId16" Target="../media/image33.png" Type="http://schemas.openxmlformats.org/officeDocument/2006/relationships/image"/><Relationship Id="rId17" Target="../media/image34.png" Type="http://schemas.openxmlformats.org/officeDocument/2006/relationships/image"/><Relationship Id="rId18" Target="../media/image35.png" Type="http://schemas.openxmlformats.org/officeDocument/2006/relationships/image"/><Relationship Id="rId19" Target="../media/image36.png" Type="http://schemas.openxmlformats.org/officeDocument/2006/relationships/image"/><Relationship Id="rId2" Target="../media/image19.png" Type="http://schemas.openxmlformats.org/officeDocument/2006/relationships/image"/><Relationship Id="rId20" Target="../media/image37.png" Type="http://schemas.openxmlformats.org/officeDocument/2006/relationships/image"/><Relationship Id="rId21" Target="../media/image38.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png" Type="http://schemas.openxmlformats.org/officeDocument/2006/relationships/image"/><Relationship Id="rId12" Target="../media/image49.png" Type="http://schemas.openxmlformats.org/officeDocument/2006/relationships/image"/><Relationship Id="rId13" Target="../media/image50.png" Type="http://schemas.openxmlformats.org/officeDocument/2006/relationships/image"/><Relationship Id="rId14" Target="../media/image51.png" Type="http://schemas.openxmlformats.org/officeDocument/2006/relationships/image"/><Relationship Id="rId15" Target="../media/image52.png" Type="http://schemas.openxmlformats.org/officeDocument/2006/relationships/image"/><Relationship Id="rId16" Target="../media/image53.png" Type="http://schemas.openxmlformats.org/officeDocument/2006/relationships/image"/><Relationship Id="rId17" Target="../media/image54.png" Type="http://schemas.openxmlformats.org/officeDocument/2006/relationships/image"/><Relationship Id="rId18" Target="../media/image55.png" Type="http://schemas.openxmlformats.org/officeDocument/2006/relationships/image"/><Relationship Id="rId19" Target="../media/image56.png" Type="http://schemas.openxmlformats.org/officeDocument/2006/relationships/image"/><Relationship Id="rId2" Target="../media/image39.png" Type="http://schemas.openxmlformats.org/officeDocument/2006/relationships/image"/><Relationship Id="rId20" Target="../media/image57.png" Type="http://schemas.openxmlformats.org/officeDocument/2006/relationships/image"/><Relationship Id="rId21" Target="../media/image58.png" Type="http://schemas.openxmlformats.org/officeDocument/2006/relationships/image"/><Relationship Id="rId22" Target="../media/image59.png" Type="http://schemas.openxmlformats.org/officeDocument/2006/relationships/image"/><Relationship Id="rId23" Target="../media/image60.png" Type="http://schemas.openxmlformats.org/officeDocument/2006/relationships/image"/><Relationship Id="rId24" Target="../media/image61.png" Type="http://schemas.openxmlformats.org/officeDocument/2006/relationships/image"/><Relationship Id="rId25" Target="../media/image62.png" Type="http://schemas.openxmlformats.org/officeDocument/2006/relationships/image"/><Relationship Id="rId26" Target="../media/image63.png" Type="http://schemas.openxmlformats.org/officeDocument/2006/relationships/image"/><Relationship Id="rId27" Target="../media/image64.png" Type="http://schemas.openxmlformats.org/officeDocument/2006/relationships/image"/><Relationship Id="rId28" Target="../media/image65.png" Type="http://schemas.openxmlformats.org/officeDocument/2006/relationships/image"/><Relationship Id="rId29" Target="../media/image66.png" Type="http://schemas.openxmlformats.org/officeDocument/2006/relationships/image"/><Relationship Id="rId3" Target="../media/image40.png" Type="http://schemas.openxmlformats.org/officeDocument/2006/relationships/image"/><Relationship Id="rId30" Target="../media/image67.png" Type="http://schemas.openxmlformats.org/officeDocument/2006/relationships/image"/><Relationship Id="rId31" Target="../media/image68.png" Type="http://schemas.openxmlformats.org/officeDocument/2006/relationships/image"/><Relationship Id="rId32" Target="../media/image69.png" Type="http://schemas.openxmlformats.org/officeDocument/2006/relationships/image"/><Relationship Id="rId33" Target="../media/image70.png" Type="http://schemas.openxmlformats.org/officeDocument/2006/relationships/image"/><Relationship Id="rId34" Target="../media/image71.png" Type="http://schemas.openxmlformats.org/officeDocument/2006/relationships/image"/><Relationship Id="rId35" Target="../media/image72.png" Type="http://schemas.openxmlformats.org/officeDocument/2006/relationships/image"/><Relationship Id="rId36" Target="../media/image73.png" Type="http://schemas.openxmlformats.org/officeDocument/2006/relationships/image"/><Relationship Id="rId37" Target="../media/image74.png" Type="http://schemas.openxmlformats.org/officeDocument/2006/relationships/image"/><Relationship Id="rId38" Target="../media/image75.png" Type="http://schemas.openxmlformats.org/officeDocument/2006/relationships/image"/><Relationship Id="rId39" Target="../media/image76.png" Type="http://schemas.openxmlformats.org/officeDocument/2006/relationships/image"/><Relationship Id="rId4" Target="../media/image41.png" Type="http://schemas.openxmlformats.org/officeDocument/2006/relationships/image"/><Relationship Id="rId40" Target="../media/image77.png" Type="http://schemas.openxmlformats.org/officeDocument/2006/relationships/image"/><Relationship Id="rId41" Target="../media/image78.png" Type="http://schemas.openxmlformats.org/officeDocument/2006/relationships/image"/><Relationship Id="rId42" Target="../media/image79.png" Type="http://schemas.openxmlformats.org/officeDocument/2006/relationships/image"/><Relationship Id="rId43" Target="../media/image80.png" Type="http://schemas.openxmlformats.org/officeDocument/2006/relationships/image"/><Relationship Id="rId44" Target="../media/image81.png" Type="http://schemas.openxmlformats.org/officeDocument/2006/relationships/image"/><Relationship Id="rId45" Target="../media/image82.png" Type="http://schemas.openxmlformats.org/officeDocument/2006/relationships/image"/><Relationship Id="rId46" Target="../media/image83.png" Type="http://schemas.openxmlformats.org/officeDocument/2006/relationships/image"/><Relationship Id="rId47" Target="../media/image84.png" Type="http://schemas.openxmlformats.org/officeDocument/2006/relationships/image"/><Relationship Id="rId48" Target="../media/image85.png" Type="http://schemas.openxmlformats.org/officeDocument/2006/relationships/image"/><Relationship Id="rId49" Target="../media/image86.png" Type="http://schemas.openxmlformats.org/officeDocument/2006/relationships/image"/><Relationship Id="rId5" Target="../media/image42.png" Type="http://schemas.openxmlformats.org/officeDocument/2006/relationships/image"/><Relationship Id="rId50" Target="../media/image87.png" Type="http://schemas.openxmlformats.org/officeDocument/2006/relationships/image"/><Relationship Id="rId51" Target="../media/image88.png" Type="http://schemas.openxmlformats.org/officeDocument/2006/relationships/image"/><Relationship Id="rId52" Target="../media/image89.pn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8.png" Type="http://schemas.openxmlformats.org/officeDocument/2006/relationships/image"/><Relationship Id="rId11" Target="../media/image99.png" Type="http://schemas.openxmlformats.org/officeDocument/2006/relationships/image"/><Relationship Id="rId12" Target="../media/image100.png" Type="http://schemas.openxmlformats.org/officeDocument/2006/relationships/image"/><Relationship Id="rId2" Target="../media/image90.png" Type="http://schemas.openxmlformats.org/officeDocument/2006/relationships/image"/><Relationship Id="rId3" Target="../media/image91.png" Type="http://schemas.openxmlformats.org/officeDocument/2006/relationships/image"/><Relationship Id="rId4" Target="../media/image92.png" Type="http://schemas.openxmlformats.org/officeDocument/2006/relationships/image"/><Relationship Id="rId5" Target="../media/image93.png" Type="http://schemas.openxmlformats.org/officeDocument/2006/relationships/image"/><Relationship Id="rId6" Target="../media/image94.png" Type="http://schemas.openxmlformats.org/officeDocument/2006/relationships/image"/><Relationship Id="rId7" Target="../media/image95.png" Type="http://schemas.openxmlformats.org/officeDocument/2006/relationships/image"/><Relationship Id="rId8" Target="../media/image96.png" Type="http://schemas.openxmlformats.org/officeDocument/2006/relationships/image"/><Relationship Id="rId9" Target="../media/image9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png" Type="http://schemas.openxmlformats.org/officeDocument/2006/relationships/image"/><Relationship Id="rId11" Target="../media/image110.png" Type="http://schemas.openxmlformats.org/officeDocument/2006/relationships/image"/><Relationship Id="rId12" Target="../media/image111.png" Type="http://schemas.openxmlformats.org/officeDocument/2006/relationships/image"/><Relationship Id="rId13" Target="../media/image112.png" Type="http://schemas.openxmlformats.org/officeDocument/2006/relationships/image"/><Relationship Id="rId14" Target="../media/image113.png" Type="http://schemas.openxmlformats.org/officeDocument/2006/relationships/image"/><Relationship Id="rId2" Target="../media/image101.png" Type="http://schemas.openxmlformats.org/officeDocument/2006/relationships/image"/><Relationship Id="rId3" Target="../media/image102.png" Type="http://schemas.openxmlformats.org/officeDocument/2006/relationships/image"/><Relationship Id="rId4" Target="../media/image103.png" Type="http://schemas.openxmlformats.org/officeDocument/2006/relationships/image"/><Relationship Id="rId5" Target="../media/image104.png" Type="http://schemas.openxmlformats.org/officeDocument/2006/relationships/image"/><Relationship Id="rId6" Target="../media/image105.png" Type="http://schemas.openxmlformats.org/officeDocument/2006/relationships/image"/><Relationship Id="rId7" Target="../media/image106.png" Type="http://schemas.openxmlformats.org/officeDocument/2006/relationships/image"/><Relationship Id="rId8" Target="../media/image107.png" Type="http://schemas.openxmlformats.org/officeDocument/2006/relationships/image"/><Relationship Id="rId9" Target="../media/image10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2.png" Type="http://schemas.openxmlformats.org/officeDocument/2006/relationships/image"/><Relationship Id="rId11" Target="../media/image123.png" Type="http://schemas.openxmlformats.org/officeDocument/2006/relationships/image"/><Relationship Id="rId12" Target="../media/image124.png" Type="http://schemas.openxmlformats.org/officeDocument/2006/relationships/image"/><Relationship Id="rId13" Target="../media/image125.png" Type="http://schemas.openxmlformats.org/officeDocument/2006/relationships/image"/><Relationship Id="rId14" Target="../media/image126.png" Type="http://schemas.openxmlformats.org/officeDocument/2006/relationships/image"/><Relationship Id="rId15" Target="../media/image127.png" Type="http://schemas.openxmlformats.org/officeDocument/2006/relationships/image"/><Relationship Id="rId16" Target="../media/image128.png" Type="http://schemas.openxmlformats.org/officeDocument/2006/relationships/image"/><Relationship Id="rId17" Target="../media/image129.png" Type="http://schemas.openxmlformats.org/officeDocument/2006/relationships/image"/><Relationship Id="rId18" Target="../media/image130.png" Type="http://schemas.openxmlformats.org/officeDocument/2006/relationships/image"/><Relationship Id="rId19" Target="../media/image131.png" Type="http://schemas.openxmlformats.org/officeDocument/2006/relationships/image"/><Relationship Id="rId2" Target="../media/image114.png" Type="http://schemas.openxmlformats.org/officeDocument/2006/relationships/image"/><Relationship Id="rId20" Target="../media/image132.png" Type="http://schemas.openxmlformats.org/officeDocument/2006/relationships/image"/><Relationship Id="rId21" Target="../media/image133.png" Type="http://schemas.openxmlformats.org/officeDocument/2006/relationships/image"/><Relationship Id="rId22" Target="../media/image134.png" Type="http://schemas.openxmlformats.org/officeDocument/2006/relationships/image"/><Relationship Id="rId23" Target="../media/image135.png" Type="http://schemas.openxmlformats.org/officeDocument/2006/relationships/image"/><Relationship Id="rId24" Target="../media/image136.png" Type="http://schemas.openxmlformats.org/officeDocument/2006/relationships/image"/><Relationship Id="rId25" Target="../media/image137.png" Type="http://schemas.openxmlformats.org/officeDocument/2006/relationships/image"/><Relationship Id="rId26" Target="../media/image138.png" Type="http://schemas.openxmlformats.org/officeDocument/2006/relationships/image"/><Relationship Id="rId27" Target="../media/image139.png" Type="http://schemas.openxmlformats.org/officeDocument/2006/relationships/image"/><Relationship Id="rId28" Target="../media/image140.png" Type="http://schemas.openxmlformats.org/officeDocument/2006/relationships/image"/><Relationship Id="rId29" Target="../media/image141.png" Type="http://schemas.openxmlformats.org/officeDocument/2006/relationships/image"/><Relationship Id="rId3" Target="../media/image115.png" Type="http://schemas.openxmlformats.org/officeDocument/2006/relationships/image"/><Relationship Id="rId30" Target="../media/image142.png" Type="http://schemas.openxmlformats.org/officeDocument/2006/relationships/image"/><Relationship Id="rId31" Target="../media/image143.png" Type="http://schemas.openxmlformats.org/officeDocument/2006/relationships/image"/><Relationship Id="rId32" Target="../media/image144.png" Type="http://schemas.openxmlformats.org/officeDocument/2006/relationships/image"/><Relationship Id="rId33" Target="../media/image145.png" Type="http://schemas.openxmlformats.org/officeDocument/2006/relationships/image"/><Relationship Id="rId34" Target="../media/image146.png" Type="http://schemas.openxmlformats.org/officeDocument/2006/relationships/image"/><Relationship Id="rId35" Target="../media/image147.png" Type="http://schemas.openxmlformats.org/officeDocument/2006/relationships/image"/><Relationship Id="rId36" Target="../media/image148.png" Type="http://schemas.openxmlformats.org/officeDocument/2006/relationships/image"/><Relationship Id="rId37" Target="../media/image149.png" Type="http://schemas.openxmlformats.org/officeDocument/2006/relationships/image"/><Relationship Id="rId38" Target="../media/image150.png" Type="http://schemas.openxmlformats.org/officeDocument/2006/relationships/image"/><Relationship Id="rId4" Target="../media/image116.png" Type="http://schemas.openxmlformats.org/officeDocument/2006/relationships/image"/><Relationship Id="rId5" Target="../media/image117.png" Type="http://schemas.openxmlformats.org/officeDocument/2006/relationships/image"/><Relationship Id="rId6" Target="../media/image118.png" Type="http://schemas.openxmlformats.org/officeDocument/2006/relationships/image"/><Relationship Id="rId7" Target="../media/image119.png" Type="http://schemas.openxmlformats.org/officeDocument/2006/relationships/image"/><Relationship Id="rId8" Target="../media/image120.png" Type="http://schemas.openxmlformats.org/officeDocument/2006/relationships/image"/><Relationship Id="rId9" Target="../media/image1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9.png" Type="http://schemas.openxmlformats.org/officeDocument/2006/relationships/image"/><Relationship Id="rId11" Target="../media/image160.png" Type="http://schemas.openxmlformats.org/officeDocument/2006/relationships/image"/><Relationship Id="rId12" Target="../media/image161.png" Type="http://schemas.openxmlformats.org/officeDocument/2006/relationships/image"/><Relationship Id="rId13" Target="../media/image162.png" Type="http://schemas.openxmlformats.org/officeDocument/2006/relationships/image"/><Relationship Id="rId14" Target="../media/image163.png" Type="http://schemas.openxmlformats.org/officeDocument/2006/relationships/image"/><Relationship Id="rId15" Target="../media/image164.png" Type="http://schemas.openxmlformats.org/officeDocument/2006/relationships/image"/><Relationship Id="rId16" Target="../media/image165.png" Type="http://schemas.openxmlformats.org/officeDocument/2006/relationships/image"/><Relationship Id="rId17" Target="../media/image166.png" Type="http://schemas.openxmlformats.org/officeDocument/2006/relationships/image"/><Relationship Id="rId18" Target="../media/image167.png" Type="http://schemas.openxmlformats.org/officeDocument/2006/relationships/image"/><Relationship Id="rId19" Target="../media/image168.png" Type="http://schemas.openxmlformats.org/officeDocument/2006/relationships/image"/><Relationship Id="rId2" Target="../media/image151.png" Type="http://schemas.openxmlformats.org/officeDocument/2006/relationships/image"/><Relationship Id="rId20" Target="../media/image169.png" Type="http://schemas.openxmlformats.org/officeDocument/2006/relationships/image"/><Relationship Id="rId21" Target="../media/image170.png" Type="http://schemas.openxmlformats.org/officeDocument/2006/relationships/image"/><Relationship Id="rId22" Target="../media/image171.png" Type="http://schemas.openxmlformats.org/officeDocument/2006/relationships/image"/><Relationship Id="rId23" Target="../media/image172.png" Type="http://schemas.openxmlformats.org/officeDocument/2006/relationships/image"/><Relationship Id="rId24" Target="../media/image173.png" Type="http://schemas.openxmlformats.org/officeDocument/2006/relationships/image"/><Relationship Id="rId25" Target="../media/image174.png" Type="http://schemas.openxmlformats.org/officeDocument/2006/relationships/image"/><Relationship Id="rId26" Target="../media/image175.png" Type="http://schemas.openxmlformats.org/officeDocument/2006/relationships/image"/><Relationship Id="rId27" Target="../media/image176.png" Type="http://schemas.openxmlformats.org/officeDocument/2006/relationships/image"/><Relationship Id="rId28" Target="../media/image177.png" Type="http://schemas.openxmlformats.org/officeDocument/2006/relationships/image"/><Relationship Id="rId29" Target="../media/image178.png" Type="http://schemas.openxmlformats.org/officeDocument/2006/relationships/image"/><Relationship Id="rId3" Target="../media/image152.png" Type="http://schemas.openxmlformats.org/officeDocument/2006/relationships/image"/><Relationship Id="rId30" Target="../media/image179.png" Type="http://schemas.openxmlformats.org/officeDocument/2006/relationships/image"/><Relationship Id="rId31" Target="../media/image180.png" Type="http://schemas.openxmlformats.org/officeDocument/2006/relationships/image"/><Relationship Id="rId32" Target="../media/image181.png" Type="http://schemas.openxmlformats.org/officeDocument/2006/relationships/image"/><Relationship Id="rId33" Target="../media/image182.png" Type="http://schemas.openxmlformats.org/officeDocument/2006/relationships/image"/><Relationship Id="rId34" Target="../media/image183.png" Type="http://schemas.openxmlformats.org/officeDocument/2006/relationships/image"/><Relationship Id="rId4" Target="../media/image153.png" Type="http://schemas.openxmlformats.org/officeDocument/2006/relationships/image"/><Relationship Id="rId5" Target="../media/image154.png" Type="http://schemas.openxmlformats.org/officeDocument/2006/relationships/image"/><Relationship Id="rId6" Target="../media/image155.png" Type="http://schemas.openxmlformats.org/officeDocument/2006/relationships/image"/><Relationship Id="rId7" Target="../media/image156.png" Type="http://schemas.openxmlformats.org/officeDocument/2006/relationships/image"/><Relationship Id="rId8" Target="../media/image157.png" Type="http://schemas.openxmlformats.org/officeDocument/2006/relationships/image"/><Relationship Id="rId9" Target="../media/image15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2.png" Type="http://schemas.openxmlformats.org/officeDocument/2006/relationships/image"/><Relationship Id="rId11" Target="../media/image193.png" Type="http://schemas.openxmlformats.org/officeDocument/2006/relationships/image"/><Relationship Id="rId12" Target="../media/image194.png" Type="http://schemas.openxmlformats.org/officeDocument/2006/relationships/image"/><Relationship Id="rId13" Target="../media/image195.png" Type="http://schemas.openxmlformats.org/officeDocument/2006/relationships/image"/><Relationship Id="rId14" Target="../media/image196.png" Type="http://schemas.openxmlformats.org/officeDocument/2006/relationships/image"/><Relationship Id="rId15" Target="../media/image197.png" Type="http://schemas.openxmlformats.org/officeDocument/2006/relationships/image"/><Relationship Id="rId16" Target="../media/image198.png" Type="http://schemas.openxmlformats.org/officeDocument/2006/relationships/image"/><Relationship Id="rId17" Target="../media/image199.png" Type="http://schemas.openxmlformats.org/officeDocument/2006/relationships/image"/><Relationship Id="rId18" Target="../media/image200.png" Type="http://schemas.openxmlformats.org/officeDocument/2006/relationships/image"/><Relationship Id="rId19" Target="../media/image201.png" Type="http://schemas.openxmlformats.org/officeDocument/2006/relationships/image"/><Relationship Id="rId2" Target="../media/image184.png" Type="http://schemas.openxmlformats.org/officeDocument/2006/relationships/image"/><Relationship Id="rId3" Target="../media/image185.png" Type="http://schemas.openxmlformats.org/officeDocument/2006/relationships/image"/><Relationship Id="rId4" Target="../media/image186.png" Type="http://schemas.openxmlformats.org/officeDocument/2006/relationships/image"/><Relationship Id="rId5" Target="../media/image187.png" Type="http://schemas.openxmlformats.org/officeDocument/2006/relationships/image"/><Relationship Id="rId6" Target="../media/image188.png" Type="http://schemas.openxmlformats.org/officeDocument/2006/relationships/image"/><Relationship Id="rId7" Target="../media/image189.png" Type="http://schemas.openxmlformats.org/officeDocument/2006/relationships/image"/><Relationship Id="rId8" Target="../media/image190.png" Type="http://schemas.openxmlformats.org/officeDocument/2006/relationships/image"/><Relationship Id="rId9" Target="../media/image19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12183092" y="0"/>
            <a:ext cx="6100049" cy="7072996"/>
          </a:xfrm>
          <a:custGeom>
            <a:avLst/>
            <a:gdLst/>
            <a:ahLst/>
            <a:cxnLst/>
            <a:rect r="r" b="b" t="t" l="l"/>
            <a:pathLst>
              <a:path h="7072996" w="6100049">
                <a:moveTo>
                  <a:pt x="0" y="0"/>
                </a:moveTo>
                <a:lnTo>
                  <a:pt x="6100049" y="0"/>
                </a:lnTo>
                <a:lnTo>
                  <a:pt x="6100049" y="7072996"/>
                </a:lnTo>
                <a:lnTo>
                  <a:pt x="0" y="7072996"/>
                </a:lnTo>
                <a:lnTo>
                  <a:pt x="0" y="0"/>
                </a:lnTo>
                <a:close/>
              </a:path>
            </a:pathLst>
          </a:custGeom>
          <a:blipFill>
            <a:blip r:embed="rId3"/>
            <a:stretch>
              <a:fillRect l="0" t="0" r="0" b="0"/>
            </a:stretch>
          </a:blipFill>
        </p:spPr>
      </p:sp>
      <p:sp>
        <p:nvSpPr>
          <p:cNvPr name="Freeform 4" id="4"/>
          <p:cNvSpPr/>
          <p:nvPr/>
        </p:nvSpPr>
        <p:spPr>
          <a:xfrm flipH="false" flipV="false" rot="0">
            <a:off x="4859" y="4493047"/>
            <a:ext cx="7182316" cy="3017228"/>
          </a:xfrm>
          <a:custGeom>
            <a:avLst/>
            <a:gdLst/>
            <a:ahLst/>
            <a:cxnLst/>
            <a:rect r="r" b="b" t="t" l="l"/>
            <a:pathLst>
              <a:path h="3017228" w="7182316">
                <a:moveTo>
                  <a:pt x="0" y="0"/>
                </a:moveTo>
                <a:lnTo>
                  <a:pt x="7182315" y="0"/>
                </a:lnTo>
                <a:lnTo>
                  <a:pt x="7182315" y="3017228"/>
                </a:lnTo>
                <a:lnTo>
                  <a:pt x="0" y="3017228"/>
                </a:lnTo>
                <a:lnTo>
                  <a:pt x="0" y="0"/>
                </a:lnTo>
                <a:close/>
              </a:path>
            </a:pathLst>
          </a:custGeom>
          <a:blipFill>
            <a:blip r:embed="rId4"/>
            <a:stretch>
              <a:fillRect l="0" t="0" r="0" b="0"/>
            </a:stretch>
          </a:blipFill>
        </p:spPr>
      </p:sp>
      <p:sp>
        <p:nvSpPr>
          <p:cNvPr name="TextBox 5" id="5"/>
          <p:cNvSpPr txBox="true"/>
          <p:nvPr/>
        </p:nvSpPr>
        <p:spPr>
          <a:xfrm rot="0">
            <a:off x="790825" y="1537551"/>
            <a:ext cx="10469468" cy="361950"/>
          </a:xfrm>
          <a:prstGeom prst="rect">
            <a:avLst/>
          </a:prstGeom>
        </p:spPr>
        <p:txBody>
          <a:bodyPr anchor="t" rtlCol="false" tIns="0" lIns="0" bIns="0" rIns="0">
            <a:spAutoFit/>
          </a:bodyPr>
          <a:lstStyle/>
          <a:p>
            <a:pPr algn="l">
              <a:lnSpc>
                <a:spcPts val="2921"/>
              </a:lnSpc>
            </a:pPr>
            <a:r>
              <a:rPr lang="en-US" sz="2434" b="true">
                <a:solidFill>
                  <a:srgbClr val="3962B7"/>
                </a:solidFill>
                <a:latin typeface="Montserrat Ultra-Bold"/>
                <a:ea typeface="Montserrat Ultra-Bold"/>
                <a:cs typeface="Montserrat Ultra-Bold"/>
                <a:sym typeface="Montserrat Ultra-Bold"/>
              </a:rPr>
              <a:t>TÀI LIỆU THIẾT KẾ KIẾN TRÚC HỆ THỐNG (TECHNICAL DESIGN)</a:t>
            </a:r>
          </a:p>
        </p:txBody>
      </p:sp>
      <p:sp>
        <p:nvSpPr>
          <p:cNvPr name="TextBox 6" id="6"/>
          <p:cNvSpPr txBox="true"/>
          <p:nvPr/>
        </p:nvSpPr>
        <p:spPr>
          <a:xfrm rot="0">
            <a:off x="790825" y="2158237"/>
            <a:ext cx="17806644" cy="1123950"/>
          </a:xfrm>
          <a:prstGeom prst="rect">
            <a:avLst/>
          </a:prstGeom>
        </p:spPr>
        <p:txBody>
          <a:bodyPr anchor="t" rtlCol="false" tIns="0" lIns="0" bIns="0" rIns="0">
            <a:spAutoFit/>
          </a:bodyPr>
          <a:lstStyle/>
          <a:p>
            <a:pPr algn="l">
              <a:lnSpc>
                <a:spcPts val="8859"/>
              </a:lnSpc>
            </a:pPr>
            <a:r>
              <a:rPr lang="en-US" sz="7382" b="true">
                <a:solidFill>
                  <a:srgbClr val="001549"/>
                </a:solidFill>
                <a:latin typeface="Montserrat Ultra-Bold"/>
                <a:ea typeface="Montserrat Ultra-Bold"/>
                <a:cs typeface="Montserrat Ultra-Bold"/>
                <a:sym typeface="Montserrat Ultra-Bold"/>
              </a:rPr>
              <a:t>UDM08 — Chat TCP Client - Server</a:t>
            </a:r>
          </a:p>
        </p:txBody>
      </p:sp>
      <p:sp>
        <p:nvSpPr>
          <p:cNvPr name="TextBox 7" id="7"/>
          <p:cNvSpPr txBox="true"/>
          <p:nvPr/>
        </p:nvSpPr>
        <p:spPr>
          <a:xfrm rot="0">
            <a:off x="790825" y="3458963"/>
            <a:ext cx="10820743" cy="438150"/>
          </a:xfrm>
          <a:prstGeom prst="rect">
            <a:avLst/>
          </a:prstGeom>
        </p:spPr>
        <p:txBody>
          <a:bodyPr anchor="t" rtlCol="false" tIns="0" lIns="0" bIns="0" rIns="0">
            <a:spAutoFit/>
          </a:bodyPr>
          <a:lstStyle/>
          <a:p>
            <a:pPr algn="l">
              <a:lnSpc>
                <a:spcPts val="3470"/>
              </a:lnSpc>
            </a:pPr>
            <a:r>
              <a:rPr lang="en-US" sz="2891" b="true">
                <a:solidFill>
                  <a:srgbClr val="3962B7"/>
                </a:solidFill>
                <a:latin typeface="Montserrat Semi-Bold"/>
                <a:ea typeface="Montserrat Semi-Bold"/>
                <a:cs typeface="Montserrat Semi-Bold"/>
                <a:sym typeface="Montserrat Semi-Bold"/>
              </a:rPr>
              <a:t>Ứng dụng Chat Client-Server qua TCP</a:t>
            </a:r>
          </a:p>
        </p:txBody>
      </p:sp>
      <p:sp>
        <p:nvSpPr>
          <p:cNvPr name="TextBox 8" id="8"/>
          <p:cNvSpPr txBox="true"/>
          <p:nvPr/>
        </p:nvSpPr>
        <p:spPr>
          <a:xfrm rot="0">
            <a:off x="790825" y="4633499"/>
            <a:ext cx="5775937" cy="742950"/>
          </a:xfrm>
          <a:prstGeom prst="rect">
            <a:avLst/>
          </a:prstGeom>
        </p:spPr>
        <p:txBody>
          <a:bodyPr anchor="t" rtlCol="false" tIns="0" lIns="0" bIns="0" rIns="0">
            <a:spAutoFit/>
          </a:bodyPr>
          <a:lstStyle/>
          <a:p>
            <a:pPr algn="l">
              <a:lnSpc>
                <a:spcPts val="5999"/>
              </a:lnSpc>
            </a:pPr>
            <a:r>
              <a:rPr lang="en-US" sz="4999" b="true">
                <a:solidFill>
                  <a:srgbClr val="001549"/>
                </a:solidFill>
                <a:latin typeface="Montserrat Bold"/>
                <a:ea typeface="Montserrat Bold"/>
                <a:cs typeface="Montserrat Bold"/>
                <a:sym typeface="Montserrat Bold"/>
              </a:rPr>
              <a:t>Nhóm 07 </a:t>
            </a:r>
          </a:p>
        </p:txBody>
      </p:sp>
      <p:sp>
        <p:nvSpPr>
          <p:cNvPr name="Freeform 9" id="9"/>
          <p:cNvSpPr/>
          <p:nvPr/>
        </p:nvSpPr>
        <p:spPr>
          <a:xfrm flipH="false" flipV="false" rot="0">
            <a:off x="6531255" y="4711687"/>
            <a:ext cx="4580503" cy="2361309"/>
          </a:xfrm>
          <a:custGeom>
            <a:avLst/>
            <a:gdLst/>
            <a:ahLst/>
            <a:cxnLst/>
            <a:rect r="r" b="b" t="t" l="l"/>
            <a:pathLst>
              <a:path h="2361309" w="4580503">
                <a:moveTo>
                  <a:pt x="0" y="0"/>
                </a:moveTo>
                <a:lnTo>
                  <a:pt x="4580503" y="0"/>
                </a:lnTo>
                <a:lnTo>
                  <a:pt x="4580503" y="2361309"/>
                </a:lnTo>
                <a:lnTo>
                  <a:pt x="0" y="2361309"/>
                </a:lnTo>
                <a:lnTo>
                  <a:pt x="0" y="0"/>
                </a:lnTo>
                <a:close/>
              </a:path>
            </a:pathLst>
          </a:custGeom>
          <a:blipFill>
            <a:blip r:embed="rId5"/>
            <a:stretch>
              <a:fillRect l="0" t="0" r="0" b="0"/>
            </a:stretch>
          </a:blipFill>
        </p:spPr>
      </p:sp>
      <p:sp>
        <p:nvSpPr>
          <p:cNvPr name="Freeform 10" id="10"/>
          <p:cNvSpPr/>
          <p:nvPr/>
        </p:nvSpPr>
        <p:spPr>
          <a:xfrm flipH="false" flipV="false" rot="0">
            <a:off x="10663546" y="5564382"/>
            <a:ext cx="1530478" cy="437279"/>
          </a:xfrm>
          <a:custGeom>
            <a:avLst/>
            <a:gdLst/>
            <a:ahLst/>
            <a:cxnLst/>
            <a:rect r="r" b="b" t="t" l="l"/>
            <a:pathLst>
              <a:path h="437279" w="1530478">
                <a:moveTo>
                  <a:pt x="0" y="0"/>
                </a:moveTo>
                <a:lnTo>
                  <a:pt x="1530478" y="0"/>
                </a:lnTo>
                <a:lnTo>
                  <a:pt x="1530478" y="437279"/>
                </a:lnTo>
                <a:lnTo>
                  <a:pt x="0" y="437279"/>
                </a:lnTo>
                <a:lnTo>
                  <a:pt x="0" y="0"/>
                </a:lnTo>
                <a:close/>
              </a:path>
            </a:pathLst>
          </a:custGeom>
          <a:blipFill>
            <a:blip r:embed="rId6"/>
            <a:stretch>
              <a:fillRect l="0" t="0" r="0" b="0"/>
            </a:stretch>
          </a:blipFill>
        </p:spPr>
      </p:sp>
      <p:sp>
        <p:nvSpPr>
          <p:cNvPr name="Freeform 11" id="11"/>
          <p:cNvSpPr/>
          <p:nvPr/>
        </p:nvSpPr>
        <p:spPr>
          <a:xfrm flipH="false" flipV="false" rot="0">
            <a:off x="13276291" y="5564382"/>
            <a:ext cx="1311838" cy="437279"/>
          </a:xfrm>
          <a:custGeom>
            <a:avLst/>
            <a:gdLst/>
            <a:ahLst/>
            <a:cxnLst/>
            <a:rect r="r" b="b" t="t" l="l"/>
            <a:pathLst>
              <a:path h="437279" w="1311838">
                <a:moveTo>
                  <a:pt x="0" y="0"/>
                </a:moveTo>
                <a:lnTo>
                  <a:pt x="1311839" y="0"/>
                </a:lnTo>
                <a:lnTo>
                  <a:pt x="1311839" y="437279"/>
                </a:lnTo>
                <a:lnTo>
                  <a:pt x="0" y="437279"/>
                </a:lnTo>
                <a:lnTo>
                  <a:pt x="0" y="0"/>
                </a:lnTo>
                <a:close/>
              </a:path>
            </a:pathLst>
          </a:custGeom>
          <a:blipFill>
            <a:blip r:embed="rId7"/>
            <a:stretch>
              <a:fillRect l="0" t="0" r="0" b="0"/>
            </a:stretch>
          </a:blipFill>
        </p:spPr>
      </p:sp>
      <p:sp>
        <p:nvSpPr>
          <p:cNvPr name="Freeform 12" id="12"/>
          <p:cNvSpPr/>
          <p:nvPr/>
        </p:nvSpPr>
        <p:spPr>
          <a:xfrm flipH="false" flipV="false" rot="0">
            <a:off x="11745813" y="5138034"/>
            <a:ext cx="1760050" cy="1300906"/>
          </a:xfrm>
          <a:custGeom>
            <a:avLst/>
            <a:gdLst/>
            <a:ahLst/>
            <a:cxnLst/>
            <a:rect r="r" b="b" t="t" l="l"/>
            <a:pathLst>
              <a:path h="1300906" w="1760050">
                <a:moveTo>
                  <a:pt x="0" y="0"/>
                </a:moveTo>
                <a:lnTo>
                  <a:pt x="1760050" y="0"/>
                </a:lnTo>
                <a:lnTo>
                  <a:pt x="1760050" y="1300906"/>
                </a:lnTo>
                <a:lnTo>
                  <a:pt x="0" y="1300906"/>
                </a:lnTo>
                <a:lnTo>
                  <a:pt x="0" y="0"/>
                </a:lnTo>
                <a:close/>
              </a:path>
            </a:pathLst>
          </a:custGeom>
          <a:blipFill>
            <a:blip r:embed="rId8"/>
            <a:stretch>
              <a:fillRect l="0" t="0" r="0" b="0"/>
            </a:stretch>
          </a:blipFill>
        </p:spPr>
      </p:sp>
      <p:sp>
        <p:nvSpPr>
          <p:cNvPr name="TextBox 13" id="13"/>
          <p:cNvSpPr txBox="true"/>
          <p:nvPr/>
        </p:nvSpPr>
        <p:spPr>
          <a:xfrm rot="0">
            <a:off x="12360978" y="5552270"/>
            <a:ext cx="694575" cy="430460"/>
          </a:xfrm>
          <a:prstGeom prst="rect">
            <a:avLst/>
          </a:prstGeom>
        </p:spPr>
        <p:txBody>
          <a:bodyPr anchor="t" rtlCol="false" tIns="0" lIns="0" bIns="0" rIns="0">
            <a:spAutoFit/>
          </a:bodyPr>
          <a:lstStyle/>
          <a:p>
            <a:pPr algn="ctr">
              <a:lnSpc>
                <a:spcPts val="3573"/>
              </a:lnSpc>
            </a:pPr>
            <a:r>
              <a:rPr lang="en-US" b="true" sz="2552">
                <a:solidFill>
                  <a:srgbClr val="001549"/>
                </a:solidFill>
                <a:latin typeface="Montserrat Bold"/>
                <a:ea typeface="Montserrat Bold"/>
                <a:cs typeface="Montserrat Bold"/>
                <a:sym typeface="Montserrat Bold"/>
              </a:rPr>
              <a:t>TCP</a:t>
            </a:r>
          </a:p>
        </p:txBody>
      </p:sp>
      <p:sp>
        <p:nvSpPr>
          <p:cNvPr name="Freeform 14" id="14"/>
          <p:cNvSpPr/>
          <p:nvPr/>
        </p:nvSpPr>
        <p:spPr>
          <a:xfrm flipH="false" flipV="false" rot="0">
            <a:off x="14795837" y="4066699"/>
            <a:ext cx="2623677" cy="2798589"/>
          </a:xfrm>
          <a:custGeom>
            <a:avLst/>
            <a:gdLst/>
            <a:ahLst/>
            <a:cxnLst/>
            <a:rect r="r" b="b" t="t" l="l"/>
            <a:pathLst>
              <a:path h="2798589" w="2623677">
                <a:moveTo>
                  <a:pt x="0" y="0"/>
                </a:moveTo>
                <a:lnTo>
                  <a:pt x="2623677" y="0"/>
                </a:lnTo>
                <a:lnTo>
                  <a:pt x="2623677" y="2798589"/>
                </a:lnTo>
                <a:lnTo>
                  <a:pt x="0" y="2798589"/>
                </a:lnTo>
                <a:lnTo>
                  <a:pt x="0" y="0"/>
                </a:lnTo>
                <a:close/>
              </a:path>
            </a:pathLst>
          </a:custGeom>
          <a:blipFill>
            <a:blip r:embed="rId9"/>
            <a:stretch>
              <a:fillRect l="0" t="0" r="0" b="0"/>
            </a:stretch>
          </a:blipFill>
        </p:spPr>
      </p:sp>
      <p:sp>
        <p:nvSpPr>
          <p:cNvPr name="Freeform 15" id="15"/>
          <p:cNvSpPr/>
          <p:nvPr/>
        </p:nvSpPr>
        <p:spPr>
          <a:xfrm flipH="false" flipV="false" rot="0">
            <a:off x="16315384" y="5356674"/>
            <a:ext cx="1541410" cy="1716322"/>
          </a:xfrm>
          <a:custGeom>
            <a:avLst/>
            <a:gdLst/>
            <a:ahLst/>
            <a:cxnLst/>
            <a:rect r="r" b="b" t="t" l="l"/>
            <a:pathLst>
              <a:path h="1716322" w="1541410">
                <a:moveTo>
                  <a:pt x="0" y="0"/>
                </a:moveTo>
                <a:lnTo>
                  <a:pt x="1541410" y="0"/>
                </a:lnTo>
                <a:lnTo>
                  <a:pt x="1541410" y="1716322"/>
                </a:lnTo>
                <a:lnTo>
                  <a:pt x="0" y="1716322"/>
                </a:lnTo>
                <a:lnTo>
                  <a:pt x="0" y="0"/>
                </a:lnTo>
                <a:close/>
              </a:path>
            </a:pathLst>
          </a:custGeom>
          <a:blipFill>
            <a:blip r:embed="rId10"/>
            <a:stretch>
              <a:fillRect l="0" t="0" r="0" b="0"/>
            </a:stretch>
          </a:blipFill>
        </p:spPr>
      </p:sp>
      <p:sp>
        <p:nvSpPr>
          <p:cNvPr name="Freeform 16" id="16"/>
          <p:cNvSpPr/>
          <p:nvPr/>
        </p:nvSpPr>
        <p:spPr>
          <a:xfrm flipH="false" flipV="false" rot="0">
            <a:off x="212566" y="7062064"/>
            <a:ext cx="17862867" cy="2590881"/>
          </a:xfrm>
          <a:custGeom>
            <a:avLst/>
            <a:gdLst/>
            <a:ahLst/>
            <a:cxnLst/>
            <a:rect r="r" b="b" t="t" l="l"/>
            <a:pathLst>
              <a:path h="2590881" w="17862867">
                <a:moveTo>
                  <a:pt x="0" y="0"/>
                </a:moveTo>
                <a:lnTo>
                  <a:pt x="17862868" y="0"/>
                </a:lnTo>
                <a:lnTo>
                  <a:pt x="17862868" y="2590881"/>
                </a:lnTo>
                <a:lnTo>
                  <a:pt x="0" y="2590881"/>
                </a:lnTo>
                <a:lnTo>
                  <a:pt x="0" y="0"/>
                </a:lnTo>
                <a:close/>
              </a:path>
            </a:pathLst>
          </a:custGeom>
          <a:blipFill>
            <a:blip r:embed="rId11"/>
            <a:stretch>
              <a:fillRect l="0" t="0" r="0" b="0"/>
            </a:stretch>
          </a:blipFill>
        </p:spPr>
      </p:sp>
      <p:sp>
        <p:nvSpPr>
          <p:cNvPr name="Freeform 17" id="17"/>
          <p:cNvSpPr/>
          <p:nvPr/>
        </p:nvSpPr>
        <p:spPr>
          <a:xfrm flipH="false" flipV="false" rot="0">
            <a:off x="649846" y="7707051"/>
            <a:ext cx="1322770" cy="1300906"/>
          </a:xfrm>
          <a:custGeom>
            <a:avLst/>
            <a:gdLst/>
            <a:ahLst/>
            <a:cxnLst/>
            <a:rect r="r" b="b" t="t" l="l"/>
            <a:pathLst>
              <a:path h="1300906" w="1322770">
                <a:moveTo>
                  <a:pt x="0" y="0"/>
                </a:moveTo>
                <a:lnTo>
                  <a:pt x="1322770" y="0"/>
                </a:lnTo>
                <a:lnTo>
                  <a:pt x="1322770" y="1300906"/>
                </a:lnTo>
                <a:lnTo>
                  <a:pt x="0" y="1300906"/>
                </a:lnTo>
                <a:lnTo>
                  <a:pt x="0" y="0"/>
                </a:lnTo>
                <a:close/>
              </a:path>
            </a:pathLst>
          </a:custGeom>
          <a:blipFill>
            <a:blip r:embed="rId12"/>
            <a:stretch>
              <a:fillRect l="0" t="0" r="0" b="0"/>
            </a:stretch>
          </a:blipFill>
        </p:spPr>
      </p:sp>
      <p:sp>
        <p:nvSpPr>
          <p:cNvPr name="Freeform 18" id="18"/>
          <p:cNvSpPr/>
          <p:nvPr/>
        </p:nvSpPr>
        <p:spPr>
          <a:xfrm flipH="false" flipV="false" rot="0">
            <a:off x="868486" y="7925691"/>
            <a:ext cx="885491" cy="655919"/>
          </a:xfrm>
          <a:custGeom>
            <a:avLst/>
            <a:gdLst/>
            <a:ahLst/>
            <a:cxnLst/>
            <a:rect r="r" b="b" t="t" l="l"/>
            <a:pathLst>
              <a:path h="655919" w="885491">
                <a:moveTo>
                  <a:pt x="0" y="0"/>
                </a:moveTo>
                <a:lnTo>
                  <a:pt x="885491" y="0"/>
                </a:lnTo>
                <a:lnTo>
                  <a:pt x="885491" y="655919"/>
                </a:lnTo>
                <a:lnTo>
                  <a:pt x="0" y="655919"/>
                </a:lnTo>
                <a:lnTo>
                  <a:pt x="0" y="0"/>
                </a:lnTo>
                <a:close/>
              </a:path>
            </a:pathLst>
          </a:custGeom>
          <a:blipFill>
            <a:blip r:embed="rId13"/>
            <a:stretch>
              <a:fillRect l="0" t="0" r="0" b="0"/>
            </a:stretch>
          </a:blipFill>
        </p:spPr>
      </p:sp>
      <p:sp>
        <p:nvSpPr>
          <p:cNvPr name="TextBox 19" id="19"/>
          <p:cNvSpPr txBox="true"/>
          <p:nvPr/>
        </p:nvSpPr>
        <p:spPr>
          <a:xfrm rot="0">
            <a:off x="2070305" y="8232147"/>
            <a:ext cx="3595046" cy="266700"/>
          </a:xfrm>
          <a:prstGeom prst="rect">
            <a:avLst/>
          </a:prstGeom>
        </p:spPr>
        <p:txBody>
          <a:bodyPr anchor="t" rtlCol="false" tIns="0" lIns="0" bIns="0" rIns="0">
            <a:spAutoFit/>
          </a:bodyPr>
          <a:lstStyle/>
          <a:p>
            <a:pPr algn="l">
              <a:lnSpc>
                <a:spcPts val="2136"/>
              </a:lnSpc>
            </a:pPr>
            <a:r>
              <a:rPr lang="en-US" sz="1780" b="true">
                <a:solidFill>
                  <a:srgbClr val="001549"/>
                </a:solidFill>
                <a:latin typeface="Montserrat Ultra-Bold"/>
                <a:ea typeface="Montserrat Ultra-Bold"/>
                <a:cs typeface="Montserrat Ultra-Bold"/>
                <a:sym typeface="Montserrat Ultra-Bold"/>
              </a:rPr>
              <a:t>JavaFX UI - Controller - Cache</a:t>
            </a:r>
          </a:p>
        </p:txBody>
      </p:sp>
      <p:sp>
        <p:nvSpPr>
          <p:cNvPr name="Freeform 20" id="20"/>
          <p:cNvSpPr/>
          <p:nvPr/>
        </p:nvSpPr>
        <p:spPr>
          <a:xfrm flipH="false" flipV="false" rot="0">
            <a:off x="5656696" y="8133399"/>
            <a:ext cx="885491" cy="448211"/>
          </a:xfrm>
          <a:custGeom>
            <a:avLst/>
            <a:gdLst/>
            <a:ahLst/>
            <a:cxnLst/>
            <a:rect r="r" b="b" t="t" l="l"/>
            <a:pathLst>
              <a:path h="448211" w="885491">
                <a:moveTo>
                  <a:pt x="0" y="0"/>
                </a:moveTo>
                <a:lnTo>
                  <a:pt x="885491" y="0"/>
                </a:lnTo>
                <a:lnTo>
                  <a:pt x="885491" y="448211"/>
                </a:lnTo>
                <a:lnTo>
                  <a:pt x="0" y="448211"/>
                </a:lnTo>
                <a:lnTo>
                  <a:pt x="0" y="0"/>
                </a:lnTo>
                <a:close/>
              </a:path>
            </a:pathLst>
          </a:custGeom>
          <a:blipFill>
            <a:blip r:embed="rId14"/>
            <a:stretch>
              <a:fillRect l="0" t="0" r="0" b="0"/>
            </a:stretch>
          </a:blipFill>
        </p:spPr>
      </p:sp>
      <p:sp>
        <p:nvSpPr>
          <p:cNvPr name="Freeform 21" id="21"/>
          <p:cNvSpPr/>
          <p:nvPr/>
        </p:nvSpPr>
        <p:spPr>
          <a:xfrm flipH="false" flipV="false" rot="0">
            <a:off x="6531255" y="7707051"/>
            <a:ext cx="1311838" cy="1300906"/>
          </a:xfrm>
          <a:custGeom>
            <a:avLst/>
            <a:gdLst/>
            <a:ahLst/>
            <a:cxnLst/>
            <a:rect r="r" b="b" t="t" l="l"/>
            <a:pathLst>
              <a:path h="1300906" w="1311838">
                <a:moveTo>
                  <a:pt x="0" y="0"/>
                </a:moveTo>
                <a:lnTo>
                  <a:pt x="1311839" y="0"/>
                </a:lnTo>
                <a:lnTo>
                  <a:pt x="1311839" y="1300906"/>
                </a:lnTo>
                <a:lnTo>
                  <a:pt x="0" y="1300906"/>
                </a:lnTo>
                <a:lnTo>
                  <a:pt x="0" y="0"/>
                </a:lnTo>
                <a:close/>
              </a:path>
            </a:pathLst>
          </a:custGeom>
          <a:blipFill>
            <a:blip r:embed="rId15"/>
            <a:stretch>
              <a:fillRect l="0" t="0" r="0" b="0"/>
            </a:stretch>
          </a:blipFill>
        </p:spPr>
      </p:sp>
      <p:sp>
        <p:nvSpPr>
          <p:cNvPr name="Freeform 22" id="22"/>
          <p:cNvSpPr/>
          <p:nvPr/>
        </p:nvSpPr>
        <p:spPr>
          <a:xfrm flipH="false" flipV="false" rot="0">
            <a:off x="6749895" y="7925691"/>
            <a:ext cx="655919" cy="655919"/>
          </a:xfrm>
          <a:custGeom>
            <a:avLst/>
            <a:gdLst/>
            <a:ahLst/>
            <a:cxnLst/>
            <a:rect r="r" b="b" t="t" l="l"/>
            <a:pathLst>
              <a:path h="655919" w="655919">
                <a:moveTo>
                  <a:pt x="0" y="0"/>
                </a:moveTo>
                <a:lnTo>
                  <a:pt x="655919" y="0"/>
                </a:lnTo>
                <a:lnTo>
                  <a:pt x="655919" y="655919"/>
                </a:lnTo>
                <a:lnTo>
                  <a:pt x="0" y="655919"/>
                </a:lnTo>
                <a:lnTo>
                  <a:pt x="0" y="0"/>
                </a:lnTo>
                <a:close/>
              </a:path>
            </a:pathLst>
          </a:custGeom>
          <a:blipFill>
            <a:blip r:embed="rId16"/>
            <a:stretch>
              <a:fillRect l="0" t="0" r="0" b="0"/>
            </a:stretch>
          </a:blipFill>
        </p:spPr>
      </p:sp>
      <p:sp>
        <p:nvSpPr>
          <p:cNvPr name="TextBox 23" id="23"/>
          <p:cNvSpPr txBox="true"/>
          <p:nvPr/>
        </p:nvSpPr>
        <p:spPr>
          <a:xfrm rot="0">
            <a:off x="7846242" y="8232147"/>
            <a:ext cx="3844679" cy="257175"/>
          </a:xfrm>
          <a:prstGeom prst="rect">
            <a:avLst/>
          </a:prstGeom>
        </p:spPr>
        <p:txBody>
          <a:bodyPr anchor="t" rtlCol="false" tIns="0" lIns="0" bIns="0" rIns="0">
            <a:spAutoFit/>
          </a:bodyPr>
          <a:lstStyle/>
          <a:p>
            <a:pPr algn="l">
              <a:lnSpc>
                <a:spcPts val="2091"/>
              </a:lnSpc>
            </a:pPr>
            <a:r>
              <a:rPr lang="en-US" sz="1743" b="true">
                <a:solidFill>
                  <a:srgbClr val="001549"/>
                </a:solidFill>
                <a:latin typeface="Montserrat Ultra-Bold"/>
                <a:ea typeface="Montserrat Ultra-Bold"/>
                <a:cs typeface="Montserrat Ultra-Bold"/>
                <a:sym typeface="Montserrat Ultra-Bold"/>
              </a:rPr>
              <a:t>TCP Socket (JSON Lines UTF-8)</a:t>
            </a:r>
          </a:p>
        </p:txBody>
      </p:sp>
      <p:sp>
        <p:nvSpPr>
          <p:cNvPr name="TextBox 24" id="24"/>
          <p:cNvSpPr txBox="true"/>
          <p:nvPr/>
        </p:nvSpPr>
        <p:spPr>
          <a:xfrm rot="0">
            <a:off x="7846242" y="8670957"/>
            <a:ext cx="4180295" cy="209550"/>
          </a:xfrm>
          <a:prstGeom prst="rect">
            <a:avLst/>
          </a:prstGeom>
        </p:spPr>
        <p:txBody>
          <a:bodyPr anchor="t" rtlCol="false" tIns="0" lIns="0" bIns="0" rIns="0">
            <a:spAutoFit/>
          </a:bodyPr>
          <a:lstStyle/>
          <a:p>
            <a:pPr algn="l">
              <a:lnSpc>
                <a:spcPts val="1697"/>
              </a:lnSpc>
            </a:pPr>
            <a:r>
              <a:rPr lang="en-US" sz="1414" b="true">
                <a:solidFill>
                  <a:srgbClr val="3962B7"/>
                </a:solidFill>
                <a:latin typeface="Montserrat Semi-Bold"/>
                <a:ea typeface="Montserrat Semi-Bold"/>
                <a:cs typeface="Montserrat Semi-Bold"/>
                <a:sym typeface="Montserrat Semi-Bold"/>
              </a:rPr>
              <a:t>ChatClient - ChatReceiver - ProtocolMessage</a:t>
            </a:r>
          </a:p>
        </p:txBody>
      </p:sp>
      <p:sp>
        <p:nvSpPr>
          <p:cNvPr name="Freeform 25" id="25"/>
          <p:cNvSpPr/>
          <p:nvPr/>
        </p:nvSpPr>
        <p:spPr>
          <a:xfrm flipH="false" flipV="false" rot="0">
            <a:off x="11745813" y="8133399"/>
            <a:ext cx="666851" cy="448211"/>
          </a:xfrm>
          <a:custGeom>
            <a:avLst/>
            <a:gdLst/>
            <a:ahLst/>
            <a:cxnLst/>
            <a:rect r="r" b="b" t="t" l="l"/>
            <a:pathLst>
              <a:path h="448211" w="666851">
                <a:moveTo>
                  <a:pt x="0" y="0"/>
                </a:moveTo>
                <a:lnTo>
                  <a:pt x="666851" y="0"/>
                </a:lnTo>
                <a:lnTo>
                  <a:pt x="666851" y="448211"/>
                </a:lnTo>
                <a:lnTo>
                  <a:pt x="0" y="448211"/>
                </a:lnTo>
                <a:lnTo>
                  <a:pt x="0" y="0"/>
                </a:lnTo>
                <a:close/>
              </a:path>
            </a:pathLst>
          </a:custGeom>
          <a:blipFill>
            <a:blip r:embed="rId17"/>
            <a:stretch>
              <a:fillRect l="0" t="0" r="0" b="0"/>
            </a:stretch>
          </a:blipFill>
        </p:spPr>
      </p:sp>
      <p:sp>
        <p:nvSpPr>
          <p:cNvPr name="Freeform 26" id="26"/>
          <p:cNvSpPr/>
          <p:nvPr/>
        </p:nvSpPr>
        <p:spPr>
          <a:xfrm flipH="false" flipV="false" rot="0">
            <a:off x="12401732" y="7707051"/>
            <a:ext cx="1311838" cy="1300906"/>
          </a:xfrm>
          <a:custGeom>
            <a:avLst/>
            <a:gdLst/>
            <a:ahLst/>
            <a:cxnLst/>
            <a:rect r="r" b="b" t="t" l="l"/>
            <a:pathLst>
              <a:path h="1300906" w="1311838">
                <a:moveTo>
                  <a:pt x="0" y="0"/>
                </a:moveTo>
                <a:lnTo>
                  <a:pt x="1311839" y="0"/>
                </a:lnTo>
                <a:lnTo>
                  <a:pt x="1311839" y="1300906"/>
                </a:lnTo>
                <a:lnTo>
                  <a:pt x="0" y="1300906"/>
                </a:lnTo>
                <a:lnTo>
                  <a:pt x="0" y="0"/>
                </a:lnTo>
                <a:close/>
              </a:path>
            </a:pathLst>
          </a:custGeom>
          <a:blipFill>
            <a:blip r:embed="rId18"/>
            <a:stretch>
              <a:fillRect l="0" t="0" r="0" b="0"/>
            </a:stretch>
          </a:blipFill>
        </p:spPr>
      </p:sp>
      <p:sp>
        <p:nvSpPr>
          <p:cNvPr name="Freeform 27" id="27"/>
          <p:cNvSpPr/>
          <p:nvPr/>
        </p:nvSpPr>
        <p:spPr>
          <a:xfrm flipH="false" flipV="false" rot="0">
            <a:off x="12620372" y="7925691"/>
            <a:ext cx="885491" cy="863627"/>
          </a:xfrm>
          <a:custGeom>
            <a:avLst/>
            <a:gdLst/>
            <a:ahLst/>
            <a:cxnLst/>
            <a:rect r="r" b="b" t="t" l="l"/>
            <a:pathLst>
              <a:path h="863627" w="885491">
                <a:moveTo>
                  <a:pt x="0" y="0"/>
                </a:moveTo>
                <a:lnTo>
                  <a:pt x="885491" y="0"/>
                </a:lnTo>
                <a:lnTo>
                  <a:pt x="885491" y="863627"/>
                </a:lnTo>
                <a:lnTo>
                  <a:pt x="0" y="863627"/>
                </a:lnTo>
                <a:lnTo>
                  <a:pt x="0" y="0"/>
                </a:lnTo>
                <a:close/>
              </a:path>
            </a:pathLst>
          </a:custGeom>
          <a:blipFill>
            <a:blip r:embed="rId19"/>
            <a:stretch>
              <a:fillRect l="0" t="0" r="0" b="0"/>
            </a:stretch>
          </a:blipFill>
        </p:spPr>
      </p:sp>
      <p:sp>
        <p:nvSpPr>
          <p:cNvPr name="TextBox 28" id="28"/>
          <p:cNvSpPr txBox="true"/>
          <p:nvPr/>
        </p:nvSpPr>
        <p:spPr>
          <a:xfrm rot="0">
            <a:off x="13804962" y="8244486"/>
            <a:ext cx="4112883" cy="228600"/>
          </a:xfrm>
          <a:prstGeom prst="rect">
            <a:avLst/>
          </a:prstGeom>
        </p:spPr>
        <p:txBody>
          <a:bodyPr anchor="t" rtlCol="false" tIns="0" lIns="0" bIns="0" rIns="0">
            <a:spAutoFit/>
          </a:bodyPr>
          <a:lstStyle/>
          <a:p>
            <a:pPr algn="l">
              <a:lnSpc>
                <a:spcPts val="1730"/>
              </a:lnSpc>
            </a:pPr>
            <a:r>
              <a:rPr lang="en-US" sz="1441" b="true">
                <a:solidFill>
                  <a:srgbClr val="001549"/>
                </a:solidFill>
                <a:latin typeface="Montserrat Ultra-Bold"/>
                <a:ea typeface="Montserrat Ultra-Bold"/>
                <a:cs typeface="Montserrat Ultra-Bold"/>
                <a:sym typeface="Montserrat Ultra-Bold"/>
              </a:rPr>
              <a:t>ChatServer - Session Router - SQLite WAL</a:t>
            </a:r>
          </a:p>
        </p:txBody>
      </p:sp>
      <p:sp>
        <p:nvSpPr>
          <p:cNvPr name="TextBox 29" id="29"/>
          <p:cNvSpPr txBox="true"/>
          <p:nvPr/>
        </p:nvSpPr>
        <p:spPr>
          <a:xfrm rot="0">
            <a:off x="13804962" y="8650500"/>
            <a:ext cx="4067909" cy="238125"/>
          </a:xfrm>
          <a:prstGeom prst="rect">
            <a:avLst/>
          </a:prstGeom>
        </p:spPr>
        <p:txBody>
          <a:bodyPr anchor="t" rtlCol="false" tIns="0" lIns="0" bIns="0" rIns="0">
            <a:spAutoFit/>
          </a:bodyPr>
          <a:lstStyle/>
          <a:p>
            <a:pPr algn="l">
              <a:lnSpc>
                <a:spcPts val="1827"/>
              </a:lnSpc>
            </a:pPr>
            <a:r>
              <a:rPr lang="en-US" sz="1522" b="true">
                <a:solidFill>
                  <a:srgbClr val="3962B7"/>
                </a:solidFill>
                <a:latin typeface="Montserrat Semi-Bold"/>
                <a:ea typeface="Montserrat Semi-Bold"/>
                <a:cs typeface="Montserrat Semi-Bold"/>
                <a:sym typeface="Montserrat Semi-Bold"/>
              </a:rPr>
              <a:t>Auth - Message - Registry - Repository</a:t>
            </a:r>
          </a:p>
        </p:txBody>
      </p:sp>
      <p:sp>
        <p:nvSpPr>
          <p:cNvPr name="TextBox 30" id="30"/>
          <p:cNvSpPr txBox="true"/>
          <p:nvPr/>
        </p:nvSpPr>
        <p:spPr>
          <a:xfrm rot="0">
            <a:off x="2070305" y="7848114"/>
            <a:ext cx="1396025" cy="238125"/>
          </a:xfrm>
          <a:prstGeom prst="rect">
            <a:avLst/>
          </a:prstGeom>
        </p:spPr>
        <p:txBody>
          <a:bodyPr anchor="t" rtlCol="false" tIns="0" lIns="0" bIns="0" rIns="0">
            <a:spAutoFit/>
          </a:bodyPr>
          <a:lstStyle/>
          <a:p>
            <a:pPr algn="l">
              <a:lnSpc>
                <a:spcPts val="1827"/>
              </a:lnSpc>
            </a:pPr>
            <a:r>
              <a:rPr lang="en-US" sz="1522" b="true">
                <a:solidFill>
                  <a:srgbClr val="006EFF"/>
                </a:solidFill>
                <a:latin typeface="Montserrat Ultra-Bold"/>
                <a:ea typeface="Montserrat Ultra-Bold"/>
                <a:cs typeface="Montserrat Ultra-Bold"/>
                <a:sym typeface="Montserrat Ultra-Bold"/>
              </a:rPr>
              <a:t>PHÍA CLIENT</a:t>
            </a:r>
          </a:p>
        </p:txBody>
      </p:sp>
      <p:sp>
        <p:nvSpPr>
          <p:cNvPr name="TextBox 31" id="31"/>
          <p:cNvSpPr txBox="true"/>
          <p:nvPr/>
        </p:nvSpPr>
        <p:spPr>
          <a:xfrm rot="0">
            <a:off x="2070305" y="8650500"/>
            <a:ext cx="2316815" cy="238125"/>
          </a:xfrm>
          <a:prstGeom prst="rect">
            <a:avLst/>
          </a:prstGeom>
        </p:spPr>
        <p:txBody>
          <a:bodyPr anchor="t" rtlCol="false" tIns="0" lIns="0" bIns="0" rIns="0">
            <a:spAutoFit/>
          </a:bodyPr>
          <a:lstStyle/>
          <a:p>
            <a:pPr algn="l">
              <a:lnSpc>
                <a:spcPts val="1827"/>
              </a:lnSpc>
            </a:pPr>
            <a:r>
              <a:rPr lang="en-US" sz="1522" b="true">
                <a:solidFill>
                  <a:srgbClr val="3962B7"/>
                </a:solidFill>
                <a:latin typeface="Montserrat Semi-Bold"/>
                <a:ea typeface="Montserrat Semi-Bold"/>
                <a:cs typeface="Montserrat Semi-Bold"/>
                <a:sym typeface="Montserrat Semi-Bold"/>
              </a:rPr>
              <a:t>Login - Sidebar - Chat</a:t>
            </a:r>
          </a:p>
        </p:txBody>
      </p:sp>
      <p:sp>
        <p:nvSpPr>
          <p:cNvPr name="TextBox 32" id="32"/>
          <p:cNvSpPr txBox="true"/>
          <p:nvPr/>
        </p:nvSpPr>
        <p:spPr>
          <a:xfrm rot="0">
            <a:off x="7846242" y="7848114"/>
            <a:ext cx="1396294" cy="238125"/>
          </a:xfrm>
          <a:prstGeom prst="rect">
            <a:avLst/>
          </a:prstGeom>
        </p:spPr>
        <p:txBody>
          <a:bodyPr anchor="t" rtlCol="false" tIns="0" lIns="0" bIns="0" rIns="0">
            <a:spAutoFit/>
          </a:bodyPr>
          <a:lstStyle/>
          <a:p>
            <a:pPr algn="l">
              <a:lnSpc>
                <a:spcPts val="1827"/>
              </a:lnSpc>
            </a:pPr>
            <a:r>
              <a:rPr lang="en-US" sz="1522" b="true">
                <a:solidFill>
                  <a:srgbClr val="006EFF"/>
                </a:solidFill>
                <a:latin typeface="Montserrat Ultra-Bold"/>
                <a:ea typeface="Montserrat Ultra-Bold"/>
                <a:cs typeface="Montserrat Ultra-Bold"/>
                <a:sym typeface="Montserrat Ultra-Bold"/>
              </a:rPr>
              <a:t>GIAO TIẾP</a:t>
            </a:r>
          </a:p>
        </p:txBody>
      </p:sp>
      <p:sp>
        <p:nvSpPr>
          <p:cNvPr name="TextBox 33" id="33"/>
          <p:cNvSpPr txBox="true"/>
          <p:nvPr/>
        </p:nvSpPr>
        <p:spPr>
          <a:xfrm rot="0">
            <a:off x="13804962" y="7863105"/>
            <a:ext cx="2510422" cy="219075"/>
          </a:xfrm>
          <a:prstGeom prst="rect">
            <a:avLst/>
          </a:prstGeom>
        </p:spPr>
        <p:txBody>
          <a:bodyPr anchor="t" rtlCol="false" tIns="0" lIns="0" bIns="0" rIns="0">
            <a:spAutoFit/>
          </a:bodyPr>
          <a:lstStyle/>
          <a:p>
            <a:pPr algn="l">
              <a:lnSpc>
                <a:spcPts val="1762"/>
              </a:lnSpc>
            </a:pPr>
            <a:r>
              <a:rPr lang="en-US" sz="1468" b="true">
                <a:solidFill>
                  <a:srgbClr val="006EFF"/>
                </a:solidFill>
                <a:latin typeface="Montserrat Ultra-Bold"/>
                <a:ea typeface="Montserrat Ultra-Bold"/>
                <a:cs typeface="Montserrat Ultra-Bold"/>
                <a:sym typeface="Montserrat Ultra-Bold"/>
              </a:rPr>
              <a:t>PHÍA SERVER &amp; LƯU TRỮ</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212566" y="2148374"/>
            <a:ext cx="5892341" cy="5793953"/>
          </a:xfrm>
          <a:custGeom>
            <a:avLst/>
            <a:gdLst/>
            <a:ahLst/>
            <a:cxnLst/>
            <a:rect r="r" b="b" t="t" l="l"/>
            <a:pathLst>
              <a:path h="5793953" w="5892341">
                <a:moveTo>
                  <a:pt x="0" y="0"/>
                </a:moveTo>
                <a:lnTo>
                  <a:pt x="5892342" y="0"/>
                </a:lnTo>
                <a:lnTo>
                  <a:pt x="5892342" y="5793953"/>
                </a:lnTo>
                <a:lnTo>
                  <a:pt x="0" y="5793953"/>
                </a:lnTo>
                <a:lnTo>
                  <a:pt x="0" y="0"/>
                </a:lnTo>
                <a:close/>
              </a:path>
            </a:pathLst>
          </a:custGeom>
          <a:blipFill>
            <a:blip r:embed="rId3"/>
            <a:stretch>
              <a:fillRect l="0" t="0" r="0" b="0"/>
            </a:stretch>
          </a:blipFill>
        </p:spPr>
      </p:sp>
      <p:sp>
        <p:nvSpPr>
          <p:cNvPr name="Freeform 4" id="4"/>
          <p:cNvSpPr/>
          <p:nvPr/>
        </p:nvSpPr>
        <p:spPr>
          <a:xfrm flipH="false" flipV="false" rot="0">
            <a:off x="431206" y="2367013"/>
            <a:ext cx="1104131" cy="863627"/>
          </a:xfrm>
          <a:custGeom>
            <a:avLst/>
            <a:gdLst/>
            <a:ahLst/>
            <a:cxnLst/>
            <a:rect r="r" b="b" t="t" l="l"/>
            <a:pathLst>
              <a:path h="863627" w="1104131">
                <a:moveTo>
                  <a:pt x="0" y="0"/>
                </a:moveTo>
                <a:lnTo>
                  <a:pt x="1104131" y="0"/>
                </a:lnTo>
                <a:lnTo>
                  <a:pt x="1104131" y="863627"/>
                </a:lnTo>
                <a:lnTo>
                  <a:pt x="0" y="863627"/>
                </a:lnTo>
                <a:lnTo>
                  <a:pt x="0" y="0"/>
                </a:lnTo>
                <a:close/>
              </a:path>
            </a:pathLst>
          </a:custGeom>
          <a:blipFill>
            <a:blip r:embed="rId4"/>
            <a:stretch>
              <a:fillRect l="0" t="0" r="0" b="0"/>
            </a:stretch>
          </a:blipFill>
        </p:spPr>
      </p:sp>
      <p:sp>
        <p:nvSpPr>
          <p:cNvPr name="Freeform 5" id="5"/>
          <p:cNvSpPr/>
          <p:nvPr/>
        </p:nvSpPr>
        <p:spPr>
          <a:xfrm flipH="false" flipV="false" rot="0">
            <a:off x="649846" y="2574721"/>
            <a:ext cx="666851" cy="448211"/>
          </a:xfrm>
          <a:custGeom>
            <a:avLst/>
            <a:gdLst/>
            <a:ahLst/>
            <a:cxnLst/>
            <a:rect r="r" b="b" t="t" l="l"/>
            <a:pathLst>
              <a:path h="448211" w="666851">
                <a:moveTo>
                  <a:pt x="0" y="0"/>
                </a:moveTo>
                <a:lnTo>
                  <a:pt x="666851" y="0"/>
                </a:lnTo>
                <a:lnTo>
                  <a:pt x="666851" y="448212"/>
                </a:lnTo>
                <a:lnTo>
                  <a:pt x="0" y="448212"/>
                </a:lnTo>
                <a:lnTo>
                  <a:pt x="0" y="0"/>
                </a:lnTo>
                <a:close/>
              </a:path>
            </a:pathLst>
          </a:custGeom>
          <a:blipFill>
            <a:blip r:embed="rId5"/>
            <a:stretch>
              <a:fillRect l="0" t="0" r="0" b="0"/>
            </a:stretch>
          </a:blipFill>
        </p:spPr>
      </p:sp>
      <p:sp>
        <p:nvSpPr>
          <p:cNvPr name="Freeform 6" id="6"/>
          <p:cNvSpPr/>
          <p:nvPr/>
        </p:nvSpPr>
        <p:spPr>
          <a:xfrm flipH="false" flipV="false" rot="0">
            <a:off x="431206" y="3219708"/>
            <a:ext cx="5455062" cy="229572"/>
          </a:xfrm>
          <a:custGeom>
            <a:avLst/>
            <a:gdLst/>
            <a:ahLst/>
            <a:cxnLst/>
            <a:rect r="r" b="b" t="t" l="l"/>
            <a:pathLst>
              <a:path h="229572" w="5455062">
                <a:moveTo>
                  <a:pt x="0" y="0"/>
                </a:moveTo>
                <a:lnTo>
                  <a:pt x="5455062" y="0"/>
                </a:lnTo>
                <a:lnTo>
                  <a:pt x="5455062" y="229572"/>
                </a:lnTo>
                <a:lnTo>
                  <a:pt x="0" y="229572"/>
                </a:lnTo>
                <a:lnTo>
                  <a:pt x="0" y="0"/>
                </a:lnTo>
                <a:close/>
              </a:path>
            </a:pathLst>
          </a:custGeom>
          <a:blipFill>
            <a:blip r:embed="rId6"/>
            <a:stretch>
              <a:fillRect l="0" t="0" r="0" b="0"/>
            </a:stretch>
          </a:blipFill>
        </p:spPr>
      </p:sp>
      <p:sp>
        <p:nvSpPr>
          <p:cNvPr name="Freeform 7" id="7"/>
          <p:cNvSpPr/>
          <p:nvPr/>
        </p:nvSpPr>
        <p:spPr>
          <a:xfrm flipH="false" flipV="false" rot="0">
            <a:off x="431206" y="5788725"/>
            <a:ext cx="5455062" cy="1519546"/>
          </a:xfrm>
          <a:custGeom>
            <a:avLst/>
            <a:gdLst/>
            <a:ahLst/>
            <a:cxnLst/>
            <a:rect r="r" b="b" t="t" l="l"/>
            <a:pathLst>
              <a:path h="1519546" w="5455062">
                <a:moveTo>
                  <a:pt x="0" y="0"/>
                </a:moveTo>
                <a:lnTo>
                  <a:pt x="5455062" y="0"/>
                </a:lnTo>
                <a:lnTo>
                  <a:pt x="5455062" y="1519547"/>
                </a:lnTo>
                <a:lnTo>
                  <a:pt x="0" y="1519547"/>
                </a:lnTo>
                <a:lnTo>
                  <a:pt x="0" y="0"/>
                </a:lnTo>
                <a:close/>
              </a:path>
            </a:pathLst>
          </a:custGeom>
          <a:blipFill>
            <a:blip r:embed="rId7"/>
            <a:stretch>
              <a:fillRect l="0" t="0" r="0" b="0"/>
            </a:stretch>
          </a:blipFill>
        </p:spPr>
      </p:sp>
      <p:sp>
        <p:nvSpPr>
          <p:cNvPr name="Freeform 8" id="8"/>
          <p:cNvSpPr/>
          <p:nvPr/>
        </p:nvSpPr>
        <p:spPr>
          <a:xfrm flipH="false" flipV="false" rot="0">
            <a:off x="649846" y="6226005"/>
            <a:ext cx="885491" cy="644987"/>
          </a:xfrm>
          <a:custGeom>
            <a:avLst/>
            <a:gdLst/>
            <a:ahLst/>
            <a:cxnLst/>
            <a:rect r="r" b="b" t="t" l="l"/>
            <a:pathLst>
              <a:path h="644987" w="885491">
                <a:moveTo>
                  <a:pt x="0" y="0"/>
                </a:moveTo>
                <a:lnTo>
                  <a:pt x="885491" y="0"/>
                </a:lnTo>
                <a:lnTo>
                  <a:pt x="885491" y="644987"/>
                </a:lnTo>
                <a:lnTo>
                  <a:pt x="0" y="644987"/>
                </a:lnTo>
                <a:lnTo>
                  <a:pt x="0" y="0"/>
                </a:lnTo>
                <a:close/>
              </a:path>
            </a:pathLst>
          </a:custGeom>
          <a:blipFill>
            <a:blip r:embed="rId8"/>
            <a:stretch>
              <a:fillRect l="0" t="0" r="0" b="0"/>
            </a:stretch>
          </a:blipFill>
        </p:spPr>
      </p:sp>
      <p:sp>
        <p:nvSpPr>
          <p:cNvPr name="Freeform 9" id="9"/>
          <p:cNvSpPr/>
          <p:nvPr/>
        </p:nvSpPr>
        <p:spPr>
          <a:xfrm flipH="false" flipV="false" rot="0">
            <a:off x="6093976" y="2148374"/>
            <a:ext cx="6100049" cy="5793953"/>
          </a:xfrm>
          <a:custGeom>
            <a:avLst/>
            <a:gdLst/>
            <a:ahLst/>
            <a:cxnLst/>
            <a:rect r="r" b="b" t="t" l="l"/>
            <a:pathLst>
              <a:path h="5793953" w="6100049">
                <a:moveTo>
                  <a:pt x="0" y="0"/>
                </a:moveTo>
                <a:lnTo>
                  <a:pt x="6100048" y="0"/>
                </a:lnTo>
                <a:lnTo>
                  <a:pt x="6100048" y="5793953"/>
                </a:lnTo>
                <a:lnTo>
                  <a:pt x="0" y="5793953"/>
                </a:lnTo>
                <a:lnTo>
                  <a:pt x="0" y="0"/>
                </a:lnTo>
                <a:close/>
              </a:path>
            </a:pathLst>
          </a:custGeom>
          <a:blipFill>
            <a:blip r:embed="rId9"/>
            <a:stretch>
              <a:fillRect l="0" t="0" r="0" b="0"/>
            </a:stretch>
          </a:blipFill>
        </p:spPr>
      </p:sp>
      <p:sp>
        <p:nvSpPr>
          <p:cNvPr name="Freeform 10" id="10"/>
          <p:cNvSpPr/>
          <p:nvPr/>
        </p:nvSpPr>
        <p:spPr>
          <a:xfrm flipH="false" flipV="false" rot="0">
            <a:off x="6531255" y="2367013"/>
            <a:ext cx="874559" cy="863627"/>
          </a:xfrm>
          <a:custGeom>
            <a:avLst/>
            <a:gdLst/>
            <a:ahLst/>
            <a:cxnLst/>
            <a:rect r="r" b="b" t="t" l="l"/>
            <a:pathLst>
              <a:path h="863627" w="874559">
                <a:moveTo>
                  <a:pt x="0" y="0"/>
                </a:moveTo>
                <a:lnTo>
                  <a:pt x="874559" y="0"/>
                </a:lnTo>
                <a:lnTo>
                  <a:pt x="874559" y="863627"/>
                </a:lnTo>
                <a:lnTo>
                  <a:pt x="0" y="863627"/>
                </a:lnTo>
                <a:lnTo>
                  <a:pt x="0" y="0"/>
                </a:lnTo>
                <a:close/>
              </a:path>
            </a:pathLst>
          </a:custGeom>
          <a:blipFill>
            <a:blip r:embed="rId10"/>
            <a:stretch>
              <a:fillRect l="0" t="0" r="0" b="0"/>
            </a:stretch>
          </a:blipFill>
        </p:spPr>
      </p:sp>
      <p:sp>
        <p:nvSpPr>
          <p:cNvPr name="Freeform 11" id="11"/>
          <p:cNvSpPr/>
          <p:nvPr/>
        </p:nvSpPr>
        <p:spPr>
          <a:xfrm flipH="false" flipV="false" rot="0">
            <a:off x="6749895" y="2574721"/>
            <a:ext cx="437279" cy="655919"/>
          </a:xfrm>
          <a:custGeom>
            <a:avLst/>
            <a:gdLst/>
            <a:ahLst/>
            <a:cxnLst/>
            <a:rect r="r" b="b" t="t" l="l"/>
            <a:pathLst>
              <a:path h="655919" w="437279">
                <a:moveTo>
                  <a:pt x="0" y="0"/>
                </a:moveTo>
                <a:lnTo>
                  <a:pt x="437279" y="0"/>
                </a:lnTo>
                <a:lnTo>
                  <a:pt x="437279" y="655919"/>
                </a:lnTo>
                <a:lnTo>
                  <a:pt x="0" y="655919"/>
                </a:lnTo>
                <a:lnTo>
                  <a:pt x="0" y="0"/>
                </a:lnTo>
                <a:close/>
              </a:path>
            </a:pathLst>
          </a:custGeom>
          <a:blipFill>
            <a:blip r:embed="rId11"/>
            <a:stretch>
              <a:fillRect l="0" t="0" r="0" b="0"/>
            </a:stretch>
          </a:blipFill>
        </p:spPr>
      </p:sp>
      <p:sp>
        <p:nvSpPr>
          <p:cNvPr name="Freeform 12" id="12"/>
          <p:cNvSpPr/>
          <p:nvPr/>
        </p:nvSpPr>
        <p:spPr>
          <a:xfrm flipH="false" flipV="false" rot="0">
            <a:off x="6531255" y="3219708"/>
            <a:ext cx="5225490" cy="229572"/>
          </a:xfrm>
          <a:custGeom>
            <a:avLst/>
            <a:gdLst/>
            <a:ahLst/>
            <a:cxnLst/>
            <a:rect r="r" b="b" t="t" l="l"/>
            <a:pathLst>
              <a:path h="229572" w="5225490">
                <a:moveTo>
                  <a:pt x="0" y="0"/>
                </a:moveTo>
                <a:lnTo>
                  <a:pt x="5225490" y="0"/>
                </a:lnTo>
                <a:lnTo>
                  <a:pt x="5225490" y="229572"/>
                </a:lnTo>
                <a:lnTo>
                  <a:pt x="0" y="229572"/>
                </a:lnTo>
                <a:lnTo>
                  <a:pt x="0" y="0"/>
                </a:lnTo>
                <a:close/>
              </a:path>
            </a:pathLst>
          </a:custGeom>
          <a:blipFill>
            <a:blip r:embed="rId12"/>
            <a:stretch>
              <a:fillRect l="0" t="0" r="0" b="0"/>
            </a:stretch>
          </a:blipFill>
        </p:spPr>
      </p:sp>
      <p:sp>
        <p:nvSpPr>
          <p:cNvPr name="Freeform 13" id="13"/>
          <p:cNvSpPr/>
          <p:nvPr/>
        </p:nvSpPr>
        <p:spPr>
          <a:xfrm flipH="false" flipV="false" rot="0">
            <a:off x="6531255" y="5788725"/>
            <a:ext cx="5225490" cy="1519546"/>
          </a:xfrm>
          <a:custGeom>
            <a:avLst/>
            <a:gdLst/>
            <a:ahLst/>
            <a:cxnLst/>
            <a:rect r="r" b="b" t="t" l="l"/>
            <a:pathLst>
              <a:path h="1519546" w="5225490">
                <a:moveTo>
                  <a:pt x="0" y="0"/>
                </a:moveTo>
                <a:lnTo>
                  <a:pt x="5225490" y="0"/>
                </a:lnTo>
                <a:lnTo>
                  <a:pt x="5225490" y="1519547"/>
                </a:lnTo>
                <a:lnTo>
                  <a:pt x="0" y="1519547"/>
                </a:lnTo>
                <a:lnTo>
                  <a:pt x="0" y="0"/>
                </a:lnTo>
                <a:close/>
              </a:path>
            </a:pathLst>
          </a:custGeom>
          <a:blipFill>
            <a:blip r:embed="rId13"/>
            <a:stretch>
              <a:fillRect l="0" t="0" r="0" b="0"/>
            </a:stretch>
          </a:blipFill>
        </p:spPr>
      </p:sp>
      <p:sp>
        <p:nvSpPr>
          <p:cNvPr name="Freeform 14" id="14"/>
          <p:cNvSpPr/>
          <p:nvPr/>
        </p:nvSpPr>
        <p:spPr>
          <a:xfrm flipH="false" flipV="false" rot="0">
            <a:off x="6749895" y="6226005"/>
            <a:ext cx="874559" cy="644987"/>
          </a:xfrm>
          <a:custGeom>
            <a:avLst/>
            <a:gdLst/>
            <a:ahLst/>
            <a:cxnLst/>
            <a:rect r="r" b="b" t="t" l="l"/>
            <a:pathLst>
              <a:path h="644987" w="874559">
                <a:moveTo>
                  <a:pt x="0" y="0"/>
                </a:moveTo>
                <a:lnTo>
                  <a:pt x="874559" y="0"/>
                </a:lnTo>
                <a:lnTo>
                  <a:pt x="874559" y="644987"/>
                </a:lnTo>
                <a:lnTo>
                  <a:pt x="0" y="644987"/>
                </a:lnTo>
                <a:lnTo>
                  <a:pt x="0" y="0"/>
                </a:lnTo>
                <a:close/>
              </a:path>
            </a:pathLst>
          </a:custGeom>
          <a:blipFill>
            <a:blip r:embed="rId14"/>
            <a:stretch>
              <a:fillRect l="0" t="0" r="0" b="0"/>
            </a:stretch>
          </a:blipFill>
        </p:spPr>
      </p:sp>
      <p:sp>
        <p:nvSpPr>
          <p:cNvPr name="Freeform 15" id="15"/>
          <p:cNvSpPr/>
          <p:nvPr/>
        </p:nvSpPr>
        <p:spPr>
          <a:xfrm flipH="false" flipV="false" rot="0">
            <a:off x="11964453" y="2148374"/>
            <a:ext cx="6110981" cy="5793953"/>
          </a:xfrm>
          <a:custGeom>
            <a:avLst/>
            <a:gdLst/>
            <a:ahLst/>
            <a:cxnLst/>
            <a:rect r="r" b="b" t="t" l="l"/>
            <a:pathLst>
              <a:path h="5793953" w="6110981">
                <a:moveTo>
                  <a:pt x="0" y="0"/>
                </a:moveTo>
                <a:lnTo>
                  <a:pt x="6110981" y="0"/>
                </a:lnTo>
                <a:lnTo>
                  <a:pt x="6110981" y="5793953"/>
                </a:lnTo>
                <a:lnTo>
                  <a:pt x="0" y="5793953"/>
                </a:lnTo>
                <a:lnTo>
                  <a:pt x="0" y="0"/>
                </a:lnTo>
                <a:close/>
              </a:path>
            </a:pathLst>
          </a:custGeom>
          <a:blipFill>
            <a:blip r:embed="rId15"/>
            <a:stretch>
              <a:fillRect l="0" t="0" r="0" b="0"/>
            </a:stretch>
          </a:blipFill>
        </p:spPr>
      </p:sp>
      <p:sp>
        <p:nvSpPr>
          <p:cNvPr name="Freeform 16" id="16"/>
          <p:cNvSpPr/>
          <p:nvPr/>
        </p:nvSpPr>
        <p:spPr>
          <a:xfrm flipH="false" flipV="false" rot="0">
            <a:off x="12401732" y="2367013"/>
            <a:ext cx="885491" cy="863627"/>
          </a:xfrm>
          <a:custGeom>
            <a:avLst/>
            <a:gdLst/>
            <a:ahLst/>
            <a:cxnLst/>
            <a:rect r="r" b="b" t="t" l="l"/>
            <a:pathLst>
              <a:path h="863627" w="885491">
                <a:moveTo>
                  <a:pt x="0" y="0"/>
                </a:moveTo>
                <a:lnTo>
                  <a:pt x="885491" y="0"/>
                </a:lnTo>
                <a:lnTo>
                  <a:pt x="885491" y="863627"/>
                </a:lnTo>
                <a:lnTo>
                  <a:pt x="0" y="863627"/>
                </a:lnTo>
                <a:lnTo>
                  <a:pt x="0" y="0"/>
                </a:lnTo>
                <a:close/>
              </a:path>
            </a:pathLst>
          </a:custGeom>
          <a:blipFill>
            <a:blip r:embed="rId16"/>
            <a:stretch>
              <a:fillRect l="0" t="0" r="0" b="0"/>
            </a:stretch>
          </a:blipFill>
        </p:spPr>
      </p:sp>
      <p:sp>
        <p:nvSpPr>
          <p:cNvPr name="Freeform 17" id="17"/>
          <p:cNvSpPr/>
          <p:nvPr/>
        </p:nvSpPr>
        <p:spPr>
          <a:xfrm flipH="false" flipV="false" rot="0">
            <a:off x="12620372" y="2574721"/>
            <a:ext cx="448211" cy="655919"/>
          </a:xfrm>
          <a:custGeom>
            <a:avLst/>
            <a:gdLst/>
            <a:ahLst/>
            <a:cxnLst/>
            <a:rect r="r" b="b" t="t" l="l"/>
            <a:pathLst>
              <a:path h="655919" w="448211">
                <a:moveTo>
                  <a:pt x="0" y="0"/>
                </a:moveTo>
                <a:lnTo>
                  <a:pt x="448211" y="0"/>
                </a:lnTo>
                <a:lnTo>
                  <a:pt x="448211" y="655919"/>
                </a:lnTo>
                <a:lnTo>
                  <a:pt x="0" y="655919"/>
                </a:lnTo>
                <a:lnTo>
                  <a:pt x="0" y="0"/>
                </a:lnTo>
                <a:close/>
              </a:path>
            </a:pathLst>
          </a:custGeom>
          <a:blipFill>
            <a:blip r:embed="rId17"/>
            <a:stretch>
              <a:fillRect l="0" t="0" r="0" b="0"/>
            </a:stretch>
          </a:blipFill>
        </p:spPr>
      </p:sp>
      <p:sp>
        <p:nvSpPr>
          <p:cNvPr name="Freeform 18" id="18"/>
          <p:cNvSpPr/>
          <p:nvPr/>
        </p:nvSpPr>
        <p:spPr>
          <a:xfrm flipH="false" flipV="false" rot="0">
            <a:off x="12401732" y="3219708"/>
            <a:ext cx="5455062" cy="229572"/>
          </a:xfrm>
          <a:custGeom>
            <a:avLst/>
            <a:gdLst/>
            <a:ahLst/>
            <a:cxnLst/>
            <a:rect r="r" b="b" t="t" l="l"/>
            <a:pathLst>
              <a:path h="229572" w="5455062">
                <a:moveTo>
                  <a:pt x="0" y="0"/>
                </a:moveTo>
                <a:lnTo>
                  <a:pt x="5455062" y="0"/>
                </a:lnTo>
                <a:lnTo>
                  <a:pt x="5455062" y="229572"/>
                </a:lnTo>
                <a:lnTo>
                  <a:pt x="0" y="229572"/>
                </a:lnTo>
                <a:lnTo>
                  <a:pt x="0" y="0"/>
                </a:lnTo>
                <a:close/>
              </a:path>
            </a:pathLst>
          </a:custGeom>
          <a:blipFill>
            <a:blip r:embed="rId18"/>
            <a:stretch>
              <a:fillRect l="0" t="0" r="0" b="0"/>
            </a:stretch>
          </a:blipFill>
        </p:spPr>
      </p:sp>
      <p:sp>
        <p:nvSpPr>
          <p:cNvPr name="Freeform 19" id="19"/>
          <p:cNvSpPr/>
          <p:nvPr/>
        </p:nvSpPr>
        <p:spPr>
          <a:xfrm flipH="false" flipV="false" rot="0">
            <a:off x="12401732" y="4717391"/>
            <a:ext cx="5455062" cy="1082267"/>
          </a:xfrm>
          <a:custGeom>
            <a:avLst/>
            <a:gdLst/>
            <a:ahLst/>
            <a:cxnLst/>
            <a:rect r="r" b="b" t="t" l="l"/>
            <a:pathLst>
              <a:path h="1082267" w="5455062">
                <a:moveTo>
                  <a:pt x="0" y="0"/>
                </a:moveTo>
                <a:lnTo>
                  <a:pt x="5455062" y="0"/>
                </a:lnTo>
                <a:lnTo>
                  <a:pt x="5455062" y="1082266"/>
                </a:lnTo>
                <a:lnTo>
                  <a:pt x="0" y="1082266"/>
                </a:lnTo>
                <a:lnTo>
                  <a:pt x="0" y="0"/>
                </a:lnTo>
                <a:close/>
              </a:path>
            </a:pathLst>
          </a:custGeom>
          <a:blipFill>
            <a:blip r:embed="rId19"/>
            <a:stretch>
              <a:fillRect l="0" t="0" r="0" b="0"/>
            </a:stretch>
          </a:blipFill>
        </p:spPr>
      </p:sp>
      <p:sp>
        <p:nvSpPr>
          <p:cNvPr name="Freeform 20" id="20"/>
          <p:cNvSpPr/>
          <p:nvPr/>
        </p:nvSpPr>
        <p:spPr>
          <a:xfrm flipH="false" flipV="false" rot="0">
            <a:off x="12412664" y="5647692"/>
            <a:ext cx="1749118" cy="1082267"/>
          </a:xfrm>
          <a:custGeom>
            <a:avLst/>
            <a:gdLst/>
            <a:ahLst/>
            <a:cxnLst/>
            <a:rect r="r" b="b" t="t" l="l"/>
            <a:pathLst>
              <a:path h="1082267" w="1749118">
                <a:moveTo>
                  <a:pt x="0" y="0"/>
                </a:moveTo>
                <a:lnTo>
                  <a:pt x="1749118" y="0"/>
                </a:lnTo>
                <a:lnTo>
                  <a:pt x="1749118" y="1082267"/>
                </a:lnTo>
                <a:lnTo>
                  <a:pt x="0" y="1082267"/>
                </a:lnTo>
                <a:lnTo>
                  <a:pt x="0" y="0"/>
                </a:lnTo>
                <a:close/>
              </a:path>
            </a:pathLst>
          </a:custGeom>
          <a:blipFill>
            <a:blip r:embed="rId20"/>
            <a:stretch>
              <a:fillRect l="0" t="0" r="0" b="0"/>
            </a:stretch>
          </a:blipFill>
        </p:spPr>
      </p:sp>
      <p:sp>
        <p:nvSpPr>
          <p:cNvPr name="Freeform 21" id="21"/>
          <p:cNvSpPr/>
          <p:nvPr/>
        </p:nvSpPr>
        <p:spPr>
          <a:xfrm flipH="false" flipV="false" rot="0">
            <a:off x="12401732" y="6597703"/>
            <a:ext cx="1749118" cy="1082267"/>
          </a:xfrm>
          <a:custGeom>
            <a:avLst/>
            <a:gdLst/>
            <a:ahLst/>
            <a:cxnLst/>
            <a:rect r="r" b="b" t="t" l="l"/>
            <a:pathLst>
              <a:path h="1082267" w="1749118">
                <a:moveTo>
                  <a:pt x="0" y="0"/>
                </a:moveTo>
                <a:lnTo>
                  <a:pt x="1749118" y="0"/>
                </a:lnTo>
                <a:lnTo>
                  <a:pt x="1749118" y="1082267"/>
                </a:lnTo>
                <a:lnTo>
                  <a:pt x="0" y="1082267"/>
                </a:lnTo>
                <a:lnTo>
                  <a:pt x="0" y="0"/>
                </a:lnTo>
                <a:close/>
              </a:path>
            </a:pathLst>
          </a:custGeom>
          <a:blipFill>
            <a:blip r:embed="rId21"/>
            <a:stretch>
              <a:fillRect l="0" t="0" r="0" b="0"/>
            </a:stretch>
          </a:blipFill>
        </p:spPr>
      </p:sp>
      <p:grpSp>
        <p:nvGrpSpPr>
          <p:cNvPr name="Group 22" id="22"/>
          <p:cNvGrpSpPr/>
          <p:nvPr/>
        </p:nvGrpSpPr>
        <p:grpSpPr>
          <a:xfrm rot="0">
            <a:off x="4448532" y="2521860"/>
            <a:ext cx="1435893" cy="575577"/>
            <a:chOff x="0" y="0"/>
            <a:chExt cx="378178" cy="151592"/>
          </a:xfrm>
        </p:grpSpPr>
        <p:sp>
          <p:nvSpPr>
            <p:cNvPr name="Freeform 23" id="23"/>
            <p:cNvSpPr/>
            <p:nvPr/>
          </p:nvSpPr>
          <p:spPr>
            <a:xfrm flipH="false" flipV="false" rot="0">
              <a:off x="0" y="0"/>
              <a:ext cx="378178" cy="151592"/>
            </a:xfrm>
            <a:custGeom>
              <a:avLst/>
              <a:gdLst/>
              <a:ahLst/>
              <a:cxnLst/>
              <a:rect r="r" b="b" t="t" l="l"/>
              <a:pathLst>
                <a:path h="151592" w="378178">
                  <a:moveTo>
                    <a:pt x="75796" y="0"/>
                  </a:moveTo>
                  <a:lnTo>
                    <a:pt x="302382" y="0"/>
                  </a:lnTo>
                  <a:cubicBezTo>
                    <a:pt x="322484" y="0"/>
                    <a:pt x="341763" y="7986"/>
                    <a:pt x="355978" y="22200"/>
                  </a:cubicBezTo>
                  <a:cubicBezTo>
                    <a:pt x="370192" y="36415"/>
                    <a:pt x="378178" y="55694"/>
                    <a:pt x="378178" y="75796"/>
                  </a:cubicBezTo>
                  <a:lnTo>
                    <a:pt x="378178" y="75796"/>
                  </a:lnTo>
                  <a:cubicBezTo>
                    <a:pt x="378178" y="95899"/>
                    <a:pt x="370192" y="115178"/>
                    <a:pt x="355978" y="129392"/>
                  </a:cubicBezTo>
                  <a:cubicBezTo>
                    <a:pt x="341763" y="143607"/>
                    <a:pt x="322484" y="151592"/>
                    <a:pt x="302382" y="151592"/>
                  </a:cubicBezTo>
                  <a:lnTo>
                    <a:pt x="75796" y="151592"/>
                  </a:lnTo>
                  <a:cubicBezTo>
                    <a:pt x="55694" y="151592"/>
                    <a:pt x="36415" y="143607"/>
                    <a:pt x="22200" y="129392"/>
                  </a:cubicBezTo>
                  <a:cubicBezTo>
                    <a:pt x="7986" y="115178"/>
                    <a:pt x="0" y="95899"/>
                    <a:pt x="0" y="75796"/>
                  </a:cubicBezTo>
                  <a:lnTo>
                    <a:pt x="0" y="75796"/>
                  </a:lnTo>
                  <a:cubicBezTo>
                    <a:pt x="0" y="55694"/>
                    <a:pt x="7986" y="36415"/>
                    <a:pt x="22200" y="22200"/>
                  </a:cubicBezTo>
                  <a:cubicBezTo>
                    <a:pt x="36415" y="7986"/>
                    <a:pt x="55694" y="0"/>
                    <a:pt x="75796" y="0"/>
                  </a:cubicBezTo>
                  <a:close/>
                </a:path>
              </a:pathLst>
            </a:custGeom>
            <a:solidFill>
              <a:srgbClr val="FEFEFF"/>
            </a:solidFill>
          </p:spPr>
        </p:sp>
        <p:sp>
          <p:nvSpPr>
            <p:cNvPr name="TextBox 24" id="24"/>
            <p:cNvSpPr txBox="true"/>
            <p:nvPr/>
          </p:nvSpPr>
          <p:spPr>
            <a:xfrm>
              <a:off x="0" y="-28575"/>
              <a:ext cx="378178" cy="180167"/>
            </a:xfrm>
            <a:prstGeom prst="rect">
              <a:avLst/>
            </a:prstGeom>
          </p:spPr>
          <p:txBody>
            <a:bodyPr anchor="ctr" rtlCol="false" tIns="50800" lIns="50800" bIns="50800" rIns="50800"/>
            <a:lstStyle/>
            <a:p>
              <a:pPr algn="ctr">
                <a:lnSpc>
                  <a:spcPts val="2056"/>
                </a:lnSpc>
              </a:pPr>
            </a:p>
          </p:txBody>
        </p:sp>
      </p:grpSp>
      <p:sp>
        <p:nvSpPr>
          <p:cNvPr name="TextBox 25" id="25"/>
          <p:cNvSpPr txBox="true"/>
          <p:nvPr/>
        </p:nvSpPr>
        <p:spPr>
          <a:xfrm rot="0">
            <a:off x="1595069" y="2698692"/>
            <a:ext cx="2981709" cy="296509"/>
          </a:xfrm>
          <a:prstGeom prst="rect">
            <a:avLst/>
          </a:prstGeom>
        </p:spPr>
        <p:txBody>
          <a:bodyPr anchor="t" rtlCol="false" tIns="0" lIns="0" bIns="0" rIns="0">
            <a:spAutoFit/>
          </a:bodyPr>
          <a:lstStyle/>
          <a:p>
            <a:pPr algn="l">
              <a:lnSpc>
                <a:spcPts val="2298"/>
              </a:lnSpc>
            </a:pPr>
            <a:r>
              <a:rPr lang="en-US" sz="2298" b="true">
                <a:solidFill>
                  <a:srgbClr val="001C7B"/>
                </a:solidFill>
                <a:latin typeface="Montserrat Bold"/>
                <a:ea typeface="Montserrat Bold"/>
                <a:cs typeface="Montserrat Bold"/>
                <a:sym typeface="Montserrat Bold"/>
              </a:rPr>
              <a:t>[01] CLIENT RIÊNG</a:t>
            </a:r>
          </a:p>
        </p:txBody>
      </p:sp>
      <p:sp>
        <p:nvSpPr>
          <p:cNvPr name="TextBox 26" id="26"/>
          <p:cNvSpPr txBox="true"/>
          <p:nvPr/>
        </p:nvSpPr>
        <p:spPr>
          <a:xfrm rot="0">
            <a:off x="662877" y="4399208"/>
            <a:ext cx="5117919" cy="1043995"/>
          </a:xfrm>
          <a:prstGeom prst="rect">
            <a:avLst/>
          </a:prstGeom>
        </p:spPr>
        <p:txBody>
          <a:bodyPr anchor="t" rtlCol="false" tIns="0" lIns="0" bIns="0" rIns="0">
            <a:spAutoFit/>
          </a:bodyPr>
          <a:lstStyle/>
          <a:p>
            <a:pPr algn="l">
              <a:lnSpc>
                <a:spcPts val="2831"/>
              </a:lnSpc>
            </a:pPr>
            <a:r>
              <a:rPr lang="en-US" sz="2022">
                <a:solidFill>
                  <a:srgbClr val="001C7B"/>
                </a:solidFill>
                <a:latin typeface="Montserrat"/>
                <a:ea typeface="Montserrat"/>
                <a:cs typeface="Montserrat"/>
                <a:sym typeface="Montserrat"/>
              </a:rPr>
              <a:t>Quản lý Controllers, UI Cache và luồng về giao diện. Giao tiếp mạng qua ChatClient và ChatReceiver</a:t>
            </a:r>
          </a:p>
        </p:txBody>
      </p:sp>
      <p:sp>
        <p:nvSpPr>
          <p:cNvPr name="TextBox 27" id="27"/>
          <p:cNvSpPr txBox="true"/>
          <p:nvPr/>
        </p:nvSpPr>
        <p:spPr>
          <a:xfrm rot="0">
            <a:off x="1887522" y="6255216"/>
            <a:ext cx="3509430" cy="638656"/>
          </a:xfrm>
          <a:prstGeom prst="rect">
            <a:avLst/>
          </a:prstGeom>
        </p:spPr>
        <p:txBody>
          <a:bodyPr anchor="t" rtlCol="false" tIns="0" lIns="0" bIns="0" rIns="0">
            <a:spAutoFit/>
          </a:bodyPr>
          <a:lstStyle/>
          <a:p>
            <a:pPr algn="l">
              <a:lnSpc>
                <a:spcPts val="2598"/>
              </a:lnSpc>
            </a:pPr>
            <a:r>
              <a:rPr lang="en-US" sz="1856" b="true">
                <a:solidFill>
                  <a:srgbClr val="FF3B4B"/>
                </a:solidFill>
                <a:latin typeface="Montserrat Bold"/>
                <a:ea typeface="Montserrat Bold"/>
                <a:cs typeface="Montserrat Bold"/>
                <a:sym typeface="Montserrat Bold"/>
              </a:rPr>
              <a:t>Tuyệt đối không đọc/ghi SQLite trực tiếp</a:t>
            </a:r>
          </a:p>
        </p:txBody>
      </p:sp>
      <p:sp>
        <p:nvSpPr>
          <p:cNvPr name="TextBox 28" id="28"/>
          <p:cNvSpPr txBox="true"/>
          <p:nvPr/>
        </p:nvSpPr>
        <p:spPr>
          <a:xfrm rot="0">
            <a:off x="6585040" y="3809688"/>
            <a:ext cx="4474460" cy="296509"/>
          </a:xfrm>
          <a:prstGeom prst="rect">
            <a:avLst/>
          </a:prstGeom>
        </p:spPr>
        <p:txBody>
          <a:bodyPr anchor="t" rtlCol="false" tIns="0" lIns="0" bIns="0" rIns="0">
            <a:spAutoFit/>
          </a:bodyPr>
          <a:lstStyle/>
          <a:p>
            <a:pPr algn="l">
              <a:lnSpc>
                <a:spcPts val="2298"/>
              </a:lnSpc>
            </a:pPr>
            <a:r>
              <a:rPr lang="en-US" sz="2298" b="true">
                <a:solidFill>
                  <a:srgbClr val="001C7B"/>
                </a:solidFill>
                <a:latin typeface="Montserrat Bold"/>
                <a:ea typeface="Montserrat Bold"/>
                <a:cs typeface="Montserrat Bold"/>
                <a:sym typeface="Montserrat Bold"/>
              </a:rPr>
              <a:t>Quản lý toàn bộ nghiệp vụ</a:t>
            </a:r>
          </a:p>
        </p:txBody>
      </p:sp>
      <p:sp>
        <p:nvSpPr>
          <p:cNvPr name="TextBox 29" id="29"/>
          <p:cNvSpPr txBox="true"/>
          <p:nvPr/>
        </p:nvSpPr>
        <p:spPr>
          <a:xfrm rot="0">
            <a:off x="6585040" y="4398661"/>
            <a:ext cx="4971693" cy="1359413"/>
          </a:xfrm>
          <a:prstGeom prst="rect">
            <a:avLst/>
          </a:prstGeom>
        </p:spPr>
        <p:txBody>
          <a:bodyPr anchor="t" rtlCol="false" tIns="0" lIns="0" bIns="0" rIns="0">
            <a:spAutoFit/>
          </a:bodyPr>
          <a:lstStyle/>
          <a:p>
            <a:pPr algn="l">
              <a:lnSpc>
                <a:spcPts val="2771"/>
              </a:lnSpc>
            </a:pPr>
            <a:r>
              <a:rPr lang="en-US" sz="1979">
                <a:solidFill>
                  <a:srgbClr val="001C7B"/>
                </a:solidFill>
                <a:latin typeface="Montserrat"/>
                <a:ea typeface="Montserrat"/>
                <a:cs typeface="Montserrat"/>
                <a:sym typeface="Montserrat"/>
              </a:rPr>
              <a:t>Điều phối kết nối Socket, định danh phiên , xác thực người dùng, bảo vệ quyền truy cập và phân phối gói tin thời gian thực</a:t>
            </a:r>
          </a:p>
        </p:txBody>
      </p:sp>
      <p:sp>
        <p:nvSpPr>
          <p:cNvPr name="TextBox 30" id="30"/>
          <p:cNvSpPr txBox="true"/>
          <p:nvPr/>
        </p:nvSpPr>
        <p:spPr>
          <a:xfrm rot="0">
            <a:off x="7901077" y="6255216"/>
            <a:ext cx="3143865" cy="638656"/>
          </a:xfrm>
          <a:prstGeom prst="rect">
            <a:avLst/>
          </a:prstGeom>
        </p:spPr>
        <p:txBody>
          <a:bodyPr anchor="t" rtlCol="false" tIns="0" lIns="0" bIns="0" rIns="0">
            <a:spAutoFit/>
          </a:bodyPr>
          <a:lstStyle/>
          <a:p>
            <a:pPr algn="l">
              <a:lnSpc>
                <a:spcPts val="2598"/>
              </a:lnSpc>
            </a:pPr>
            <a:r>
              <a:rPr lang="en-US" sz="1856" b="true">
                <a:solidFill>
                  <a:srgbClr val="001C7B"/>
                </a:solidFill>
                <a:latin typeface="Montserrat Bold"/>
                <a:ea typeface="Montserrat Bold"/>
                <a:cs typeface="Montserrat Bold"/>
                <a:sym typeface="Montserrat Bold"/>
              </a:rPr>
              <a:t>Kiểm soát logic tập trung và an toàn</a:t>
            </a:r>
          </a:p>
        </p:txBody>
      </p:sp>
      <p:sp>
        <p:nvSpPr>
          <p:cNvPr name="TextBox 31" id="31"/>
          <p:cNvSpPr txBox="true"/>
          <p:nvPr/>
        </p:nvSpPr>
        <p:spPr>
          <a:xfrm rot="0">
            <a:off x="13494231" y="2698692"/>
            <a:ext cx="4254851" cy="296509"/>
          </a:xfrm>
          <a:prstGeom prst="rect">
            <a:avLst/>
          </a:prstGeom>
        </p:spPr>
        <p:txBody>
          <a:bodyPr anchor="t" rtlCol="false" tIns="0" lIns="0" bIns="0" rIns="0">
            <a:spAutoFit/>
          </a:bodyPr>
          <a:lstStyle/>
          <a:p>
            <a:pPr algn="l">
              <a:lnSpc>
                <a:spcPts val="2298"/>
              </a:lnSpc>
            </a:pPr>
            <a:r>
              <a:rPr lang="en-US" sz="2298" b="true">
                <a:solidFill>
                  <a:srgbClr val="001C7B"/>
                </a:solidFill>
                <a:latin typeface="Montserrat Bold"/>
                <a:ea typeface="Montserrat Bold"/>
                <a:cs typeface="Montserrat Bold"/>
                <a:sym typeface="Montserrat Bold"/>
              </a:rPr>
              <a:t>TECH STACK VÀ DATABASE</a:t>
            </a:r>
          </a:p>
        </p:txBody>
      </p:sp>
      <p:sp>
        <p:nvSpPr>
          <p:cNvPr name="TextBox 32" id="32"/>
          <p:cNvSpPr txBox="true"/>
          <p:nvPr/>
        </p:nvSpPr>
        <p:spPr>
          <a:xfrm rot="0">
            <a:off x="12525482" y="3617212"/>
            <a:ext cx="5117919" cy="962506"/>
          </a:xfrm>
          <a:prstGeom prst="rect">
            <a:avLst/>
          </a:prstGeom>
        </p:spPr>
        <p:txBody>
          <a:bodyPr anchor="t" rtlCol="false" tIns="0" lIns="0" bIns="0" rIns="0">
            <a:spAutoFit/>
          </a:bodyPr>
          <a:lstStyle/>
          <a:p>
            <a:pPr algn="l">
              <a:lnSpc>
                <a:spcPts val="2598"/>
              </a:lnSpc>
            </a:pPr>
            <a:r>
              <a:rPr lang="en-US" sz="1856">
                <a:solidFill>
                  <a:srgbClr val="001C7B"/>
                </a:solidFill>
                <a:latin typeface="Montserrat"/>
                <a:ea typeface="Montserrat"/>
                <a:cs typeface="Montserrat"/>
                <a:sym typeface="Montserrat"/>
              </a:rPr>
              <a:t>SQLite và SMTP chỉ đặt tại Server. Client và Server trao đổi qua đối tượng ProtocolMessage bằng JSON Lines UTF-8.</a:t>
            </a:r>
          </a:p>
        </p:txBody>
      </p:sp>
      <p:sp>
        <p:nvSpPr>
          <p:cNvPr name="TextBox 33" id="33"/>
          <p:cNvSpPr txBox="true"/>
          <p:nvPr/>
        </p:nvSpPr>
        <p:spPr>
          <a:xfrm rot="0">
            <a:off x="12689987" y="5203803"/>
            <a:ext cx="1096697" cy="453849"/>
          </a:xfrm>
          <a:prstGeom prst="rect">
            <a:avLst/>
          </a:prstGeom>
        </p:spPr>
        <p:txBody>
          <a:bodyPr anchor="t" rtlCol="false" tIns="0" lIns="0" bIns="0" rIns="0">
            <a:spAutoFit/>
          </a:bodyPr>
          <a:lstStyle/>
          <a:p>
            <a:pPr algn="l">
              <a:lnSpc>
                <a:spcPts val="1743"/>
              </a:lnSpc>
            </a:pPr>
            <a:r>
              <a:rPr lang="en-US" sz="1743" b="true">
                <a:solidFill>
                  <a:srgbClr val="001C7B"/>
                </a:solidFill>
                <a:latin typeface="Montserrat Bold"/>
                <a:ea typeface="Montserrat Bold"/>
                <a:cs typeface="Montserrat Bold"/>
                <a:sym typeface="Montserrat Bold"/>
              </a:rPr>
              <a:t>Công nghệ:</a:t>
            </a:r>
          </a:p>
        </p:txBody>
      </p:sp>
      <p:sp>
        <p:nvSpPr>
          <p:cNvPr name="TextBox 34" id="34"/>
          <p:cNvSpPr txBox="true"/>
          <p:nvPr/>
        </p:nvSpPr>
        <p:spPr>
          <a:xfrm rot="0">
            <a:off x="14280197" y="5055421"/>
            <a:ext cx="2997638" cy="540235"/>
          </a:xfrm>
          <a:prstGeom prst="rect">
            <a:avLst/>
          </a:prstGeom>
        </p:spPr>
        <p:txBody>
          <a:bodyPr anchor="t" rtlCol="false" tIns="0" lIns="0" bIns="0" rIns="0">
            <a:spAutoFit/>
          </a:bodyPr>
          <a:lstStyle/>
          <a:p>
            <a:pPr algn="l">
              <a:lnSpc>
                <a:spcPts val="2248"/>
              </a:lnSpc>
            </a:pPr>
            <a:r>
              <a:rPr lang="en-US" sz="1605">
                <a:solidFill>
                  <a:srgbClr val="001C7B"/>
                </a:solidFill>
                <a:latin typeface="Montserrat"/>
                <a:ea typeface="Montserrat"/>
                <a:cs typeface="Montserrat"/>
                <a:sym typeface="Montserrat"/>
              </a:rPr>
              <a:t>Java 21 - JavaFX - TCP Socket - SQLite WAL</a:t>
            </a:r>
          </a:p>
        </p:txBody>
      </p:sp>
      <p:sp>
        <p:nvSpPr>
          <p:cNvPr name="TextBox 35" id="35"/>
          <p:cNvSpPr txBox="true"/>
          <p:nvPr/>
        </p:nvSpPr>
        <p:spPr>
          <a:xfrm rot="0">
            <a:off x="12789293" y="6116700"/>
            <a:ext cx="895636" cy="474813"/>
          </a:xfrm>
          <a:prstGeom prst="rect">
            <a:avLst/>
          </a:prstGeom>
        </p:spPr>
        <p:txBody>
          <a:bodyPr anchor="t" rtlCol="false" tIns="0" lIns="0" bIns="0" rIns="0">
            <a:spAutoFit/>
          </a:bodyPr>
          <a:lstStyle/>
          <a:p>
            <a:pPr algn="l">
              <a:lnSpc>
                <a:spcPts val="1818"/>
              </a:lnSpc>
            </a:pPr>
            <a:r>
              <a:rPr lang="en-US" sz="1818" b="true">
                <a:solidFill>
                  <a:srgbClr val="001C7B"/>
                </a:solidFill>
                <a:latin typeface="Montserrat Bold"/>
                <a:ea typeface="Montserrat Bold"/>
                <a:cs typeface="Montserrat Bold"/>
                <a:sym typeface="Montserrat Bold"/>
              </a:rPr>
              <a:t>Bảo mật:</a:t>
            </a:r>
          </a:p>
        </p:txBody>
      </p:sp>
      <p:sp>
        <p:nvSpPr>
          <p:cNvPr name="TextBox 36" id="36"/>
          <p:cNvSpPr txBox="true"/>
          <p:nvPr/>
        </p:nvSpPr>
        <p:spPr>
          <a:xfrm rot="0">
            <a:off x="12708265" y="7120484"/>
            <a:ext cx="1060140" cy="474813"/>
          </a:xfrm>
          <a:prstGeom prst="rect">
            <a:avLst/>
          </a:prstGeom>
        </p:spPr>
        <p:txBody>
          <a:bodyPr anchor="t" rtlCol="false" tIns="0" lIns="0" bIns="0" rIns="0">
            <a:spAutoFit/>
          </a:bodyPr>
          <a:lstStyle/>
          <a:p>
            <a:pPr algn="l">
              <a:lnSpc>
                <a:spcPts val="1818"/>
              </a:lnSpc>
            </a:pPr>
            <a:r>
              <a:rPr lang="en-US" sz="1818" b="true">
                <a:solidFill>
                  <a:srgbClr val="001C7B"/>
                </a:solidFill>
                <a:latin typeface="Montserrat Bold"/>
                <a:ea typeface="Montserrat Bold"/>
                <a:cs typeface="Montserrat Bold"/>
                <a:sym typeface="Montserrat Bold"/>
              </a:rPr>
              <a:t>Tính năng:</a:t>
            </a:r>
          </a:p>
        </p:txBody>
      </p:sp>
      <p:sp>
        <p:nvSpPr>
          <p:cNvPr name="TextBox 37" id="37"/>
          <p:cNvSpPr txBox="true"/>
          <p:nvPr/>
        </p:nvSpPr>
        <p:spPr>
          <a:xfrm rot="0">
            <a:off x="14280197" y="6893895"/>
            <a:ext cx="2997638" cy="540235"/>
          </a:xfrm>
          <a:prstGeom prst="rect">
            <a:avLst/>
          </a:prstGeom>
        </p:spPr>
        <p:txBody>
          <a:bodyPr anchor="t" rtlCol="false" tIns="0" lIns="0" bIns="0" rIns="0">
            <a:spAutoFit/>
          </a:bodyPr>
          <a:lstStyle/>
          <a:p>
            <a:pPr algn="l">
              <a:lnSpc>
                <a:spcPts val="2248"/>
              </a:lnSpc>
            </a:pPr>
            <a:r>
              <a:rPr lang="en-US" sz="1605">
                <a:solidFill>
                  <a:srgbClr val="001C7B"/>
                </a:solidFill>
                <a:latin typeface="Montserrat"/>
                <a:ea typeface="Montserrat"/>
                <a:cs typeface="Montserrat"/>
                <a:sym typeface="Montserrat"/>
              </a:rPr>
              <a:t>Auth - Chat Realtime - Lịch sử - Reply / Forward</a:t>
            </a:r>
          </a:p>
        </p:txBody>
      </p:sp>
      <p:sp>
        <p:nvSpPr>
          <p:cNvPr name="TextBox 38" id="38"/>
          <p:cNvSpPr txBox="true"/>
          <p:nvPr/>
        </p:nvSpPr>
        <p:spPr>
          <a:xfrm rot="0">
            <a:off x="662877" y="3809688"/>
            <a:ext cx="4921556" cy="296509"/>
          </a:xfrm>
          <a:prstGeom prst="rect">
            <a:avLst/>
          </a:prstGeom>
        </p:spPr>
        <p:txBody>
          <a:bodyPr anchor="t" rtlCol="false" tIns="0" lIns="0" bIns="0" rIns="0">
            <a:spAutoFit/>
          </a:bodyPr>
          <a:lstStyle/>
          <a:p>
            <a:pPr algn="l">
              <a:lnSpc>
                <a:spcPts val="2298"/>
              </a:lnSpc>
            </a:pPr>
            <a:r>
              <a:rPr lang="en-US" sz="2298" b="true">
                <a:solidFill>
                  <a:srgbClr val="001C7B"/>
                </a:solidFill>
                <a:latin typeface="Montserrat Bold"/>
                <a:ea typeface="Montserrat Bold"/>
                <a:cs typeface="Montserrat Bold"/>
                <a:sym typeface="Montserrat Bold"/>
              </a:rPr>
              <a:t>Đảm nhận hiển thị và tương tác</a:t>
            </a:r>
          </a:p>
        </p:txBody>
      </p:sp>
      <p:sp>
        <p:nvSpPr>
          <p:cNvPr name="TextBox 39" id="39"/>
          <p:cNvSpPr txBox="true"/>
          <p:nvPr/>
        </p:nvSpPr>
        <p:spPr>
          <a:xfrm rot="0">
            <a:off x="14280197" y="5933593"/>
            <a:ext cx="3381551" cy="540235"/>
          </a:xfrm>
          <a:prstGeom prst="rect">
            <a:avLst/>
          </a:prstGeom>
        </p:spPr>
        <p:txBody>
          <a:bodyPr anchor="t" rtlCol="false" tIns="0" lIns="0" bIns="0" rIns="0">
            <a:spAutoFit/>
          </a:bodyPr>
          <a:lstStyle/>
          <a:p>
            <a:pPr algn="l">
              <a:lnSpc>
                <a:spcPts val="2248"/>
              </a:lnSpc>
            </a:pPr>
            <a:r>
              <a:rPr lang="en-US" sz="1605">
                <a:solidFill>
                  <a:srgbClr val="001C7B"/>
                </a:solidFill>
                <a:latin typeface="Montserrat"/>
                <a:ea typeface="Montserrat"/>
                <a:cs typeface="Montserrat"/>
                <a:sym typeface="Montserrat"/>
              </a:rPr>
              <a:t>Mã hóa mật khẩu BCrypt, OTP qua Mail</a:t>
            </a:r>
          </a:p>
        </p:txBody>
      </p:sp>
      <p:grpSp>
        <p:nvGrpSpPr>
          <p:cNvPr name="Group 40" id="40"/>
          <p:cNvGrpSpPr/>
          <p:nvPr/>
        </p:nvGrpSpPr>
        <p:grpSpPr>
          <a:xfrm rot="0">
            <a:off x="431206" y="8932927"/>
            <a:ext cx="17702240" cy="741680"/>
            <a:chOff x="0" y="0"/>
            <a:chExt cx="23602987" cy="988907"/>
          </a:xfrm>
        </p:grpSpPr>
        <p:sp>
          <p:nvSpPr>
            <p:cNvPr name="TextBox 41" id="41"/>
            <p:cNvSpPr txBox="true"/>
            <p:nvPr/>
          </p:nvSpPr>
          <p:spPr>
            <a:xfrm rot="0">
              <a:off x="0" y="47625"/>
              <a:ext cx="3227114" cy="792268"/>
            </a:xfrm>
            <a:prstGeom prst="rect">
              <a:avLst/>
            </a:prstGeom>
          </p:spPr>
          <p:txBody>
            <a:bodyPr anchor="t" rtlCol="false" tIns="0" lIns="0" bIns="0" rIns="0">
              <a:spAutoFit/>
            </a:bodyPr>
            <a:lstStyle/>
            <a:p>
              <a:pPr algn="l">
                <a:lnSpc>
                  <a:spcPts val="2299"/>
                </a:lnSpc>
              </a:pPr>
              <a:r>
                <a:rPr lang="en-US" sz="2299" b="true">
                  <a:solidFill>
                    <a:srgbClr val="001C7B"/>
                  </a:solidFill>
                  <a:latin typeface="Montserrat Bold"/>
                  <a:ea typeface="Montserrat Bold"/>
                  <a:cs typeface="Montserrat Bold"/>
                  <a:sym typeface="Montserrat Bold"/>
                </a:rPr>
                <a:t>Luồng tổng thể:</a:t>
              </a:r>
            </a:p>
          </p:txBody>
        </p:sp>
        <p:sp>
          <p:nvSpPr>
            <p:cNvPr name="TextBox 42" id="42"/>
            <p:cNvSpPr txBox="true"/>
            <p:nvPr/>
          </p:nvSpPr>
          <p:spPr>
            <a:xfrm rot="0">
              <a:off x="3227114" y="-47625"/>
              <a:ext cx="20375873" cy="1036532"/>
            </a:xfrm>
            <a:prstGeom prst="rect">
              <a:avLst/>
            </a:prstGeom>
          </p:spPr>
          <p:txBody>
            <a:bodyPr anchor="t" rtlCol="false" tIns="0" lIns="0" bIns="0" rIns="0">
              <a:spAutoFit/>
            </a:bodyPr>
            <a:lstStyle/>
            <a:p>
              <a:pPr algn="l">
                <a:lnSpc>
                  <a:spcPts val="3219"/>
                </a:lnSpc>
              </a:pPr>
              <a:r>
                <a:rPr lang="en-US" sz="2299" i="true">
                  <a:solidFill>
                    <a:srgbClr val="001C7B"/>
                  </a:solidFill>
                  <a:latin typeface="Montserrat Italics"/>
                  <a:ea typeface="Montserrat Italics"/>
                  <a:cs typeface="Montserrat Italics"/>
                  <a:sym typeface="Montserrat Italics"/>
                </a:rPr>
                <a:t>Client gửi request → Server xác thực và xử lý → Database lưu trữ → Server phản hồi hoặc broadcast realtime về Client</a:t>
              </a:r>
            </a:p>
          </p:txBody>
        </p:sp>
      </p:grpSp>
      <p:sp>
        <p:nvSpPr>
          <p:cNvPr name="TextBox 43" id="43"/>
          <p:cNvSpPr txBox="true"/>
          <p:nvPr/>
        </p:nvSpPr>
        <p:spPr>
          <a:xfrm rot="0">
            <a:off x="1192225" y="393795"/>
            <a:ext cx="15757323" cy="1123950"/>
          </a:xfrm>
          <a:prstGeom prst="rect">
            <a:avLst/>
          </a:prstGeom>
        </p:spPr>
        <p:txBody>
          <a:bodyPr anchor="t" rtlCol="false" tIns="0" lIns="0" bIns="0" rIns="0">
            <a:spAutoFit/>
          </a:bodyPr>
          <a:lstStyle/>
          <a:p>
            <a:pPr algn="ctr">
              <a:lnSpc>
                <a:spcPts val="8859"/>
              </a:lnSpc>
            </a:pPr>
            <a:r>
              <a:rPr lang="en-US" sz="7382" b="true">
                <a:solidFill>
                  <a:srgbClr val="001549"/>
                </a:solidFill>
                <a:latin typeface="Montserrat Ultra-Bold"/>
                <a:ea typeface="Montserrat Ultra-Bold"/>
                <a:cs typeface="Montserrat Ultra-Bold"/>
                <a:sym typeface="Montserrat Ultra-Bold"/>
              </a:rPr>
              <a:t>TỔNG QUAN DỰ ÁN</a:t>
            </a:r>
          </a:p>
        </p:txBody>
      </p:sp>
      <p:grpSp>
        <p:nvGrpSpPr>
          <p:cNvPr name="Group 44" id="44"/>
          <p:cNvGrpSpPr/>
          <p:nvPr/>
        </p:nvGrpSpPr>
        <p:grpSpPr>
          <a:xfrm rot="0">
            <a:off x="10430324" y="2511038"/>
            <a:ext cx="1435893" cy="575577"/>
            <a:chOff x="0" y="0"/>
            <a:chExt cx="378178" cy="151592"/>
          </a:xfrm>
        </p:grpSpPr>
        <p:sp>
          <p:nvSpPr>
            <p:cNvPr name="Freeform 45" id="45"/>
            <p:cNvSpPr/>
            <p:nvPr/>
          </p:nvSpPr>
          <p:spPr>
            <a:xfrm flipH="false" flipV="false" rot="0">
              <a:off x="0" y="0"/>
              <a:ext cx="378178" cy="151592"/>
            </a:xfrm>
            <a:custGeom>
              <a:avLst/>
              <a:gdLst/>
              <a:ahLst/>
              <a:cxnLst/>
              <a:rect r="r" b="b" t="t" l="l"/>
              <a:pathLst>
                <a:path h="151592" w="378178">
                  <a:moveTo>
                    <a:pt x="75796" y="0"/>
                  </a:moveTo>
                  <a:lnTo>
                    <a:pt x="302382" y="0"/>
                  </a:lnTo>
                  <a:cubicBezTo>
                    <a:pt x="322484" y="0"/>
                    <a:pt x="341763" y="7986"/>
                    <a:pt x="355978" y="22200"/>
                  </a:cubicBezTo>
                  <a:cubicBezTo>
                    <a:pt x="370192" y="36415"/>
                    <a:pt x="378178" y="55694"/>
                    <a:pt x="378178" y="75796"/>
                  </a:cubicBezTo>
                  <a:lnTo>
                    <a:pt x="378178" y="75796"/>
                  </a:lnTo>
                  <a:cubicBezTo>
                    <a:pt x="378178" y="95899"/>
                    <a:pt x="370192" y="115178"/>
                    <a:pt x="355978" y="129392"/>
                  </a:cubicBezTo>
                  <a:cubicBezTo>
                    <a:pt x="341763" y="143607"/>
                    <a:pt x="322484" y="151592"/>
                    <a:pt x="302382" y="151592"/>
                  </a:cubicBezTo>
                  <a:lnTo>
                    <a:pt x="75796" y="151592"/>
                  </a:lnTo>
                  <a:cubicBezTo>
                    <a:pt x="55694" y="151592"/>
                    <a:pt x="36415" y="143607"/>
                    <a:pt x="22200" y="129392"/>
                  </a:cubicBezTo>
                  <a:cubicBezTo>
                    <a:pt x="7986" y="115178"/>
                    <a:pt x="0" y="95899"/>
                    <a:pt x="0" y="75796"/>
                  </a:cubicBezTo>
                  <a:lnTo>
                    <a:pt x="0" y="75796"/>
                  </a:lnTo>
                  <a:cubicBezTo>
                    <a:pt x="0" y="55694"/>
                    <a:pt x="7986" y="36415"/>
                    <a:pt x="22200" y="22200"/>
                  </a:cubicBezTo>
                  <a:cubicBezTo>
                    <a:pt x="36415" y="7986"/>
                    <a:pt x="55694" y="0"/>
                    <a:pt x="75796" y="0"/>
                  </a:cubicBezTo>
                  <a:close/>
                </a:path>
              </a:pathLst>
            </a:custGeom>
            <a:solidFill>
              <a:srgbClr val="FEFEFF"/>
            </a:solidFill>
          </p:spPr>
        </p:sp>
        <p:sp>
          <p:nvSpPr>
            <p:cNvPr name="TextBox 46" id="46"/>
            <p:cNvSpPr txBox="true"/>
            <p:nvPr/>
          </p:nvSpPr>
          <p:spPr>
            <a:xfrm>
              <a:off x="0" y="-28575"/>
              <a:ext cx="378178" cy="180167"/>
            </a:xfrm>
            <a:prstGeom prst="rect">
              <a:avLst/>
            </a:prstGeom>
          </p:spPr>
          <p:txBody>
            <a:bodyPr anchor="ctr" rtlCol="false" tIns="50800" lIns="50800" bIns="50800" rIns="50800"/>
            <a:lstStyle/>
            <a:p>
              <a:pPr algn="ctr">
                <a:lnSpc>
                  <a:spcPts val="2056"/>
                </a:lnSpc>
              </a:pPr>
            </a:p>
          </p:txBody>
        </p:sp>
      </p:grpSp>
      <p:sp>
        <p:nvSpPr>
          <p:cNvPr name="TextBox 47" id="47"/>
          <p:cNvSpPr txBox="true"/>
          <p:nvPr/>
        </p:nvSpPr>
        <p:spPr>
          <a:xfrm rot="0">
            <a:off x="7590346" y="2685526"/>
            <a:ext cx="3321485" cy="258744"/>
          </a:xfrm>
          <a:prstGeom prst="rect">
            <a:avLst/>
          </a:prstGeom>
        </p:spPr>
        <p:txBody>
          <a:bodyPr anchor="t" rtlCol="false" tIns="0" lIns="0" bIns="0" rIns="0">
            <a:spAutoFit/>
          </a:bodyPr>
          <a:lstStyle/>
          <a:p>
            <a:pPr algn="l">
              <a:lnSpc>
                <a:spcPts val="1936"/>
              </a:lnSpc>
            </a:pPr>
            <a:r>
              <a:rPr lang="en-US" sz="1936" b="true">
                <a:solidFill>
                  <a:srgbClr val="001C7B"/>
                </a:solidFill>
                <a:latin typeface="Montserrat Bold"/>
                <a:ea typeface="Montserrat Bold"/>
                <a:cs typeface="Montserrat Bold"/>
                <a:sym typeface="Montserrat Bold"/>
              </a:rPr>
              <a:t>[02] SERVER TRUNG TÂM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Freeform 3" id="3"/>
          <p:cNvSpPr/>
          <p:nvPr/>
        </p:nvSpPr>
        <p:spPr>
          <a:xfrm flipH="false" flipV="false" rot="0">
            <a:off x="212566" y="1520187"/>
            <a:ext cx="6974608" cy="6657580"/>
          </a:xfrm>
          <a:custGeom>
            <a:avLst/>
            <a:gdLst/>
            <a:ahLst/>
            <a:cxnLst/>
            <a:rect r="r" b="b" t="t" l="l"/>
            <a:pathLst>
              <a:path h="6657580" w="6974608">
                <a:moveTo>
                  <a:pt x="0" y="0"/>
                </a:moveTo>
                <a:lnTo>
                  <a:pt x="6974608" y="0"/>
                </a:lnTo>
                <a:lnTo>
                  <a:pt x="6974608" y="6657580"/>
                </a:lnTo>
                <a:lnTo>
                  <a:pt x="0" y="6657580"/>
                </a:lnTo>
                <a:lnTo>
                  <a:pt x="0" y="0"/>
                </a:lnTo>
                <a:close/>
              </a:path>
            </a:pathLst>
          </a:custGeom>
          <a:blipFill>
            <a:blip r:embed="rId3"/>
            <a:stretch>
              <a:fillRect l="0" t="0" r="0" b="0"/>
            </a:stretch>
          </a:blipFill>
        </p:spPr>
      </p:sp>
      <p:sp>
        <p:nvSpPr>
          <p:cNvPr name="Freeform 4" id="4"/>
          <p:cNvSpPr/>
          <p:nvPr/>
        </p:nvSpPr>
        <p:spPr>
          <a:xfrm flipH="false" flipV="false" rot="0">
            <a:off x="212566" y="1520187"/>
            <a:ext cx="6974608" cy="863627"/>
          </a:xfrm>
          <a:custGeom>
            <a:avLst/>
            <a:gdLst/>
            <a:ahLst/>
            <a:cxnLst/>
            <a:rect r="r" b="b" t="t" l="l"/>
            <a:pathLst>
              <a:path h="863627" w="6974608">
                <a:moveTo>
                  <a:pt x="0" y="0"/>
                </a:moveTo>
                <a:lnTo>
                  <a:pt x="6974608" y="0"/>
                </a:lnTo>
                <a:lnTo>
                  <a:pt x="6974608" y="863627"/>
                </a:lnTo>
                <a:lnTo>
                  <a:pt x="0" y="863627"/>
                </a:lnTo>
                <a:lnTo>
                  <a:pt x="0" y="0"/>
                </a:lnTo>
                <a:close/>
              </a:path>
            </a:pathLst>
          </a:custGeom>
          <a:blipFill>
            <a:blip r:embed="rId4"/>
            <a:stretch>
              <a:fillRect l="0" t="0" r="0" b="0"/>
            </a:stretch>
          </a:blipFill>
        </p:spPr>
      </p:sp>
      <p:sp>
        <p:nvSpPr>
          <p:cNvPr name="Freeform 5" id="5"/>
          <p:cNvSpPr/>
          <p:nvPr/>
        </p:nvSpPr>
        <p:spPr>
          <a:xfrm flipH="false" flipV="false" rot="0">
            <a:off x="431206" y="1520187"/>
            <a:ext cx="885491" cy="863627"/>
          </a:xfrm>
          <a:custGeom>
            <a:avLst/>
            <a:gdLst/>
            <a:ahLst/>
            <a:cxnLst/>
            <a:rect r="r" b="b" t="t" l="l"/>
            <a:pathLst>
              <a:path h="863627" w="885491">
                <a:moveTo>
                  <a:pt x="0" y="0"/>
                </a:moveTo>
                <a:lnTo>
                  <a:pt x="885491" y="0"/>
                </a:lnTo>
                <a:lnTo>
                  <a:pt x="885491" y="863627"/>
                </a:lnTo>
                <a:lnTo>
                  <a:pt x="0" y="863627"/>
                </a:lnTo>
                <a:lnTo>
                  <a:pt x="0" y="0"/>
                </a:lnTo>
                <a:close/>
              </a:path>
            </a:pathLst>
          </a:custGeom>
          <a:blipFill>
            <a:blip r:embed="rId5"/>
            <a:stretch>
              <a:fillRect l="0" t="0" r="0" b="0"/>
            </a:stretch>
          </a:blipFill>
        </p:spPr>
      </p:sp>
      <p:sp>
        <p:nvSpPr>
          <p:cNvPr name="Freeform 6" id="6"/>
          <p:cNvSpPr/>
          <p:nvPr/>
        </p:nvSpPr>
        <p:spPr>
          <a:xfrm flipH="false" flipV="false" rot="0">
            <a:off x="431206" y="2372882"/>
            <a:ext cx="6537328" cy="1727254"/>
          </a:xfrm>
          <a:custGeom>
            <a:avLst/>
            <a:gdLst/>
            <a:ahLst/>
            <a:cxnLst/>
            <a:rect r="r" b="b" t="t" l="l"/>
            <a:pathLst>
              <a:path h="1727254" w="6537328">
                <a:moveTo>
                  <a:pt x="0" y="0"/>
                </a:moveTo>
                <a:lnTo>
                  <a:pt x="6537329" y="0"/>
                </a:lnTo>
                <a:lnTo>
                  <a:pt x="6537329" y="1727254"/>
                </a:lnTo>
                <a:lnTo>
                  <a:pt x="0" y="1727254"/>
                </a:lnTo>
                <a:lnTo>
                  <a:pt x="0" y="0"/>
                </a:lnTo>
                <a:close/>
              </a:path>
            </a:pathLst>
          </a:custGeom>
          <a:blipFill>
            <a:blip r:embed="rId6"/>
            <a:stretch>
              <a:fillRect l="0" t="0" r="0" b="0"/>
            </a:stretch>
          </a:blipFill>
        </p:spPr>
      </p:sp>
      <p:sp>
        <p:nvSpPr>
          <p:cNvPr name="Freeform 7" id="7"/>
          <p:cNvSpPr/>
          <p:nvPr/>
        </p:nvSpPr>
        <p:spPr>
          <a:xfrm flipH="false" flipV="false" rot="0">
            <a:off x="649846" y="2591522"/>
            <a:ext cx="666851" cy="437279"/>
          </a:xfrm>
          <a:custGeom>
            <a:avLst/>
            <a:gdLst/>
            <a:ahLst/>
            <a:cxnLst/>
            <a:rect r="r" b="b" t="t" l="l"/>
            <a:pathLst>
              <a:path h="437279" w="666851">
                <a:moveTo>
                  <a:pt x="0" y="0"/>
                </a:moveTo>
                <a:lnTo>
                  <a:pt x="666851" y="0"/>
                </a:lnTo>
                <a:lnTo>
                  <a:pt x="666851" y="437279"/>
                </a:lnTo>
                <a:lnTo>
                  <a:pt x="0" y="437279"/>
                </a:lnTo>
                <a:lnTo>
                  <a:pt x="0" y="0"/>
                </a:lnTo>
                <a:close/>
              </a:path>
            </a:pathLst>
          </a:custGeom>
          <a:blipFill>
            <a:blip r:embed="rId7"/>
            <a:stretch>
              <a:fillRect l="0" t="0" r="0" b="0"/>
            </a:stretch>
          </a:blipFill>
        </p:spPr>
      </p:sp>
      <p:sp>
        <p:nvSpPr>
          <p:cNvPr name="Freeform 8" id="8"/>
          <p:cNvSpPr/>
          <p:nvPr/>
        </p:nvSpPr>
        <p:spPr>
          <a:xfrm flipH="false" flipV="false" rot="0">
            <a:off x="649846" y="3017869"/>
            <a:ext cx="2186397" cy="1082267"/>
          </a:xfrm>
          <a:custGeom>
            <a:avLst/>
            <a:gdLst/>
            <a:ahLst/>
            <a:cxnLst/>
            <a:rect r="r" b="b" t="t" l="l"/>
            <a:pathLst>
              <a:path h="1082267" w="2186397">
                <a:moveTo>
                  <a:pt x="0" y="0"/>
                </a:moveTo>
                <a:lnTo>
                  <a:pt x="2186397" y="0"/>
                </a:lnTo>
                <a:lnTo>
                  <a:pt x="2186397" y="1082267"/>
                </a:lnTo>
                <a:lnTo>
                  <a:pt x="0" y="1082267"/>
                </a:lnTo>
                <a:lnTo>
                  <a:pt x="0" y="0"/>
                </a:lnTo>
                <a:close/>
              </a:path>
            </a:pathLst>
          </a:custGeom>
          <a:blipFill>
            <a:blip r:embed="rId8"/>
            <a:stretch>
              <a:fillRect l="0" t="0" r="0" b="0"/>
            </a:stretch>
          </a:blipFill>
        </p:spPr>
      </p:sp>
      <p:sp>
        <p:nvSpPr>
          <p:cNvPr name="Freeform 9" id="9"/>
          <p:cNvSpPr/>
          <p:nvPr/>
        </p:nvSpPr>
        <p:spPr>
          <a:xfrm flipH="false" flipV="false" rot="0">
            <a:off x="2825311" y="3017869"/>
            <a:ext cx="1967758" cy="1082267"/>
          </a:xfrm>
          <a:custGeom>
            <a:avLst/>
            <a:gdLst/>
            <a:ahLst/>
            <a:cxnLst/>
            <a:rect r="r" b="b" t="t" l="l"/>
            <a:pathLst>
              <a:path h="1082267" w="1967758">
                <a:moveTo>
                  <a:pt x="0" y="0"/>
                </a:moveTo>
                <a:lnTo>
                  <a:pt x="1967758" y="0"/>
                </a:lnTo>
                <a:lnTo>
                  <a:pt x="1967758" y="1082267"/>
                </a:lnTo>
                <a:lnTo>
                  <a:pt x="0" y="1082267"/>
                </a:lnTo>
                <a:lnTo>
                  <a:pt x="0" y="0"/>
                </a:lnTo>
                <a:close/>
              </a:path>
            </a:pathLst>
          </a:custGeom>
          <a:blipFill>
            <a:blip r:embed="rId9"/>
            <a:stretch>
              <a:fillRect l="0" t="0" r="0" b="0"/>
            </a:stretch>
          </a:blipFill>
        </p:spPr>
      </p:sp>
      <p:sp>
        <p:nvSpPr>
          <p:cNvPr name="Freeform 10" id="10"/>
          <p:cNvSpPr/>
          <p:nvPr/>
        </p:nvSpPr>
        <p:spPr>
          <a:xfrm flipH="false" flipV="false" rot="0">
            <a:off x="4782137" y="3017869"/>
            <a:ext cx="1978690" cy="1082267"/>
          </a:xfrm>
          <a:custGeom>
            <a:avLst/>
            <a:gdLst/>
            <a:ahLst/>
            <a:cxnLst/>
            <a:rect r="r" b="b" t="t" l="l"/>
            <a:pathLst>
              <a:path h="1082267" w="1978690">
                <a:moveTo>
                  <a:pt x="0" y="0"/>
                </a:moveTo>
                <a:lnTo>
                  <a:pt x="1978690" y="0"/>
                </a:lnTo>
                <a:lnTo>
                  <a:pt x="1978690" y="1082267"/>
                </a:lnTo>
                <a:lnTo>
                  <a:pt x="0" y="1082267"/>
                </a:lnTo>
                <a:lnTo>
                  <a:pt x="0" y="0"/>
                </a:lnTo>
                <a:close/>
              </a:path>
            </a:pathLst>
          </a:custGeom>
          <a:blipFill>
            <a:blip r:embed="rId10"/>
            <a:stretch>
              <a:fillRect l="0" t="0" r="0" b="0"/>
            </a:stretch>
          </a:blipFill>
        </p:spPr>
      </p:sp>
      <p:sp>
        <p:nvSpPr>
          <p:cNvPr name="Freeform 11" id="11"/>
          <p:cNvSpPr/>
          <p:nvPr/>
        </p:nvSpPr>
        <p:spPr>
          <a:xfrm flipH="false" flipV="false" rot="0">
            <a:off x="1524405" y="3881496"/>
            <a:ext cx="448211" cy="437279"/>
          </a:xfrm>
          <a:custGeom>
            <a:avLst/>
            <a:gdLst/>
            <a:ahLst/>
            <a:cxnLst/>
            <a:rect r="r" b="b" t="t" l="l"/>
            <a:pathLst>
              <a:path h="437279" w="448211">
                <a:moveTo>
                  <a:pt x="0" y="0"/>
                </a:moveTo>
                <a:lnTo>
                  <a:pt x="448211" y="0"/>
                </a:lnTo>
                <a:lnTo>
                  <a:pt x="448211" y="437280"/>
                </a:lnTo>
                <a:lnTo>
                  <a:pt x="0" y="437280"/>
                </a:lnTo>
                <a:lnTo>
                  <a:pt x="0" y="0"/>
                </a:lnTo>
                <a:close/>
              </a:path>
            </a:pathLst>
          </a:custGeom>
          <a:blipFill>
            <a:blip r:embed="rId11"/>
            <a:stretch>
              <a:fillRect l="0" t="0" r="0" b="0"/>
            </a:stretch>
          </a:blipFill>
        </p:spPr>
      </p:sp>
      <p:sp>
        <p:nvSpPr>
          <p:cNvPr name="Freeform 12" id="12"/>
          <p:cNvSpPr/>
          <p:nvPr/>
        </p:nvSpPr>
        <p:spPr>
          <a:xfrm flipH="false" flipV="false" rot="0">
            <a:off x="3699870" y="3881496"/>
            <a:ext cx="229572" cy="437279"/>
          </a:xfrm>
          <a:custGeom>
            <a:avLst/>
            <a:gdLst/>
            <a:ahLst/>
            <a:cxnLst/>
            <a:rect r="r" b="b" t="t" l="l"/>
            <a:pathLst>
              <a:path h="437279" w="229572">
                <a:moveTo>
                  <a:pt x="0" y="0"/>
                </a:moveTo>
                <a:lnTo>
                  <a:pt x="229572" y="0"/>
                </a:lnTo>
                <a:lnTo>
                  <a:pt x="229572" y="437280"/>
                </a:lnTo>
                <a:lnTo>
                  <a:pt x="0" y="437280"/>
                </a:lnTo>
                <a:lnTo>
                  <a:pt x="0" y="0"/>
                </a:lnTo>
                <a:close/>
              </a:path>
            </a:pathLst>
          </a:custGeom>
          <a:blipFill>
            <a:blip r:embed="rId12"/>
            <a:stretch>
              <a:fillRect l="0" t="0" r="0" b="0"/>
            </a:stretch>
          </a:blipFill>
        </p:spPr>
      </p:sp>
      <p:sp>
        <p:nvSpPr>
          <p:cNvPr name="Freeform 13" id="13"/>
          <p:cNvSpPr/>
          <p:nvPr/>
        </p:nvSpPr>
        <p:spPr>
          <a:xfrm flipH="false" flipV="false" rot="0">
            <a:off x="5656696" y="3881496"/>
            <a:ext cx="229572" cy="437279"/>
          </a:xfrm>
          <a:custGeom>
            <a:avLst/>
            <a:gdLst/>
            <a:ahLst/>
            <a:cxnLst/>
            <a:rect r="r" b="b" t="t" l="l"/>
            <a:pathLst>
              <a:path h="437279" w="229572">
                <a:moveTo>
                  <a:pt x="0" y="0"/>
                </a:moveTo>
                <a:lnTo>
                  <a:pt x="229572" y="0"/>
                </a:lnTo>
                <a:lnTo>
                  <a:pt x="229572" y="437280"/>
                </a:lnTo>
                <a:lnTo>
                  <a:pt x="0" y="437280"/>
                </a:lnTo>
                <a:lnTo>
                  <a:pt x="0" y="0"/>
                </a:lnTo>
                <a:close/>
              </a:path>
            </a:pathLst>
          </a:custGeom>
          <a:blipFill>
            <a:blip r:embed="rId13"/>
            <a:stretch>
              <a:fillRect l="0" t="0" r="0" b="0"/>
            </a:stretch>
          </a:blipFill>
        </p:spPr>
      </p:sp>
      <p:sp>
        <p:nvSpPr>
          <p:cNvPr name="Freeform 14" id="14"/>
          <p:cNvSpPr/>
          <p:nvPr/>
        </p:nvSpPr>
        <p:spPr>
          <a:xfrm flipH="false" flipV="false" rot="0">
            <a:off x="431206" y="4089204"/>
            <a:ext cx="6537328" cy="1727254"/>
          </a:xfrm>
          <a:custGeom>
            <a:avLst/>
            <a:gdLst/>
            <a:ahLst/>
            <a:cxnLst/>
            <a:rect r="r" b="b" t="t" l="l"/>
            <a:pathLst>
              <a:path h="1727254" w="6537328">
                <a:moveTo>
                  <a:pt x="0" y="0"/>
                </a:moveTo>
                <a:lnTo>
                  <a:pt x="6537329" y="0"/>
                </a:lnTo>
                <a:lnTo>
                  <a:pt x="6537329" y="1727254"/>
                </a:lnTo>
                <a:lnTo>
                  <a:pt x="0" y="1727254"/>
                </a:lnTo>
                <a:lnTo>
                  <a:pt x="0" y="0"/>
                </a:lnTo>
                <a:close/>
              </a:path>
            </a:pathLst>
          </a:custGeom>
          <a:blipFill>
            <a:blip r:embed="rId14"/>
            <a:stretch>
              <a:fillRect l="0" t="0" r="0" b="0"/>
            </a:stretch>
          </a:blipFill>
        </p:spPr>
      </p:sp>
      <p:sp>
        <p:nvSpPr>
          <p:cNvPr name="Freeform 15" id="15"/>
          <p:cNvSpPr/>
          <p:nvPr/>
        </p:nvSpPr>
        <p:spPr>
          <a:xfrm flipH="false" flipV="false" rot="0">
            <a:off x="649846" y="4307844"/>
            <a:ext cx="448211" cy="655919"/>
          </a:xfrm>
          <a:custGeom>
            <a:avLst/>
            <a:gdLst/>
            <a:ahLst/>
            <a:cxnLst/>
            <a:rect r="r" b="b" t="t" l="l"/>
            <a:pathLst>
              <a:path h="655919" w="448211">
                <a:moveTo>
                  <a:pt x="0" y="0"/>
                </a:moveTo>
                <a:lnTo>
                  <a:pt x="448211" y="0"/>
                </a:lnTo>
                <a:lnTo>
                  <a:pt x="448211" y="655919"/>
                </a:lnTo>
                <a:lnTo>
                  <a:pt x="0" y="655919"/>
                </a:lnTo>
                <a:lnTo>
                  <a:pt x="0" y="0"/>
                </a:lnTo>
                <a:close/>
              </a:path>
            </a:pathLst>
          </a:custGeom>
          <a:blipFill>
            <a:blip r:embed="rId15"/>
            <a:stretch>
              <a:fillRect l="0" t="0" r="0" b="0"/>
            </a:stretch>
          </a:blipFill>
        </p:spPr>
      </p:sp>
      <p:sp>
        <p:nvSpPr>
          <p:cNvPr name="TextBox 16" id="16"/>
          <p:cNvSpPr txBox="true"/>
          <p:nvPr/>
        </p:nvSpPr>
        <p:spPr>
          <a:xfrm rot="0">
            <a:off x="1302617" y="4446919"/>
            <a:ext cx="2684730" cy="297669"/>
          </a:xfrm>
          <a:prstGeom prst="rect">
            <a:avLst/>
          </a:prstGeom>
        </p:spPr>
        <p:txBody>
          <a:bodyPr anchor="t" rtlCol="false" tIns="0" lIns="0" bIns="0" rIns="0">
            <a:spAutoFit/>
          </a:bodyPr>
          <a:lstStyle/>
          <a:p>
            <a:pPr algn="l">
              <a:lnSpc>
                <a:spcPts val="2493"/>
              </a:lnSpc>
            </a:pPr>
            <a:r>
              <a:rPr lang="en-US" sz="1780" b="true">
                <a:solidFill>
                  <a:srgbClr val="001139"/>
                </a:solidFill>
                <a:latin typeface="Montserrat Bold"/>
                <a:ea typeface="Montserrat Bold"/>
                <a:cs typeface="Montserrat Bold"/>
                <a:sym typeface="Montserrat Bold"/>
              </a:rPr>
              <a:t>Client State &amp; Cache</a:t>
            </a:r>
          </a:p>
        </p:txBody>
      </p:sp>
      <p:sp>
        <p:nvSpPr>
          <p:cNvPr name="Freeform 17" id="17"/>
          <p:cNvSpPr/>
          <p:nvPr/>
        </p:nvSpPr>
        <p:spPr>
          <a:xfrm flipH="false" flipV="false" rot="0">
            <a:off x="1087125" y="4734191"/>
            <a:ext cx="2842317" cy="863627"/>
          </a:xfrm>
          <a:custGeom>
            <a:avLst/>
            <a:gdLst/>
            <a:ahLst/>
            <a:cxnLst/>
            <a:rect r="r" b="b" t="t" l="l"/>
            <a:pathLst>
              <a:path h="863627" w="2842317">
                <a:moveTo>
                  <a:pt x="0" y="0"/>
                </a:moveTo>
                <a:lnTo>
                  <a:pt x="2842317" y="0"/>
                </a:lnTo>
                <a:lnTo>
                  <a:pt x="2842317" y="863627"/>
                </a:lnTo>
                <a:lnTo>
                  <a:pt x="0" y="863627"/>
                </a:lnTo>
                <a:lnTo>
                  <a:pt x="0" y="0"/>
                </a:lnTo>
                <a:close/>
              </a:path>
            </a:pathLst>
          </a:custGeom>
          <a:blipFill>
            <a:blip r:embed="rId16"/>
            <a:stretch>
              <a:fillRect l="0" t="0" r="0" b="0"/>
            </a:stretch>
          </a:blipFill>
        </p:spPr>
      </p:sp>
      <p:sp>
        <p:nvSpPr>
          <p:cNvPr name="TextBox 18" id="18"/>
          <p:cNvSpPr txBox="true"/>
          <p:nvPr/>
        </p:nvSpPr>
        <p:spPr>
          <a:xfrm rot="0">
            <a:off x="1414732" y="5216155"/>
            <a:ext cx="2196193"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Danh sách thoại, tin nhắn</a:t>
            </a:r>
          </a:p>
        </p:txBody>
      </p:sp>
      <p:sp>
        <p:nvSpPr>
          <p:cNvPr name="Freeform 19" id="19"/>
          <p:cNvSpPr/>
          <p:nvPr/>
        </p:nvSpPr>
        <p:spPr>
          <a:xfrm flipH="false" flipV="false" rot="0">
            <a:off x="3918510" y="4734191"/>
            <a:ext cx="2842317" cy="863627"/>
          </a:xfrm>
          <a:custGeom>
            <a:avLst/>
            <a:gdLst/>
            <a:ahLst/>
            <a:cxnLst/>
            <a:rect r="r" b="b" t="t" l="l"/>
            <a:pathLst>
              <a:path h="863627" w="2842317">
                <a:moveTo>
                  <a:pt x="0" y="0"/>
                </a:moveTo>
                <a:lnTo>
                  <a:pt x="2842317" y="0"/>
                </a:lnTo>
                <a:lnTo>
                  <a:pt x="2842317" y="863627"/>
                </a:lnTo>
                <a:lnTo>
                  <a:pt x="0" y="863627"/>
                </a:lnTo>
                <a:lnTo>
                  <a:pt x="0" y="0"/>
                </a:lnTo>
                <a:close/>
              </a:path>
            </a:pathLst>
          </a:custGeom>
          <a:blipFill>
            <a:blip r:embed="rId17"/>
            <a:stretch>
              <a:fillRect l="0" t="0" r="0" b="0"/>
            </a:stretch>
          </a:blipFill>
        </p:spPr>
      </p:sp>
      <p:sp>
        <p:nvSpPr>
          <p:cNvPr name="TextBox 20" id="20"/>
          <p:cNvSpPr txBox="true"/>
          <p:nvPr/>
        </p:nvSpPr>
        <p:spPr>
          <a:xfrm rot="0">
            <a:off x="4407124" y="5218241"/>
            <a:ext cx="1854157"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Cache hiển thị sidebar</a:t>
            </a:r>
          </a:p>
        </p:txBody>
      </p:sp>
      <p:sp>
        <p:nvSpPr>
          <p:cNvPr name="Freeform 21" id="21"/>
          <p:cNvSpPr/>
          <p:nvPr/>
        </p:nvSpPr>
        <p:spPr>
          <a:xfrm flipH="false" flipV="false" rot="0">
            <a:off x="2388032" y="5379179"/>
            <a:ext cx="229572" cy="655919"/>
          </a:xfrm>
          <a:custGeom>
            <a:avLst/>
            <a:gdLst/>
            <a:ahLst/>
            <a:cxnLst/>
            <a:rect r="r" b="b" t="t" l="l"/>
            <a:pathLst>
              <a:path h="655919" w="229572">
                <a:moveTo>
                  <a:pt x="0" y="0"/>
                </a:moveTo>
                <a:lnTo>
                  <a:pt x="229572" y="0"/>
                </a:lnTo>
                <a:lnTo>
                  <a:pt x="229572" y="655919"/>
                </a:lnTo>
                <a:lnTo>
                  <a:pt x="0" y="655919"/>
                </a:lnTo>
                <a:lnTo>
                  <a:pt x="0" y="0"/>
                </a:lnTo>
                <a:close/>
              </a:path>
            </a:pathLst>
          </a:custGeom>
          <a:blipFill>
            <a:blip r:embed="rId18"/>
            <a:stretch>
              <a:fillRect l="0" t="0" r="0" b="0"/>
            </a:stretch>
          </a:blipFill>
        </p:spPr>
      </p:sp>
      <p:sp>
        <p:nvSpPr>
          <p:cNvPr name="Freeform 22" id="22"/>
          <p:cNvSpPr/>
          <p:nvPr/>
        </p:nvSpPr>
        <p:spPr>
          <a:xfrm flipH="false" flipV="false" rot="0">
            <a:off x="5219417" y="5379179"/>
            <a:ext cx="229572" cy="655919"/>
          </a:xfrm>
          <a:custGeom>
            <a:avLst/>
            <a:gdLst/>
            <a:ahLst/>
            <a:cxnLst/>
            <a:rect r="r" b="b" t="t" l="l"/>
            <a:pathLst>
              <a:path h="655919" w="229572">
                <a:moveTo>
                  <a:pt x="0" y="0"/>
                </a:moveTo>
                <a:lnTo>
                  <a:pt x="229571" y="0"/>
                </a:lnTo>
                <a:lnTo>
                  <a:pt x="229571" y="655919"/>
                </a:lnTo>
                <a:lnTo>
                  <a:pt x="0" y="655919"/>
                </a:lnTo>
                <a:lnTo>
                  <a:pt x="0" y="0"/>
                </a:lnTo>
                <a:close/>
              </a:path>
            </a:pathLst>
          </a:custGeom>
          <a:blipFill>
            <a:blip r:embed="rId19"/>
            <a:stretch>
              <a:fillRect l="0" t="0" r="0" b="0"/>
            </a:stretch>
          </a:blipFill>
        </p:spPr>
      </p:sp>
      <p:sp>
        <p:nvSpPr>
          <p:cNvPr name="Freeform 23" id="23"/>
          <p:cNvSpPr/>
          <p:nvPr/>
        </p:nvSpPr>
        <p:spPr>
          <a:xfrm flipH="false" flipV="false" rot="0">
            <a:off x="431206" y="5805526"/>
            <a:ext cx="6537328" cy="2153601"/>
          </a:xfrm>
          <a:custGeom>
            <a:avLst/>
            <a:gdLst/>
            <a:ahLst/>
            <a:cxnLst/>
            <a:rect r="r" b="b" t="t" l="l"/>
            <a:pathLst>
              <a:path h="2153601" w="6537328">
                <a:moveTo>
                  <a:pt x="0" y="0"/>
                </a:moveTo>
                <a:lnTo>
                  <a:pt x="6537329" y="0"/>
                </a:lnTo>
                <a:lnTo>
                  <a:pt x="6537329" y="2153602"/>
                </a:lnTo>
                <a:lnTo>
                  <a:pt x="0" y="2153602"/>
                </a:lnTo>
                <a:lnTo>
                  <a:pt x="0" y="0"/>
                </a:lnTo>
                <a:close/>
              </a:path>
            </a:pathLst>
          </a:custGeom>
          <a:blipFill>
            <a:blip r:embed="rId20"/>
            <a:stretch>
              <a:fillRect l="0" t="0" r="0" b="0"/>
            </a:stretch>
          </a:blipFill>
        </p:spPr>
      </p:sp>
      <p:sp>
        <p:nvSpPr>
          <p:cNvPr name="Freeform 24" id="24"/>
          <p:cNvSpPr/>
          <p:nvPr/>
        </p:nvSpPr>
        <p:spPr>
          <a:xfrm flipH="false" flipV="false" rot="0">
            <a:off x="649846" y="6024166"/>
            <a:ext cx="666851" cy="437279"/>
          </a:xfrm>
          <a:custGeom>
            <a:avLst/>
            <a:gdLst/>
            <a:ahLst/>
            <a:cxnLst/>
            <a:rect r="r" b="b" t="t" l="l"/>
            <a:pathLst>
              <a:path h="437279" w="666851">
                <a:moveTo>
                  <a:pt x="0" y="0"/>
                </a:moveTo>
                <a:lnTo>
                  <a:pt x="666851" y="0"/>
                </a:lnTo>
                <a:lnTo>
                  <a:pt x="666851" y="437279"/>
                </a:lnTo>
                <a:lnTo>
                  <a:pt x="0" y="437279"/>
                </a:lnTo>
                <a:lnTo>
                  <a:pt x="0" y="0"/>
                </a:lnTo>
                <a:close/>
              </a:path>
            </a:pathLst>
          </a:custGeom>
          <a:blipFill>
            <a:blip r:embed="rId21"/>
            <a:stretch>
              <a:fillRect l="0" t="0" r="0" b="0"/>
            </a:stretch>
          </a:blipFill>
        </p:spPr>
      </p:sp>
      <p:sp>
        <p:nvSpPr>
          <p:cNvPr name="TextBox 25" id="25"/>
          <p:cNvSpPr txBox="true"/>
          <p:nvPr/>
        </p:nvSpPr>
        <p:spPr>
          <a:xfrm rot="0">
            <a:off x="1302617" y="6031117"/>
            <a:ext cx="3479520" cy="297669"/>
          </a:xfrm>
          <a:prstGeom prst="rect">
            <a:avLst/>
          </a:prstGeom>
        </p:spPr>
        <p:txBody>
          <a:bodyPr anchor="t" rtlCol="false" tIns="0" lIns="0" bIns="0" rIns="0">
            <a:spAutoFit/>
          </a:bodyPr>
          <a:lstStyle/>
          <a:p>
            <a:pPr algn="l">
              <a:lnSpc>
                <a:spcPts val="2493"/>
              </a:lnSpc>
            </a:pPr>
            <a:r>
              <a:rPr lang="en-US" sz="1780" b="true">
                <a:solidFill>
                  <a:srgbClr val="001139"/>
                </a:solidFill>
                <a:latin typeface="Montserrat Bold"/>
                <a:ea typeface="Montserrat Bold"/>
                <a:cs typeface="Montserrat Bold"/>
                <a:sym typeface="Montserrat Bold"/>
              </a:rPr>
              <a:t>Network Layer (TCP Client)</a:t>
            </a:r>
          </a:p>
        </p:txBody>
      </p:sp>
      <p:sp>
        <p:nvSpPr>
          <p:cNvPr name="Freeform 26" id="26"/>
          <p:cNvSpPr/>
          <p:nvPr/>
        </p:nvSpPr>
        <p:spPr>
          <a:xfrm flipH="false" flipV="false" rot="0">
            <a:off x="1087125" y="6231874"/>
            <a:ext cx="2842317" cy="874559"/>
          </a:xfrm>
          <a:custGeom>
            <a:avLst/>
            <a:gdLst/>
            <a:ahLst/>
            <a:cxnLst/>
            <a:rect r="r" b="b" t="t" l="l"/>
            <a:pathLst>
              <a:path h="874559" w="2842317">
                <a:moveTo>
                  <a:pt x="0" y="0"/>
                </a:moveTo>
                <a:lnTo>
                  <a:pt x="2842317" y="0"/>
                </a:lnTo>
                <a:lnTo>
                  <a:pt x="2842317" y="874559"/>
                </a:lnTo>
                <a:lnTo>
                  <a:pt x="0" y="874559"/>
                </a:lnTo>
                <a:lnTo>
                  <a:pt x="0" y="0"/>
                </a:lnTo>
                <a:close/>
              </a:path>
            </a:pathLst>
          </a:custGeom>
          <a:blipFill>
            <a:blip r:embed="rId22"/>
            <a:stretch>
              <a:fillRect l="0" t="0" r="0" b="0"/>
            </a:stretch>
          </a:blipFill>
        </p:spPr>
      </p:sp>
      <p:sp>
        <p:nvSpPr>
          <p:cNvPr name="Freeform 27" id="27"/>
          <p:cNvSpPr/>
          <p:nvPr/>
        </p:nvSpPr>
        <p:spPr>
          <a:xfrm flipH="false" flipV="false" rot="0">
            <a:off x="3699870" y="6231874"/>
            <a:ext cx="3060956" cy="874559"/>
          </a:xfrm>
          <a:custGeom>
            <a:avLst/>
            <a:gdLst/>
            <a:ahLst/>
            <a:cxnLst/>
            <a:rect r="r" b="b" t="t" l="l"/>
            <a:pathLst>
              <a:path h="874559" w="3060956">
                <a:moveTo>
                  <a:pt x="0" y="0"/>
                </a:moveTo>
                <a:lnTo>
                  <a:pt x="3060957" y="0"/>
                </a:lnTo>
                <a:lnTo>
                  <a:pt x="3060957" y="874559"/>
                </a:lnTo>
                <a:lnTo>
                  <a:pt x="0" y="874559"/>
                </a:lnTo>
                <a:lnTo>
                  <a:pt x="0" y="0"/>
                </a:lnTo>
                <a:close/>
              </a:path>
            </a:pathLst>
          </a:custGeom>
          <a:blipFill>
            <a:blip r:embed="rId23"/>
            <a:stretch>
              <a:fillRect l="0" t="0" r="0" b="0"/>
            </a:stretch>
          </a:blipFill>
        </p:spPr>
      </p:sp>
      <p:sp>
        <p:nvSpPr>
          <p:cNvPr name="Freeform 28" id="28"/>
          <p:cNvSpPr/>
          <p:nvPr/>
        </p:nvSpPr>
        <p:spPr>
          <a:xfrm flipH="false" flipV="false" rot="0">
            <a:off x="1087125" y="7095501"/>
            <a:ext cx="5673701" cy="863627"/>
          </a:xfrm>
          <a:custGeom>
            <a:avLst/>
            <a:gdLst/>
            <a:ahLst/>
            <a:cxnLst/>
            <a:rect r="r" b="b" t="t" l="l"/>
            <a:pathLst>
              <a:path h="863627" w="5673701">
                <a:moveTo>
                  <a:pt x="0" y="0"/>
                </a:moveTo>
                <a:lnTo>
                  <a:pt x="5673702" y="0"/>
                </a:lnTo>
                <a:lnTo>
                  <a:pt x="5673702" y="863627"/>
                </a:lnTo>
                <a:lnTo>
                  <a:pt x="0" y="863627"/>
                </a:lnTo>
                <a:lnTo>
                  <a:pt x="0" y="0"/>
                </a:lnTo>
                <a:close/>
              </a:path>
            </a:pathLst>
          </a:custGeom>
          <a:blipFill>
            <a:blip r:embed="rId24"/>
            <a:stretch>
              <a:fillRect l="0" t="0" r="0" b="0"/>
            </a:stretch>
          </a:blipFill>
        </p:spPr>
      </p:sp>
      <p:sp>
        <p:nvSpPr>
          <p:cNvPr name="Freeform 29" id="29"/>
          <p:cNvSpPr/>
          <p:nvPr/>
        </p:nvSpPr>
        <p:spPr>
          <a:xfrm flipH="false" flipV="false" rot="0">
            <a:off x="7394882" y="1946535"/>
            <a:ext cx="1541410" cy="5586245"/>
          </a:xfrm>
          <a:custGeom>
            <a:avLst/>
            <a:gdLst/>
            <a:ahLst/>
            <a:cxnLst/>
            <a:rect r="r" b="b" t="t" l="l"/>
            <a:pathLst>
              <a:path h="5586245" w="1541410">
                <a:moveTo>
                  <a:pt x="0" y="0"/>
                </a:moveTo>
                <a:lnTo>
                  <a:pt x="1541410" y="0"/>
                </a:lnTo>
                <a:lnTo>
                  <a:pt x="1541410" y="5586245"/>
                </a:lnTo>
                <a:lnTo>
                  <a:pt x="0" y="5586245"/>
                </a:lnTo>
                <a:lnTo>
                  <a:pt x="0" y="0"/>
                </a:lnTo>
                <a:close/>
              </a:path>
            </a:pathLst>
          </a:custGeom>
          <a:blipFill>
            <a:blip r:embed="rId25"/>
            <a:stretch>
              <a:fillRect l="0" t="0" r="0" b="0"/>
            </a:stretch>
          </a:blipFill>
        </p:spPr>
      </p:sp>
      <p:sp>
        <p:nvSpPr>
          <p:cNvPr name="Freeform 30" id="30"/>
          <p:cNvSpPr/>
          <p:nvPr/>
        </p:nvSpPr>
        <p:spPr>
          <a:xfrm flipH="false" flipV="false" rot="0">
            <a:off x="7832162" y="3236509"/>
            <a:ext cx="885491" cy="437279"/>
          </a:xfrm>
          <a:custGeom>
            <a:avLst/>
            <a:gdLst/>
            <a:ahLst/>
            <a:cxnLst/>
            <a:rect r="r" b="b" t="t" l="l"/>
            <a:pathLst>
              <a:path h="437279" w="885491">
                <a:moveTo>
                  <a:pt x="0" y="0"/>
                </a:moveTo>
                <a:lnTo>
                  <a:pt x="885490" y="0"/>
                </a:lnTo>
                <a:lnTo>
                  <a:pt x="885490" y="437280"/>
                </a:lnTo>
                <a:lnTo>
                  <a:pt x="0" y="437280"/>
                </a:lnTo>
                <a:lnTo>
                  <a:pt x="0" y="0"/>
                </a:lnTo>
                <a:close/>
              </a:path>
            </a:pathLst>
          </a:custGeom>
          <a:blipFill>
            <a:blip r:embed="rId26"/>
            <a:stretch>
              <a:fillRect l="0" t="0" r="0" b="0"/>
            </a:stretch>
          </a:blipFill>
        </p:spPr>
      </p:sp>
      <p:sp>
        <p:nvSpPr>
          <p:cNvPr name="Freeform 31" id="31"/>
          <p:cNvSpPr/>
          <p:nvPr/>
        </p:nvSpPr>
        <p:spPr>
          <a:xfrm flipH="false" flipV="false" rot="0">
            <a:off x="6957603" y="4515552"/>
            <a:ext cx="666851" cy="229572"/>
          </a:xfrm>
          <a:custGeom>
            <a:avLst/>
            <a:gdLst/>
            <a:ahLst/>
            <a:cxnLst/>
            <a:rect r="r" b="b" t="t" l="l"/>
            <a:pathLst>
              <a:path h="229572" w="666851">
                <a:moveTo>
                  <a:pt x="0" y="0"/>
                </a:moveTo>
                <a:lnTo>
                  <a:pt x="666851" y="0"/>
                </a:lnTo>
                <a:lnTo>
                  <a:pt x="666851" y="229571"/>
                </a:lnTo>
                <a:lnTo>
                  <a:pt x="0" y="229571"/>
                </a:lnTo>
                <a:lnTo>
                  <a:pt x="0" y="0"/>
                </a:lnTo>
                <a:close/>
              </a:path>
            </a:pathLst>
          </a:custGeom>
          <a:blipFill>
            <a:blip r:embed="rId27"/>
            <a:stretch>
              <a:fillRect l="0" t="0" r="0" b="0"/>
            </a:stretch>
          </a:blipFill>
        </p:spPr>
      </p:sp>
      <p:sp>
        <p:nvSpPr>
          <p:cNvPr name="Freeform 32" id="32"/>
          <p:cNvSpPr/>
          <p:nvPr/>
        </p:nvSpPr>
        <p:spPr>
          <a:xfrm flipH="false" flipV="false" rot="0">
            <a:off x="8706721" y="4515552"/>
            <a:ext cx="655919" cy="229572"/>
          </a:xfrm>
          <a:custGeom>
            <a:avLst/>
            <a:gdLst/>
            <a:ahLst/>
            <a:cxnLst/>
            <a:rect r="r" b="b" t="t" l="l"/>
            <a:pathLst>
              <a:path h="229572" w="655919">
                <a:moveTo>
                  <a:pt x="0" y="0"/>
                </a:moveTo>
                <a:lnTo>
                  <a:pt x="655919" y="0"/>
                </a:lnTo>
                <a:lnTo>
                  <a:pt x="655919" y="229571"/>
                </a:lnTo>
                <a:lnTo>
                  <a:pt x="0" y="229571"/>
                </a:lnTo>
                <a:lnTo>
                  <a:pt x="0" y="0"/>
                </a:lnTo>
                <a:close/>
              </a:path>
            </a:pathLst>
          </a:custGeom>
          <a:blipFill>
            <a:blip r:embed="rId28"/>
            <a:stretch>
              <a:fillRect l="0" t="0" r="0" b="0"/>
            </a:stretch>
          </a:blipFill>
        </p:spPr>
      </p:sp>
      <p:sp>
        <p:nvSpPr>
          <p:cNvPr name="Freeform 33" id="33"/>
          <p:cNvSpPr/>
          <p:nvPr/>
        </p:nvSpPr>
        <p:spPr>
          <a:xfrm flipH="false" flipV="false" rot="0">
            <a:off x="9419790" y="2149000"/>
            <a:ext cx="885491" cy="644987"/>
          </a:xfrm>
          <a:custGeom>
            <a:avLst/>
            <a:gdLst/>
            <a:ahLst/>
            <a:cxnLst/>
            <a:rect r="r" b="b" t="t" l="l"/>
            <a:pathLst>
              <a:path h="644987" w="885491">
                <a:moveTo>
                  <a:pt x="0" y="0"/>
                </a:moveTo>
                <a:lnTo>
                  <a:pt x="885491" y="0"/>
                </a:lnTo>
                <a:lnTo>
                  <a:pt x="885491" y="644988"/>
                </a:lnTo>
                <a:lnTo>
                  <a:pt x="0" y="644988"/>
                </a:lnTo>
                <a:lnTo>
                  <a:pt x="0" y="0"/>
                </a:lnTo>
                <a:close/>
              </a:path>
            </a:pathLst>
          </a:custGeom>
          <a:blipFill>
            <a:blip r:embed="rId29"/>
            <a:stretch>
              <a:fillRect l="0" t="0" r="0" b="0"/>
            </a:stretch>
          </a:blipFill>
        </p:spPr>
      </p:sp>
      <p:sp>
        <p:nvSpPr>
          <p:cNvPr name="Freeform 34" id="34"/>
          <p:cNvSpPr/>
          <p:nvPr/>
        </p:nvSpPr>
        <p:spPr>
          <a:xfrm flipH="false" flipV="false" rot="0">
            <a:off x="9419790" y="3001695"/>
            <a:ext cx="5236422" cy="1082267"/>
          </a:xfrm>
          <a:custGeom>
            <a:avLst/>
            <a:gdLst/>
            <a:ahLst/>
            <a:cxnLst/>
            <a:rect r="r" b="b" t="t" l="l"/>
            <a:pathLst>
              <a:path h="1082267" w="5236422">
                <a:moveTo>
                  <a:pt x="0" y="0"/>
                </a:moveTo>
                <a:lnTo>
                  <a:pt x="5236422" y="0"/>
                </a:lnTo>
                <a:lnTo>
                  <a:pt x="5236422" y="1082267"/>
                </a:lnTo>
                <a:lnTo>
                  <a:pt x="0" y="1082267"/>
                </a:lnTo>
                <a:lnTo>
                  <a:pt x="0" y="0"/>
                </a:lnTo>
                <a:close/>
              </a:path>
            </a:pathLst>
          </a:custGeom>
          <a:blipFill>
            <a:blip r:embed="rId30"/>
            <a:stretch>
              <a:fillRect l="0" t="0" r="0" b="0"/>
            </a:stretch>
          </a:blipFill>
        </p:spPr>
      </p:sp>
      <p:sp>
        <p:nvSpPr>
          <p:cNvPr name="Freeform 35" id="35"/>
          <p:cNvSpPr/>
          <p:nvPr/>
        </p:nvSpPr>
        <p:spPr>
          <a:xfrm flipH="false" flipV="false" rot="0">
            <a:off x="9857069" y="3220335"/>
            <a:ext cx="448211" cy="437279"/>
          </a:xfrm>
          <a:custGeom>
            <a:avLst/>
            <a:gdLst/>
            <a:ahLst/>
            <a:cxnLst/>
            <a:rect r="r" b="b" t="t" l="l"/>
            <a:pathLst>
              <a:path h="437279" w="448211">
                <a:moveTo>
                  <a:pt x="0" y="0"/>
                </a:moveTo>
                <a:lnTo>
                  <a:pt x="448212" y="0"/>
                </a:lnTo>
                <a:lnTo>
                  <a:pt x="448212" y="437280"/>
                </a:lnTo>
                <a:lnTo>
                  <a:pt x="0" y="437280"/>
                </a:lnTo>
                <a:lnTo>
                  <a:pt x="0" y="0"/>
                </a:lnTo>
                <a:close/>
              </a:path>
            </a:pathLst>
          </a:custGeom>
          <a:blipFill>
            <a:blip r:embed="rId31"/>
            <a:stretch>
              <a:fillRect l="0" t="0" r="0" b="0"/>
            </a:stretch>
          </a:blipFill>
        </p:spPr>
      </p:sp>
      <p:sp>
        <p:nvSpPr>
          <p:cNvPr name="Freeform 36" id="36"/>
          <p:cNvSpPr/>
          <p:nvPr/>
        </p:nvSpPr>
        <p:spPr>
          <a:xfrm flipH="false" flipV="false" rot="0">
            <a:off x="12032535" y="3854390"/>
            <a:ext cx="229572" cy="229572"/>
          </a:xfrm>
          <a:custGeom>
            <a:avLst/>
            <a:gdLst/>
            <a:ahLst/>
            <a:cxnLst/>
            <a:rect r="r" b="b" t="t" l="l"/>
            <a:pathLst>
              <a:path h="229572" w="229572">
                <a:moveTo>
                  <a:pt x="0" y="0"/>
                </a:moveTo>
                <a:lnTo>
                  <a:pt x="229571" y="0"/>
                </a:lnTo>
                <a:lnTo>
                  <a:pt x="229571" y="229572"/>
                </a:lnTo>
                <a:lnTo>
                  <a:pt x="0" y="229572"/>
                </a:lnTo>
                <a:lnTo>
                  <a:pt x="0" y="0"/>
                </a:lnTo>
                <a:close/>
              </a:path>
            </a:pathLst>
          </a:custGeom>
          <a:blipFill>
            <a:blip r:embed="rId32"/>
            <a:stretch>
              <a:fillRect l="0" t="0" r="0" b="0"/>
            </a:stretch>
          </a:blipFill>
        </p:spPr>
      </p:sp>
      <p:sp>
        <p:nvSpPr>
          <p:cNvPr name="Freeform 37" id="37"/>
          <p:cNvSpPr/>
          <p:nvPr/>
        </p:nvSpPr>
        <p:spPr>
          <a:xfrm flipH="false" flipV="false" rot="0">
            <a:off x="9419790" y="3854390"/>
            <a:ext cx="5236422" cy="1082267"/>
          </a:xfrm>
          <a:custGeom>
            <a:avLst/>
            <a:gdLst/>
            <a:ahLst/>
            <a:cxnLst/>
            <a:rect r="r" b="b" t="t" l="l"/>
            <a:pathLst>
              <a:path h="1082267" w="5236422">
                <a:moveTo>
                  <a:pt x="0" y="0"/>
                </a:moveTo>
                <a:lnTo>
                  <a:pt x="5236422" y="0"/>
                </a:lnTo>
                <a:lnTo>
                  <a:pt x="5236422" y="1082267"/>
                </a:lnTo>
                <a:lnTo>
                  <a:pt x="0" y="1082267"/>
                </a:lnTo>
                <a:lnTo>
                  <a:pt x="0" y="0"/>
                </a:lnTo>
                <a:close/>
              </a:path>
            </a:pathLst>
          </a:custGeom>
          <a:blipFill>
            <a:blip r:embed="rId33"/>
            <a:stretch>
              <a:fillRect l="0" t="0" r="0" b="0"/>
            </a:stretch>
          </a:blipFill>
        </p:spPr>
      </p:sp>
      <p:sp>
        <p:nvSpPr>
          <p:cNvPr name="Freeform 38" id="38"/>
          <p:cNvSpPr/>
          <p:nvPr/>
        </p:nvSpPr>
        <p:spPr>
          <a:xfrm flipH="false" flipV="false" rot="0">
            <a:off x="9857069" y="4073030"/>
            <a:ext cx="448211" cy="655919"/>
          </a:xfrm>
          <a:custGeom>
            <a:avLst/>
            <a:gdLst/>
            <a:ahLst/>
            <a:cxnLst/>
            <a:rect r="r" b="b" t="t" l="l"/>
            <a:pathLst>
              <a:path h="655919" w="448211">
                <a:moveTo>
                  <a:pt x="0" y="0"/>
                </a:moveTo>
                <a:lnTo>
                  <a:pt x="448212" y="0"/>
                </a:lnTo>
                <a:lnTo>
                  <a:pt x="448212" y="655919"/>
                </a:lnTo>
                <a:lnTo>
                  <a:pt x="0" y="655919"/>
                </a:lnTo>
                <a:lnTo>
                  <a:pt x="0" y="0"/>
                </a:lnTo>
                <a:close/>
              </a:path>
            </a:pathLst>
          </a:custGeom>
          <a:blipFill>
            <a:blip r:embed="rId34"/>
            <a:stretch>
              <a:fillRect l="0" t="0" r="0" b="0"/>
            </a:stretch>
          </a:blipFill>
        </p:spPr>
      </p:sp>
      <p:sp>
        <p:nvSpPr>
          <p:cNvPr name="Freeform 39" id="39"/>
          <p:cNvSpPr/>
          <p:nvPr/>
        </p:nvSpPr>
        <p:spPr>
          <a:xfrm flipH="false" flipV="false" rot="0">
            <a:off x="12032535" y="4718017"/>
            <a:ext cx="229572" cy="437279"/>
          </a:xfrm>
          <a:custGeom>
            <a:avLst/>
            <a:gdLst/>
            <a:ahLst/>
            <a:cxnLst/>
            <a:rect r="r" b="b" t="t" l="l"/>
            <a:pathLst>
              <a:path h="437279" w="229572">
                <a:moveTo>
                  <a:pt x="0" y="0"/>
                </a:moveTo>
                <a:lnTo>
                  <a:pt x="229571" y="0"/>
                </a:lnTo>
                <a:lnTo>
                  <a:pt x="229571" y="437280"/>
                </a:lnTo>
                <a:lnTo>
                  <a:pt x="0" y="437280"/>
                </a:lnTo>
                <a:lnTo>
                  <a:pt x="0" y="0"/>
                </a:lnTo>
                <a:close/>
              </a:path>
            </a:pathLst>
          </a:custGeom>
          <a:blipFill>
            <a:blip r:embed="rId35"/>
            <a:stretch>
              <a:fillRect l="0" t="0" r="0" b="0"/>
            </a:stretch>
          </a:blipFill>
        </p:spPr>
      </p:sp>
      <p:sp>
        <p:nvSpPr>
          <p:cNvPr name="Freeform 40" id="40"/>
          <p:cNvSpPr/>
          <p:nvPr/>
        </p:nvSpPr>
        <p:spPr>
          <a:xfrm flipH="false" flipV="false" rot="0">
            <a:off x="9419790" y="4925725"/>
            <a:ext cx="5236422" cy="1082267"/>
          </a:xfrm>
          <a:custGeom>
            <a:avLst/>
            <a:gdLst/>
            <a:ahLst/>
            <a:cxnLst/>
            <a:rect r="r" b="b" t="t" l="l"/>
            <a:pathLst>
              <a:path h="1082267" w="5236422">
                <a:moveTo>
                  <a:pt x="0" y="0"/>
                </a:moveTo>
                <a:lnTo>
                  <a:pt x="5236422" y="0"/>
                </a:lnTo>
                <a:lnTo>
                  <a:pt x="5236422" y="1082267"/>
                </a:lnTo>
                <a:lnTo>
                  <a:pt x="0" y="1082267"/>
                </a:lnTo>
                <a:lnTo>
                  <a:pt x="0" y="0"/>
                </a:lnTo>
                <a:close/>
              </a:path>
            </a:pathLst>
          </a:custGeom>
          <a:blipFill>
            <a:blip r:embed="rId36"/>
            <a:stretch>
              <a:fillRect l="0" t="0" r="0" b="0"/>
            </a:stretch>
          </a:blipFill>
        </p:spPr>
      </p:sp>
      <p:sp>
        <p:nvSpPr>
          <p:cNvPr name="Freeform 41" id="41"/>
          <p:cNvSpPr/>
          <p:nvPr/>
        </p:nvSpPr>
        <p:spPr>
          <a:xfrm flipH="false" flipV="false" rot="0">
            <a:off x="9857069" y="5155297"/>
            <a:ext cx="448211" cy="655919"/>
          </a:xfrm>
          <a:custGeom>
            <a:avLst/>
            <a:gdLst/>
            <a:ahLst/>
            <a:cxnLst/>
            <a:rect r="r" b="b" t="t" l="l"/>
            <a:pathLst>
              <a:path h="655919" w="448211">
                <a:moveTo>
                  <a:pt x="0" y="0"/>
                </a:moveTo>
                <a:lnTo>
                  <a:pt x="448212" y="0"/>
                </a:lnTo>
                <a:lnTo>
                  <a:pt x="448212" y="655919"/>
                </a:lnTo>
                <a:lnTo>
                  <a:pt x="0" y="655919"/>
                </a:lnTo>
                <a:lnTo>
                  <a:pt x="0" y="0"/>
                </a:lnTo>
                <a:close/>
              </a:path>
            </a:pathLst>
          </a:custGeom>
          <a:blipFill>
            <a:blip r:embed="rId37"/>
            <a:stretch>
              <a:fillRect l="0" t="0" r="0" b="0"/>
            </a:stretch>
          </a:blipFill>
        </p:spPr>
      </p:sp>
      <p:sp>
        <p:nvSpPr>
          <p:cNvPr name="TextBox 42" id="42"/>
          <p:cNvSpPr txBox="true"/>
          <p:nvPr/>
        </p:nvSpPr>
        <p:spPr>
          <a:xfrm rot="0">
            <a:off x="10436727" y="5381139"/>
            <a:ext cx="3826325" cy="398699"/>
          </a:xfrm>
          <a:prstGeom prst="rect">
            <a:avLst/>
          </a:prstGeom>
        </p:spPr>
        <p:txBody>
          <a:bodyPr anchor="t" rtlCol="false" tIns="0" lIns="0" bIns="0" rIns="0">
            <a:spAutoFit/>
          </a:bodyPr>
          <a:lstStyle/>
          <a:p>
            <a:pPr algn="l">
              <a:lnSpc>
                <a:spcPts val="1649"/>
              </a:lnSpc>
            </a:pPr>
            <a:r>
              <a:rPr lang="en-US" sz="1178">
                <a:solidFill>
                  <a:srgbClr val="001139"/>
                </a:solidFill>
                <a:latin typeface="Montserrat"/>
                <a:ea typeface="Montserrat"/>
                <a:cs typeface="Montserrat"/>
                <a:sym typeface="Montserrat"/>
              </a:rPr>
              <a:t>Phân loại message the MessageType và chuyến đến handler phù hợp</a:t>
            </a:r>
          </a:p>
        </p:txBody>
      </p:sp>
      <p:sp>
        <p:nvSpPr>
          <p:cNvPr name="Freeform 43" id="43"/>
          <p:cNvSpPr/>
          <p:nvPr/>
        </p:nvSpPr>
        <p:spPr>
          <a:xfrm flipH="false" flipV="false" rot="0">
            <a:off x="12032535" y="5789352"/>
            <a:ext cx="229572" cy="437279"/>
          </a:xfrm>
          <a:custGeom>
            <a:avLst/>
            <a:gdLst/>
            <a:ahLst/>
            <a:cxnLst/>
            <a:rect r="r" b="b" t="t" l="l"/>
            <a:pathLst>
              <a:path h="437279" w="229572">
                <a:moveTo>
                  <a:pt x="0" y="0"/>
                </a:moveTo>
                <a:lnTo>
                  <a:pt x="229571" y="0"/>
                </a:lnTo>
                <a:lnTo>
                  <a:pt x="229571" y="437280"/>
                </a:lnTo>
                <a:lnTo>
                  <a:pt x="0" y="437280"/>
                </a:lnTo>
                <a:lnTo>
                  <a:pt x="0" y="0"/>
                </a:lnTo>
                <a:close/>
              </a:path>
            </a:pathLst>
          </a:custGeom>
          <a:blipFill>
            <a:blip r:embed="rId38"/>
            <a:stretch>
              <a:fillRect l="0" t="0" r="0" b="0"/>
            </a:stretch>
          </a:blipFill>
        </p:spPr>
      </p:sp>
      <p:sp>
        <p:nvSpPr>
          <p:cNvPr name="Freeform 44" id="44"/>
          <p:cNvSpPr/>
          <p:nvPr/>
        </p:nvSpPr>
        <p:spPr>
          <a:xfrm flipH="false" flipV="false" rot="0">
            <a:off x="9419790" y="5997060"/>
            <a:ext cx="5236422" cy="1300906"/>
          </a:xfrm>
          <a:custGeom>
            <a:avLst/>
            <a:gdLst/>
            <a:ahLst/>
            <a:cxnLst/>
            <a:rect r="r" b="b" t="t" l="l"/>
            <a:pathLst>
              <a:path h="1300906" w="5236422">
                <a:moveTo>
                  <a:pt x="0" y="0"/>
                </a:moveTo>
                <a:lnTo>
                  <a:pt x="5236422" y="0"/>
                </a:lnTo>
                <a:lnTo>
                  <a:pt x="5236422" y="1300906"/>
                </a:lnTo>
                <a:lnTo>
                  <a:pt x="0" y="1300906"/>
                </a:lnTo>
                <a:lnTo>
                  <a:pt x="0" y="0"/>
                </a:lnTo>
                <a:close/>
              </a:path>
            </a:pathLst>
          </a:custGeom>
          <a:blipFill>
            <a:blip r:embed="rId39"/>
            <a:stretch>
              <a:fillRect l="0" t="0" r="0" b="0"/>
            </a:stretch>
          </a:blipFill>
        </p:spPr>
      </p:sp>
      <p:sp>
        <p:nvSpPr>
          <p:cNvPr name="Freeform 45" id="45"/>
          <p:cNvSpPr/>
          <p:nvPr/>
        </p:nvSpPr>
        <p:spPr>
          <a:xfrm flipH="false" flipV="false" rot="0">
            <a:off x="9857069" y="6215700"/>
            <a:ext cx="448211" cy="437279"/>
          </a:xfrm>
          <a:custGeom>
            <a:avLst/>
            <a:gdLst/>
            <a:ahLst/>
            <a:cxnLst/>
            <a:rect r="r" b="b" t="t" l="l"/>
            <a:pathLst>
              <a:path h="437279" w="448211">
                <a:moveTo>
                  <a:pt x="0" y="0"/>
                </a:moveTo>
                <a:lnTo>
                  <a:pt x="448212" y="0"/>
                </a:lnTo>
                <a:lnTo>
                  <a:pt x="448212" y="437279"/>
                </a:lnTo>
                <a:lnTo>
                  <a:pt x="0" y="437279"/>
                </a:lnTo>
                <a:lnTo>
                  <a:pt x="0" y="0"/>
                </a:lnTo>
                <a:close/>
              </a:path>
            </a:pathLst>
          </a:custGeom>
          <a:blipFill>
            <a:blip r:embed="rId40"/>
            <a:stretch>
              <a:fillRect l="0" t="0" r="0" b="0"/>
            </a:stretch>
          </a:blipFill>
        </p:spPr>
      </p:sp>
      <p:sp>
        <p:nvSpPr>
          <p:cNvPr name="Freeform 46" id="46"/>
          <p:cNvSpPr/>
          <p:nvPr/>
        </p:nvSpPr>
        <p:spPr>
          <a:xfrm flipH="false" flipV="false" rot="0">
            <a:off x="12032535" y="7068395"/>
            <a:ext cx="229572" cy="448211"/>
          </a:xfrm>
          <a:custGeom>
            <a:avLst/>
            <a:gdLst/>
            <a:ahLst/>
            <a:cxnLst/>
            <a:rect r="r" b="b" t="t" l="l"/>
            <a:pathLst>
              <a:path h="448211" w="229572">
                <a:moveTo>
                  <a:pt x="0" y="0"/>
                </a:moveTo>
                <a:lnTo>
                  <a:pt x="229571" y="0"/>
                </a:lnTo>
                <a:lnTo>
                  <a:pt x="229571" y="448211"/>
                </a:lnTo>
                <a:lnTo>
                  <a:pt x="0" y="448211"/>
                </a:lnTo>
                <a:lnTo>
                  <a:pt x="0" y="0"/>
                </a:lnTo>
                <a:close/>
              </a:path>
            </a:pathLst>
          </a:custGeom>
          <a:blipFill>
            <a:blip r:embed="rId41"/>
            <a:stretch>
              <a:fillRect l="0" t="0" r="0" b="0"/>
            </a:stretch>
          </a:blipFill>
        </p:spPr>
      </p:sp>
      <p:sp>
        <p:nvSpPr>
          <p:cNvPr name="Freeform 47" id="47"/>
          <p:cNvSpPr/>
          <p:nvPr/>
        </p:nvSpPr>
        <p:spPr>
          <a:xfrm flipH="false" flipV="false" rot="0">
            <a:off x="9419790" y="7287034"/>
            <a:ext cx="5236422" cy="863627"/>
          </a:xfrm>
          <a:custGeom>
            <a:avLst/>
            <a:gdLst/>
            <a:ahLst/>
            <a:cxnLst/>
            <a:rect r="r" b="b" t="t" l="l"/>
            <a:pathLst>
              <a:path h="863627" w="5236422">
                <a:moveTo>
                  <a:pt x="0" y="0"/>
                </a:moveTo>
                <a:lnTo>
                  <a:pt x="5236422" y="0"/>
                </a:lnTo>
                <a:lnTo>
                  <a:pt x="5236422" y="863627"/>
                </a:lnTo>
                <a:lnTo>
                  <a:pt x="0" y="863627"/>
                </a:lnTo>
                <a:lnTo>
                  <a:pt x="0" y="0"/>
                </a:lnTo>
                <a:close/>
              </a:path>
            </a:pathLst>
          </a:custGeom>
          <a:blipFill>
            <a:blip r:embed="rId42"/>
            <a:stretch>
              <a:fillRect l="0" t="0" r="0" b="0"/>
            </a:stretch>
          </a:blipFill>
        </p:spPr>
      </p:sp>
      <p:sp>
        <p:nvSpPr>
          <p:cNvPr name="Freeform 48" id="48"/>
          <p:cNvSpPr/>
          <p:nvPr/>
        </p:nvSpPr>
        <p:spPr>
          <a:xfrm flipH="false" flipV="false" rot="0">
            <a:off x="9857069" y="7287034"/>
            <a:ext cx="448211" cy="655919"/>
          </a:xfrm>
          <a:custGeom>
            <a:avLst/>
            <a:gdLst/>
            <a:ahLst/>
            <a:cxnLst/>
            <a:rect r="r" b="b" t="t" l="l"/>
            <a:pathLst>
              <a:path h="655919" w="448211">
                <a:moveTo>
                  <a:pt x="0" y="0"/>
                </a:moveTo>
                <a:lnTo>
                  <a:pt x="448212" y="0"/>
                </a:lnTo>
                <a:lnTo>
                  <a:pt x="448212" y="655920"/>
                </a:lnTo>
                <a:lnTo>
                  <a:pt x="0" y="655920"/>
                </a:lnTo>
                <a:lnTo>
                  <a:pt x="0" y="0"/>
                </a:lnTo>
                <a:close/>
              </a:path>
            </a:pathLst>
          </a:custGeom>
          <a:blipFill>
            <a:blip r:embed="rId43"/>
            <a:stretch>
              <a:fillRect l="0" t="0" r="0" b="0"/>
            </a:stretch>
          </a:blipFill>
        </p:spPr>
      </p:sp>
      <p:sp>
        <p:nvSpPr>
          <p:cNvPr name="Freeform 49" id="49"/>
          <p:cNvSpPr/>
          <p:nvPr/>
        </p:nvSpPr>
        <p:spPr>
          <a:xfrm flipH="false" flipV="false" rot="0">
            <a:off x="15253494" y="1930361"/>
            <a:ext cx="2842317" cy="6247407"/>
          </a:xfrm>
          <a:custGeom>
            <a:avLst/>
            <a:gdLst/>
            <a:ahLst/>
            <a:cxnLst/>
            <a:rect r="r" b="b" t="t" l="l"/>
            <a:pathLst>
              <a:path h="6247407" w="2842317">
                <a:moveTo>
                  <a:pt x="0" y="0"/>
                </a:moveTo>
                <a:lnTo>
                  <a:pt x="2842317" y="0"/>
                </a:lnTo>
                <a:lnTo>
                  <a:pt x="2842317" y="6247406"/>
                </a:lnTo>
                <a:lnTo>
                  <a:pt x="0" y="6247406"/>
                </a:lnTo>
                <a:lnTo>
                  <a:pt x="0" y="0"/>
                </a:lnTo>
                <a:close/>
              </a:path>
            </a:pathLst>
          </a:custGeom>
          <a:blipFill>
            <a:blip r:embed="rId44"/>
            <a:stretch>
              <a:fillRect l="0" t="0" r="0" b="-6565"/>
            </a:stretch>
          </a:blipFill>
        </p:spPr>
      </p:sp>
      <p:sp>
        <p:nvSpPr>
          <p:cNvPr name="Freeform 50" id="50"/>
          <p:cNvSpPr/>
          <p:nvPr/>
        </p:nvSpPr>
        <p:spPr>
          <a:xfrm flipH="false" flipV="false" rot="0">
            <a:off x="15472134" y="2149000"/>
            <a:ext cx="655919" cy="863627"/>
          </a:xfrm>
          <a:custGeom>
            <a:avLst/>
            <a:gdLst/>
            <a:ahLst/>
            <a:cxnLst/>
            <a:rect r="r" b="b" t="t" l="l"/>
            <a:pathLst>
              <a:path h="863627" w="655919">
                <a:moveTo>
                  <a:pt x="0" y="0"/>
                </a:moveTo>
                <a:lnTo>
                  <a:pt x="655919" y="0"/>
                </a:lnTo>
                <a:lnTo>
                  <a:pt x="655919" y="863627"/>
                </a:lnTo>
                <a:lnTo>
                  <a:pt x="0" y="863627"/>
                </a:lnTo>
                <a:lnTo>
                  <a:pt x="0" y="0"/>
                </a:lnTo>
                <a:close/>
              </a:path>
            </a:pathLst>
          </a:custGeom>
          <a:blipFill>
            <a:blip r:embed="rId45"/>
            <a:stretch>
              <a:fillRect l="0" t="0" r="0" b="0"/>
            </a:stretch>
          </a:blipFill>
        </p:spPr>
      </p:sp>
      <p:sp>
        <p:nvSpPr>
          <p:cNvPr name="Freeform 51" id="51"/>
          <p:cNvSpPr/>
          <p:nvPr/>
        </p:nvSpPr>
        <p:spPr>
          <a:xfrm flipH="false" flipV="false" rot="0">
            <a:off x="15462689" y="3559003"/>
            <a:ext cx="2405037" cy="1082267"/>
          </a:xfrm>
          <a:custGeom>
            <a:avLst/>
            <a:gdLst/>
            <a:ahLst/>
            <a:cxnLst/>
            <a:rect r="r" b="b" t="t" l="l"/>
            <a:pathLst>
              <a:path h="1082267" w="2405037">
                <a:moveTo>
                  <a:pt x="0" y="0"/>
                </a:moveTo>
                <a:lnTo>
                  <a:pt x="2405037" y="0"/>
                </a:lnTo>
                <a:lnTo>
                  <a:pt x="2405037" y="1082266"/>
                </a:lnTo>
                <a:lnTo>
                  <a:pt x="0" y="1082266"/>
                </a:lnTo>
                <a:lnTo>
                  <a:pt x="0" y="0"/>
                </a:lnTo>
                <a:close/>
              </a:path>
            </a:pathLst>
          </a:custGeom>
          <a:blipFill>
            <a:blip r:embed="rId46"/>
            <a:stretch>
              <a:fillRect l="0" t="0" r="0" b="0"/>
            </a:stretch>
          </a:blipFill>
        </p:spPr>
      </p:sp>
      <p:sp>
        <p:nvSpPr>
          <p:cNvPr name="Freeform 52" id="52"/>
          <p:cNvSpPr/>
          <p:nvPr/>
        </p:nvSpPr>
        <p:spPr>
          <a:xfrm flipH="false" flipV="false" rot="0">
            <a:off x="15462689" y="4411698"/>
            <a:ext cx="2405037" cy="1082267"/>
          </a:xfrm>
          <a:custGeom>
            <a:avLst/>
            <a:gdLst/>
            <a:ahLst/>
            <a:cxnLst/>
            <a:rect r="r" b="b" t="t" l="l"/>
            <a:pathLst>
              <a:path h="1082267" w="2405037">
                <a:moveTo>
                  <a:pt x="0" y="0"/>
                </a:moveTo>
                <a:lnTo>
                  <a:pt x="2405037" y="0"/>
                </a:lnTo>
                <a:lnTo>
                  <a:pt x="2405037" y="1082266"/>
                </a:lnTo>
                <a:lnTo>
                  <a:pt x="0" y="1082266"/>
                </a:lnTo>
                <a:lnTo>
                  <a:pt x="0" y="0"/>
                </a:lnTo>
                <a:close/>
              </a:path>
            </a:pathLst>
          </a:custGeom>
          <a:blipFill>
            <a:blip r:embed="rId47"/>
            <a:stretch>
              <a:fillRect l="0" t="0" r="0" b="0"/>
            </a:stretch>
          </a:blipFill>
        </p:spPr>
      </p:sp>
      <p:sp>
        <p:nvSpPr>
          <p:cNvPr name="Freeform 53" id="53"/>
          <p:cNvSpPr/>
          <p:nvPr/>
        </p:nvSpPr>
        <p:spPr>
          <a:xfrm flipH="false" flipV="false" rot="0">
            <a:off x="15462689" y="5483032"/>
            <a:ext cx="2405037" cy="863627"/>
          </a:xfrm>
          <a:custGeom>
            <a:avLst/>
            <a:gdLst/>
            <a:ahLst/>
            <a:cxnLst/>
            <a:rect r="r" b="b" t="t" l="l"/>
            <a:pathLst>
              <a:path h="863627" w="2405037">
                <a:moveTo>
                  <a:pt x="0" y="0"/>
                </a:moveTo>
                <a:lnTo>
                  <a:pt x="2405037" y="0"/>
                </a:lnTo>
                <a:lnTo>
                  <a:pt x="2405037" y="863627"/>
                </a:lnTo>
                <a:lnTo>
                  <a:pt x="0" y="863627"/>
                </a:lnTo>
                <a:lnTo>
                  <a:pt x="0" y="0"/>
                </a:lnTo>
                <a:close/>
              </a:path>
            </a:pathLst>
          </a:custGeom>
          <a:blipFill>
            <a:blip r:embed="rId48"/>
            <a:stretch>
              <a:fillRect l="0" t="0" r="0" b="0"/>
            </a:stretch>
          </a:blipFill>
        </p:spPr>
      </p:sp>
      <p:sp>
        <p:nvSpPr>
          <p:cNvPr name="Freeform 54" id="54"/>
          <p:cNvSpPr/>
          <p:nvPr/>
        </p:nvSpPr>
        <p:spPr>
          <a:xfrm flipH="false" flipV="false" rot="0">
            <a:off x="15462689" y="6335727"/>
            <a:ext cx="2405037" cy="874559"/>
          </a:xfrm>
          <a:custGeom>
            <a:avLst/>
            <a:gdLst/>
            <a:ahLst/>
            <a:cxnLst/>
            <a:rect r="r" b="b" t="t" l="l"/>
            <a:pathLst>
              <a:path h="874559" w="2405037">
                <a:moveTo>
                  <a:pt x="0" y="0"/>
                </a:moveTo>
                <a:lnTo>
                  <a:pt x="2405037" y="0"/>
                </a:lnTo>
                <a:lnTo>
                  <a:pt x="2405037" y="874559"/>
                </a:lnTo>
                <a:lnTo>
                  <a:pt x="0" y="874559"/>
                </a:lnTo>
                <a:lnTo>
                  <a:pt x="0" y="0"/>
                </a:lnTo>
                <a:close/>
              </a:path>
            </a:pathLst>
          </a:custGeom>
          <a:blipFill>
            <a:blip r:embed="rId49"/>
            <a:stretch>
              <a:fillRect l="0" t="0" r="0" b="0"/>
            </a:stretch>
          </a:blipFill>
        </p:spPr>
      </p:sp>
      <p:sp>
        <p:nvSpPr>
          <p:cNvPr name="Freeform 55" id="55"/>
          <p:cNvSpPr/>
          <p:nvPr/>
        </p:nvSpPr>
        <p:spPr>
          <a:xfrm flipH="false" flipV="false" rot="0">
            <a:off x="15462689" y="7199354"/>
            <a:ext cx="2405037" cy="655919"/>
          </a:xfrm>
          <a:custGeom>
            <a:avLst/>
            <a:gdLst/>
            <a:ahLst/>
            <a:cxnLst/>
            <a:rect r="r" b="b" t="t" l="l"/>
            <a:pathLst>
              <a:path h="655919" w="2405037">
                <a:moveTo>
                  <a:pt x="0" y="0"/>
                </a:moveTo>
                <a:lnTo>
                  <a:pt x="2405037" y="0"/>
                </a:lnTo>
                <a:lnTo>
                  <a:pt x="2405037" y="655920"/>
                </a:lnTo>
                <a:lnTo>
                  <a:pt x="0" y="655920"/>
                </a:lnTo>
                <a:lnTo>
                  <a:pt x="0" y="0"/>
                </a:lnTo>
                <a:close/>
              </a:path>
            </a:pathLst>
          </a:custGeom>
          <a:blipFill>
            <a:blip r:embed="rId50"/>
            <a:stretch>
              <a:fillRect l="0" t="0" r="0" b="0"/>
            </a:stretch>
          </a:blipFill>
        </p:spPr>
      </p:sp>
      <p:sp>
        <p:nvSpPr>
          <p:cNvPr name="Freeform 56" id="56"/>
          <p:cNvSpPr/>
          <p:nvPr/>
        </p:nvSpPr>
        <p:spPr>
          <a:xfrm flipH="false" flipV="false" rot="0">
            <a:off x="14795837" y="4515552"/>
            <a:ext cx="666851" cy="448211"/>
          </a:xfrm>
          <a:custGeom>
            <a:avLst/>
            <a:gdLst/>
            <a:ahLst/>
            <a:cxnLst/>
            <a:rect r="r" b="b" t="t" l="l"/>
            <a:pathLst>
              <a:path h="448211" w="666851">
                <a:moveTo>
                  <a:pt x="0" y="0"/>
                </a:moveTo>
                <a:lnTo>
                  <a:pt x="666852" y="0"/>
                </a:lnTo>
                <a:lnTo>
                  <a:pt x="666852" y="448211"/>
                </a:lnTo>
                <a:lnTo>
                  <a:pt x="0" y="448211"/>
                </a:lnTo>
                <a:lnTo>
                  <a:pt x="0" y="0"/>
                </a:lnTo>
                <a:close/>
              </a:path>
            </a:pathLst>
          </a:custGeom>
          <a:blipFill>
            <a:blip r:embed="rId51"/>
            <a:stretch>
              <a:fillRect l="0" t="0" r="0" b="0"/>
            </a:stretch>
          </a:blipFill>
        </p:spPr>
      </p:sp>
      <p:sp>
        <p:nvSpPr>
          <p:cNvPr name="Freeform 57" id="57"/>
          <p:cNvSpPr/>
          <p:nvPr/>
        </p:nvSpPr>
        <p:spPr>
          <a:xfrm flipH="false" flipV="false" rot="0">
            <a:off x="212566" y="8339692"/>
            <a:ext cx="17862867" cy="1618822"/>
          </a:xfrm>
          <a:custGeom>
            <a:avLst/>
            <a:gdLst/>
            <a:ahLst/>
            <a:cxnLst/>
            <a:rect r="r" b="b" t="t" l="l"/>
            <a:pathLst>
              <a:path h="1618822" w="17862867">
                <a:moveTo>
                  <a:pt x="0" y="0"/>
                </a:moveTo>
                <a:lnTo>
                  <a:pt x="17862868" y="0"/>
                </a:lnTo>
                <a:lnTo>
                  <a:pt x="17862868" y="1618823"/>
                </a:lnTo>
                <a:lnTo>
                  <a:pt x="0" y="1618823"/>
                </a:lnTo>
                <a:lnTo>
                  <a:pt x="0" y="0"/>
                </a:lnTo>
                <a:close/>
              </a:path>
            </a:pathLst>
          </a:custGeom>
          <a:blipFill>
            <a:blip r:embed="rId52"/>
            <a:stretch>
              <a:fillRect l="0" t="0" r="0" b="0"/>
            </a:stretch>
          </a:blipFill>
        </p:spPr>
      </p:sp>
      <p:sp>
        <p:nvSpPr>
          <p:cNvPr name="TextBox 58" id="58"/>
          <p:cNvSpPr txBox="true"/>
          <p:nvPr/>
        </p:nvSpPr>
        <p:spPr>
          <a:xfrm rot="0">
            <a:off x="1302617" y="2688126"/>
            <a:ext cx="3080246" cy="298626"/>
          </a:xfrm>
          <a:prstGeom prst="rect">
            <a:avLst/>
          </a:prstGeom>
        </p:spPr>
        <p:txBody>
          <a:bodyPr anchor="t" rtlCol="false" tIns="0" lIns="0" bIns="0" rIns="0">
            <a:spAutoFit/>
          </a:bodyPr>
          <a:lstStyle/>
          <a:p>
            <a:pPr algn="l">
              <a:lnSpc>
                <a:spcPts val="2440"/>
              </a:lnSpc>
            </a:pPr>
            <a:r>
              <a:rPr lang="en-US" sz="1743" b="true">
                <a:solidFill>
                  <a:srgbClr val="001139"/>
                </a:solidFill>
                <a:latin typeface="Montserrat Bold"/>
                <a:ea typeface="Montserrat Bold"/>
                <a:cs typeface="Montserrat Bold"/>
                <a:sym typeface="Montserrat Bold"/>
              </a:rPr>
              <a:t>UI (FXML) &amp; Controllers</a:t>
            </a:r>
          </a:p>
        </p:txBody>
      </p:sp>
      <p:sp>
        <p:nvSpPr>
          <p:cNvPr name="TextBox 59" id="59"/>
          <p:cNvSpPr txBox="true"/>
          <p:nvPr/>
        </p:nvSpPr>
        <p:spPr>
          <a:xfrm rot="0">
            <a:off x="1174669" y="3223032"/>
            <a:ext cx="1338160" cy="206286"/>
          </a:xfrm>
          <a:prstGeom prst="rect">
            <a:avLst/>
          </a:prstGeom>
        </p:spPr>
        <p:txBody>
          <a:bodyPr anchor="t" rtlCol="false" tIns="0" lIns="0" bIns="0" rIns="0">
            <a:spAutoFit/>
          </a:bodyPr>
          <a:lstStyle/>
          <a:p>
            <a:pPr algn="ctr">
              <a:lnSpc>
                <a:spcPts val="1754"/>
              </a:lnSpc>
            </a:pPr>
            <a:r>
              <a:rPr lang="en-US" sz="1253" b="true">
                <a:solidFill>
                  <a:srgbClr val="001139"/>
                </a:solidFill>
                <a:latin typeface="Montserrat Bold"/>
                <a:ea typeface="Montserrat Bold"/>
                <a:cs typeface="Montserrat Bold"/>
                <a:sym typeface="Montserrat Bold"/>
              </a:rPr>
              <a:t>LoginView.fxml</a:t>
            </a:r>
          </a:p>
        </p:txBody>
      </p:sp>
      <p:sp>
        <p:nvSpPr>
          <p:cNvPr name="TextBox 60" id="60"/>
          <p:cNvSpPr txBox="true"/>
          <p:nvPr/>
        </p:nvSpPr>
        <p:spPr>
          <a:xfrm rot="0">
            <a:off x="3294950" y="3223032"/>
            <a:ext cx="1080499" cy="206286"/>
          </a:xfrm>
          <a:prstGeom prst="rect">
            <a:avLst/>
          </a:prstGeom>
        </p:spPr>
        <p:txBody>
          <a:bodyPr anchor="t" rtlCol="false" tIns="0" lIns="0" bIns="0" rIns="0">
            <a:spAutoFit/>
          </a:bodyPr>
          <a:lstStyle/>
          <a:p>
            <a:pPr algn="ctr">
              <a:lnSpc>
                <a:spcPts val="1754"/>
              </a:lnSpc>
            </a:pPr>
            <a:r>
              <a:rPr lang="en-US" sz="1253" b="true">
                <a:solidFill>
                  <a:srgbClr val="001139"/>
                </a:solidFill>
                <a:latin typeface="Montserrat Bold"/>
                <a:ea typeface="Montserrat Bold"/>
                <a:cs typeface="Montserrat Bold"/>
                <a:sym typeface="Montserrat Bold"/>
              </a:rPr>
              <a:t>sidebar.fxml</a:t>
            </a:r>
          </a:p>
        </p:txBody>
      </p:sp>
      <p:sp>
        <p:nvSpPr>
          <p:cNvPr name="TextBox 61" id="61"/>
          <p:cNvSpPr txBox="true"/>
          <p:nvPr/>
        </p:nvSpPr>
        <p:spPr>
          <a:xfrm rot="0">
            <a:off x="5360395" y="3246535"/>
            <a:ext cx="822523" cy="206375"/>
          </a:xfrm>
          <a:prstGeom prst="rect">
            <a:avLst/>
          </a:prstGeom>
        </p:spPr>
        <p:txBody>
          <a:bodyPr anchor="t" rtlCol="false" tIns="0" lIns="0" bIns="0" rIns="0">
            <a:spAutoFit/>
          </a:bodyPr>
          <a:lstStyle/>
          <a:p>
            <a:pPr algn="ctr">
              <a:lnSpc>
                <a:spcPts val="1750"/>
              </a:lnSpc>
            </a:pPr>
            <a:r>
              <a:rPr lang="en-US" sz="1250" b="true">
                <a:solidFill>
                  <a:srgbClr val="001139"/>
                </a:solidFill>
                <a:latin typeface="Montserrat Bold"/>
                <a:ea typeface="Montserrat Bold"/>
                <a:cs typeface="Montserrat Bold"/>
                <a:sym typeface="Montserrat Bold"/>
              </a:rPr>
              <a:t>chat.fxml</a:t>
            </a:r>
          </a:p>
        </p:txBody>
      </p:sp>
      <p:sp>
        <p:nvSpPr>
          <p:cNvPr name="TextBox 62" id="62"/>
          <p:cNvSpPr txBox="true"/>
          <p:nvPr/>
        </p:nvSpPr>
        <p:spPr>
          <a:xfrm rot="0">
            <a:off x="1316697" y="4887625"/>
            <a:ext cx="2392263" cy="249174"/>
          </a:xfrm>
          <a:prstGeom prst="rect">
            <a:avLst/>
          </a:prstGeom>
        </p:spPr>
        <p:txBody>
          <a:bodyPr anchor="t" rtlCol="false" tIns="0" lIns="0" bIns="0" rIns="0">
            <a:spAutoFit/>
          </a:bodyPr>
          <a:lstStyle/>
          <a:p>
            <a:pPr algn="ctr">
              <a:lnSpc>
                <a:spcPts val="2015"/>
              </a:lnSpc>
            </a:pPr>
            <a:r>
              <a:rPr lang="en-US" sz="1439" b="true">
                <a:solidFill>
                  <a:srgbClr val="001139"/>
                </a:solidFill>
                <a:latin typeface="Montserrat Bold"/>
                <a:ea typeface="Montserrat Bold"/>
                <a:cs typeface="Montserrat Bold"/>
                <a:sym typeface="Montserrat Bold"/>
              </a:rPr>
              <a:t>ConversationCache</a:t>
            </a:r>
          </a:p>
        </p:txBody>
      </p:sp>
      <p:sp>
        <p:nvSpPr>
          <p:cNvPr name="TextBox 63" id="63"/>
          <p:cNvSpPr txBox="true"/>
          <p:nvPr/>
        </p:nvSpPr>
        <p:spPr>
          <a:xfrm rot="0">
            <a:off x="7772213" y="4143149"/>
            <a:ext cx="877358" cy="64443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JSON Lines</a:t>
            </a:r>
          </a:p>
          <a:p>
            <a:pPr algn="ctr">
              <a:lnSpc>
                <a:spcPts val="1754"/>
              </a:lnSpc>
            </a:pPr>
            <a:r>
              <a:rPr lang="en-US" sz="1253">
                <a:solidFill>
                  <a:srgbClr val="001139"/>
                </a:solidFill>
                <a:latin typeface="Montserrat"/>
                <a:ea typeface="Montserrat"/>
                <a:cs typeface="Montserrat"/>
                <a:sym typeface="Montserrat"/>
              </a:rPr>
              <a:t>UTF-8</a:t>
            </a:r>
          </a:p>
        </p:txBody>
      </p:sp>
      <p:sp>
        <p:nvSpPr>
          <p:cNvPr name="TextBox 64" id="64"/>
          <p:cNvSpPr txBox="true"/>
          <p:nvPr/>
        </p:nvSpPr>
        <p:spPr>
          <a:xfrm rot="0">
            <a:off x="7700016" y="4937042"/>
            <a:ext cx="1096697" cy="1082586"/>
          </a:xfrm>
          <a:prstGeom prst="rect">
            <a:avLst/>
          </a:prstGeom>
        </p:spPr>
        <p:txBody>
          <a:bodyPr anchor="t" rtlCol="false" tIns="0" lIns="0" bIns="0" rIns="0">
            <a:spAutoFit/>
          </a:bodyPr>
          <a:lstStyle/>
          <a:p>
            <a:pPr algn="ctr">
              <a:lnSpc>
                <a:spcPts val="1754"/>
              </a:lnSpc>
            </a:pPr>
            <a:r>
              <a:rPr lang="en-US" sz="1253" b="true">
                <a:solidFill>
                  <a:srgbClr val="001139"/>
                </a:solidFill>
                <a:latin typeface="Montserrat Bold"/>
                <a:ea typeface="Montserrat Bold"/>
                <a:cs typeface="Montserrat Bold"/>
                <a:sym typeface="Montserrat Bold"/>
              </a:rPr>
              <a:t>Kết nối liên tục duplex</a:t>
            </a:r>
          </a:p>
          <a:p>
            <a:pPr algn="ctr">
              <a:lnSpc>
                <a:spcPts val="1754"/>
              </a:lnSpc>
            </a:pPr>
            <a:r>
              <a:rPr lang="en-US" sz="1253" b="true">
                <a:solidFill>
                  <a:srgbClr val="001139"/>
                </a:solidFill>
                <a:latin typeface="Montserrat Bold"/>
                <a:ea typeface="Montserrat Bold"/>
                <a:cs typeface="Montserrat Bold"/>
                <a:sym typeface="Montserrat Bold"/>
              </a:rPr>
              <a:t>(gửi request)</a:t>
            </a:r>
          </a:p>
          <a:p>
            <a:pPr algn="ctr">
              <a:lnSpc>
                <a:spcPts val="1754"/>
              </a:lnSpc>
            </a:pPr>
            <a:r>
              <a:rPr lang="en-US" sz="1253" b="true">
                <a:solidFill>
                  <a:srgbClr val="001139"/>
                </a:solidFill>
                <a:latin typeface="Montserrat Bold"/>
                <a:ea typeface="Montserrat Bold"/>
                <a:cs typeface="Montserrat Bold"/>
                <a:sym typeface="Montserrat Bold"/>
              </a:rPr>
              <a:t>nhận response)</a:t>
            </a:r>
          </a:p>
        </p:txBody>
      </p:sp>
      <p:sp>
        <p:nvSpPr>
          <p:cNvPr name="TextBox 65" id="65"/>
          <p:cNvSpPr txBox="true"/>
          <p:nvPr/>
        </p:nvSpPr>
        <p:spPr>
          <a:xfrm rot="0">
            <a:off x="10436727" y="5122204"/>
            <a:ext cx="2026712"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MessageRouter</a:t>
            </a:r>
          </a:p>
        </p:txBody>
      </p:sp>
      <p:sp>
        <p:nvSpPr>
          <p:cNvPr name="TextBox 66" id="66"/>
          <p:cNvSpPr txBox="true"/>
          <p:nvPr/>
        </p:nvSpPr>
        <p:spPr>
          <a:xfrm rot="0">
            <a:off x="10436727" y="6481398"/>
            <a:ext cx="4118584" cy="64443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UserRegisterService, ChatStorageService</a:t>
            </a:r>
          </a:p>
          <a:p>
            <a:pPr algn="l">
              <a:lnSpc>
                <a:spcPts val="1754"/>
              </a:lnSpc>
            </a:pPr>
            <a:r>
              <a:rPr lang="en-US" sz="1253">
                <a:solidFill>
                  <a:srgbClr val="001139"/>
                </a:solidFill>
                <a:latin typeface="Montserrat"/>
                <a:ea typeface="Montserrat"/>
                <a:cs typeface="Montserrat"/>
                <a:sym typeface="Montserrat"/>
              </a:rPr>
              <a:t>UserLoginService -  EmailOtpService (OTP qua email)</a:t>
            </a:r>
          </a:p>
        </p:txBody>
      </p:sp>
      <p:sp>
        <p:nvSpPr>
          <p:cNvPr name="TextBox 67" id="67"/>
          <p:cNvSpPr txBox="true"/>
          <p:nvPr/>
        </p:nvSpPr>
        <p:spPr>
          <a:xfrm rot="0">
            <a:off x="16183238" y="2137099"/>
            <a:ext cx="1718159" cy="306237"/>
          </a:xfrm>
          <a:prstGeom prst="rect">
            <a:avLst/>
          </a:prstGeom>
        </p:spPr>
        <p:txBody>
          <a:bodyPr anchor="t" rtlCol="false" tIns="0" lIns="0" bIns="0" rIns="0">
            <a:spAutoFit/>
          </a:bodyPr>
          <a:lstStyle/>
          <a:p>
            <a:pPr algn="l">
              <a:lnSpc>
                <a:spcPts val="2545"/>
              </a:lnSpc>
            </a:pPr>
            <a:r>
              <a:rPr lang="en-US" sz="1818" b="true">
                <a:solidFill>
                  <a:srgbClr val="001139"/>
                </a:solidFill>
                <a:latin typeface="Montserrat Bold"/>
                <a:ea typeface="Montserrat Bold"/>
                <a:cs typeface="Montserrat Bold"/>
                <a:sym typeface="Montserrat Bold"/>
              </a:rPr>
              <a:t>SQL Database</a:t>
            </a:r>
          </a:p>
        </p:txBody>
      </p:sp>
      <p:sp>
        <p:nvSpPr>
          <p:cNvPr name="TextBox 68" id="68"/>
          <p:cNvSpPr txBox="true"/>
          <p:nvPr/>
        </p:nvSpPr>
        <p:spPr>
          <a:xfrm rot="0">
            <a:off x="16183238" y="2777326"/>
            <a:ext cx="1892196" cy="425450"/>
          </a:xfrm>
          <a:prstGeom prst="rect">
            <a:avLst/>
          </a:prstGeom>
        </p:spPr>
        <p:txBody>
          <a:bodyPr anchor="t" rtlCol="false" tIns="0" lIns="0" bIns="0" rIns="0">
            <a:spAutoFit/>
          </a:bodyPr>
          <a:lstStyle/>
          <a:p>
            <a:pPr algn="l">
              <a:lnSpc>
                <a:spcPts val="1750"/>
              </a:lnSpc>
            </a:pPr>
            <a:r>
              <a:rPr lang="en-US" sz="1250">
                <a:solidFill>
                  <a:srgbClr val="001139"/>
                </a:solidFill>
                <a:latin typeface="Montserrat"/>
                <a:ea typeface="Montserrat"/>
                <a:cs typeface="Montserrat"/>
                <a:sym typeface="Montserrat"/>
              </a:rPr>
              <a:t>Lưu trữ tập trung tại Server</a:t>
            </a:r>
          </a:p>
        </p:txBody>
      </p:sp>
      <p:sp>
        <p:nvSpPr>
          <p:cNvPr name="TextBox 69" id="69"/>
          <p:cNvSpPr txBox="true"/>
          <p:nvPr/>
        </p:nvSpPr>
        <p:spPr>
          <a:xfrm rot="0">
            <a:off x="15789949" y="5895542"/>
            <a:ext cx="1252368"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(thành viên)</a:t>
            </a:r>
          </a:p>
        </p:txBody>
      </p:sp>
      <p:sp>
        <p:nvSpPr>
          <p:cNvPr name="TextBox 70" id="70"/>
          <p:cNvSpPr txBox="true"/>
          <p:nvPr/>
        </p:nvSpPr>
        <p:spPr>
          <a:xfrm rot="0">
            <a:off x="15789949" y="6523049"/>
            <a:ext cx="1092280"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messages</a:t>
            </a:r>
          </a:p>
        </p:txBody>
      </p:sp>
      <p:sp>
        <p:nvSpPr>
          <p:cNvPr name="TextBox 71" id="71"/>
          <p:cNvSpPr txBox="true"/>
          <p:nvPr/>
        </p:nvSpPr>
        <p:spPr>
          <a:xfrm rot="0">
            <a:off x="15789949" y="6769937"/>
            <a:ext cx="1092280"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(tin nhắn)</a:t>
            </a:r>
          </a:p>
        </p:txBody>
      </p:sp>
      <p:sp>
        <p:nvSpPr>
          <p:cNvPr name="TextBox 72" id="72"/>
          <p:cNvSpPr txBox="true"/>
          <p:nvPr/>
        </p:nvSpPr>
        <p:spPr>
          <a:xfrm rot="0">
            <a:off x="1394008" y="1660849"/>
            <a:ext cx="3709219" cy="514350"/>
          </a:xfrm>
          <a:prstGeom prst="rect">
            <a:avLst/>
          </a:prstGeom>
        </p:spPr>
        <p:txBody>
          <a:bodyPr anchor="t" rtlCol="false" tIns="0" lIns="0" bIns="0" rIns="0">
            <a:spAutoFit/>
          </a:bodyPr>
          <a:lstStyle/>
          <a:p>
            <a:pPr algn="l">
              <a:lnSpc>
                <a:spcPts val="4200"/>
              </a:lnSpc>
            </a:pPr>
            <a:r>
              <a:rPr lang="en-US" sz="3000" b="true">
                <a:solidFill>
                  <a:srgbClr val="001139"/>
                </a:solidFill>
                <a:latin typeface="Montserrat Bold"/>
                <a:ea typeface="Montserrat Bold"/>
                <a:cs typeface="Montserrat Bold"/>
                <a:sym typeface="Montserrat Bold"/>
              </a:rPr>
              <a:t>CLIENT (JavaFX)</a:t>
            </a:r>
          </a:p>
        </p:txBody>
      </p:sp>
      <p:sp>
        <p:nvSpPr>
          <p:cNvPr name="TextBox 73" id="73"/>
          <p:cNvSpPr txBox="true"/>
          <p:nvPr/>
        </p:nvSpPr>
        <p:spPr>
          <a:xfrm rot="0">
            <a:off x="1174669" y="3531642"/>
            <a:ext cx="1328149"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LoginController</a:t>
            </a:r>
          </a:p>
        </p:txBody>
      </p:sp>
      <p:sp>
        <p:nvSpPr>
          <p:cNvPr name="TextBox 74" id="74"/>
          <p:cNvSpPr txBox="true"/>
          <p:nvPr/>
        </p:nvSpPr>
        <p:spPr>
          <a:xfrm rot="0">
            <a:off x="3130445" y="3531642"/>
            <a:ext cx="1480541"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SidebarController</a:t>
            </a:r>
          </a:p>
        </p:txBody>
      </p:sp>
      <p:sp>
        <p:nvSpPr>
          <p:cNvPr name="TextBox 75" id="75"/>
          <p:cNvSpPr txBox="true"/>
          <p:nvPr/>
        </p:nvSpPr>
        <p:spPr>
          <a:xfrm rot="0">
            <a:off x="5305561" y="3531642"/>
            <a:ext cx="1279696"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ChatController</a:t>
            </a:r>
          </a:p>
        </p:txBody>
      </p:sp>
      <p:sp>
        <p:nvSpPr>
          <p:cNvPr name="TextBox 76" id="76"/>
          <p:cNvSpPr txBox="true"/>
          <p:nvPr/>
        </p:nvSpPr>
        <p:spPr>
          <a:xfrm rot="0">
            <a:off x="4230763" y="4925663"/>
            <a:ext cx="2259264" cy="249128"/>
          </a:xfrm>
          <a:prstGeom prst="rect">
            <a:avLst/>
          </a:prstGeom>
        </p:spPr>
        <p:txBody>
          <a:bodyPr anchor="t" rtlCol="false" tIns="0" lIns="0" bIns="0" rIns="0">
            <a:spAutoFit/>
          </a:bodyPr>
          <a:lstStyle/>
          <a:p>
            <a:pPr algn="l">
              <a:lnSpc>
                <a:spcPts val="2018"/>
              </a:lnSpc>
            </a:pPr>
            <a:r>
              <a:rPr lang="en-US" sz="1441" b="true">
                <a:solidFill>
                  <a:srgbClr val="001139"/>
                </a:solidFill>
                <a:latin typeface="Montserrat Bold"/>
                <a:ea typeface="Montserrat Bold"/>
                <a:cs typeface="Montserrat Bold"/>
                <a:sym typeface="Montserrat Bold"/>
              </a:rPr>
              <a:t>ConversationListCache</a:t>
            </a:r>
          </a:p>
        </p:txBody>
      </p:sp>
      <p:sp>
        <p:nvSpPr>
          <p:cNvPr name="TextBox 77" id="77"/>
          <p:cNvSpPr txBox="true"/>
          <p:nvPr/>
        </p:nvSpPr>
        <p:spPr>
          <a:xfrm rot="0">
            <a:off x="1962122" y="6451896"/>
            <a:ext cx="1020610" cy="249174"/>
          </a:xfrm>
          <a:prstGeom prst="rect">
            <a:avLst/>
          </a:prstGeom>
        </p:spPr>
        <p:txBody>
          <a:bodyPr anchor="t" rtlCol="false" tIns="0" lIns="0" bIns="0" rIns="0">
            <a:spAutoFit/>
          </a:bodyPr>
          <a:lstStyle/>
          <a:p>
            <a:pPr algn="ctr">
              <a:lnSpc>
                <a:spcPts val="2015"/>
              </a:lnSpc>
            </a:pPr>
            <a:r>
              <a:rPr lang="en-US" sz="1439" b="true">
                <a:solidFill>
                  <a:srgbClr val="001139"/>
                </a:solidFill>
                <a:latin typeface="Montserrat Bold"/>
                <a:ea typeface="Montserrat Bold"/>
                <a:cs typeface="Montserrat Bold"/>
                <a:sym typeface="Montserrat Bold"/>
              </a:rPr>
              <a:t>ChatClient</a:t>
            </a:r>
          </a:p>
        </p:txBody>
      </p:sp>
      <p:sp>
        <p:nvSpPr>
          <p:cNvPr name="TextBox 78" id="78"/>
          <p:cNvSpPr txBox="true"/>
          <p:nvPr/>
        </p:nvSpPr>
        <p:spPr>
          <a:xfrm rot="0">
            <a:off x="1832687" y="6772047"/>
            <a:ext cx="1562610"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Gửi request (JSON)</a:t>
            </a:r>
          </a:p>
        </p:txBody>
      </p:sp>
      <p:sp>
        <p:nvSpPr>
          <p:cNvPr name="TextBox 79" id="79"/>
          <p:cNvSpPr txBox="true"/>
          <p:nvPr/>
        </p:nvSpPr>
        <p:spPr>
          <a:xfrm rot="0">
            <a:off x="3987347" y="6451896"/>
            <a:ext cx="2597910" cy="249174"/>
          </a:xfrm>
          <a:prstGeom prst="rect">
            <a:avLst/>
          </a:prstGeom>
        </p:spPr>
        <p:txBody>
          <a:bodyPr anchor="t" rtlCol="false" tIns="0" lIns="0" bIns="0" rIns="0">
            <a:spAutoFit/>
          </a:bodyPr>
          <a:lstStyle/>
          <a:p>
            <a:pPr algn="ctr">
              <a:lnSpc>
                <a:spcPts val="2015"/>
              </a:lnSpc>
            </a:pPr>
            <a:r>
              <a:rPr lang="en-US" sz="1439" b="true">
                <a:solidFill>
                  <a:srgbClr val="001139"/>
                </a:solidFill>
                <a:latin typeface="Montserrat Bold"/>
                <a:ea typeface="Montserrat Bold"/>
                <a:cs typeface="Montserrat Bold"/>
                <a:sym typeface="Montserrat Bold"/>
              </a:rPr>
              <a:t>ChatReceiver</a:t>
            </a:r>
          </a:p>
        </p:txBody>
      </p:sp>
      <p:sp>
        <p:nvSpPr>
          <p:cNvPr name="TextBox 80" id="80"/>
          <p:cNvSpPr txBox="true"/>
          <p:nvPr/>
        </p:nvSpPr>
        <p:spPr>
          <a:xfrm rot="0">
            <a:off x="4264529" y="6772047"/>
            <a:ext cx="2043546"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Nhận phản hồi từ Server</a:t>
            </a:r>
          </a:p>
        </p:txBody>
      </p:sp>
      <p:sp>
        <p:nvSpPr>
          <p:cNvPr name="TextBox 81" id="81"/>
          <p:cNvSpPr txBox="true"/>
          <p:nvPr/>
        </p:nvSpPr>
        <p:spPr>
          <a:xfrm rot="0">
            <a:off x="2577294" y="7266588"/>
            <a:ext cx="2873538" cy="249174"/>
          </a:xfrm>
          <a:prstGeom prst="rect">
            <a:avLst/>
          </a:prstGeom>
        </p:spPr>
        <p:txBody>
          <a:bodyPr anchor="t" rtlCol="false" tIns="0" lIns="0" bIns="0" rIns="0">
            <a:spAutoFit/>
          </a:bodyPr>
          <a:lstStyle/>
          <a:p>
            <a:pPr algn="ctr">
              <a:lnSpc>
                <a:spcPts val="2015"/>
              </a:lnSpc>
            </a:pPr>
            <a:r>
              <a:rPr lang="en-US" sz="1439" b="true">
                <a:solidFill>
                  <a:srgbClr val="001139"/>
                </a:solidFill>
                <a:latin typeface="Montserrat Bold"/>
                <a:ea typeface="Montserrat Bold"/>
                <a:cs typeface="Montserrat Bold"/>
                <a:sym typeface="Montserrat Bold"/>
              </a:rPr>
              <a:t>JavaFXChatListenerWrapper</a:t>
            </a:r>
          </a:p>
        </p:txBody>
      </p:sp>
      <p:sp>
        <p:nvSpPr>
          <p:cNvPr name="TextBox 82" id="82"/>
          <p:cNvSpPr txBox="true"/>
          <p:nvPr/>
        </p:nvSpPr>
        <p:spPr>
          <a:xfrm rot="0">
            <a:off x="1919276" y="7522239"/>
            <a:ext cx="4136141" cy="206286"/>
          </a:xfrm>
          <a:prstGeom prst="rect">
            <a:avLst/>
          </a:prstGeom>
        </p:spPr>
        <p:txBody>
          <a:bodyPr anchor="t" rtlCol="false" tIns="0" lIns="0" bIns="0" rIns="0">
            <a:spAutoFit/>
          </a:bodyPr>
          <a:lstStyle/>
          <a:p>
            <a:pPr algn="ctr">
              <a:lnSpc>
                <a:spcPts val="1754"/>
              </a:lnSpc>
            </a:pPr>
            <a:r>
              <a:rPr lang="en-US" sz="1253">
                <a:solidFill>
                  <a:srgbClr val="001139"/>
                </a:solidFill>
                <a:latin typeface="Montserrat"/>
                <a:ea typeface="Montserrat"/>
                <a:cs typeface="Montserrat"/>
                <a:sym typeface="Montserrat"/>
              </a:rPr>
              <a:t>Dispatch callback lên UI thread (Platform.runLater)</a:t>
            </a:r>
          </a:p>
        </p:txBody>
      </p:sp>
      <p:sp>
        <p:nvSpPr>
          <p:cNvPr name="TextBox 83" id="83"/>
          <p:cNvSpPr txBox="true"/>
          <p:nvPr/>
        </p:nvSpPr>
        <p:spPr>
          <a:xfrm rot="0">
            <a:off x="7536910" y="3780404"/>
            <a:ext cx="1399382" cy="248445"/>
          </a:xfrm>
          <a:prstGeom prst="rect">
            <a:avLst/>
          </a:prstGeom>
        </p:spPr>
        <p:txBody>
          <a:bodyPr anchor="t" rtlCol="false" tIns="0" lIns="0" bIns="0" rIns="0">
            <a:spAutoFit/>
          </a:bodyPr>
          <a:lstStyle/>
          <a:p>
            <a:pPr algn="ctr">
              <a:lnSpc>
                <a:spcPts val="2056"/>
              </a:lnSpc>
            </a:pPr>
            <a:r>
              <a:rPr lang="en-US" sz="1468" b="true">
                <a:solidFill>
                  <a:srgbClr val="001139"/>
                </a:solidFill>
                <a:latin typeface="Montserrat Bold"/>
                <a:ea typeface="Montserrat Bold"/>
                <a:cs typeface="Montserrat Bold"/>
                <a:sym typeface="Montserrat Bold"/>
              </a:rPr>
              <a:t>TCP SOCKET</a:t>
            </a:r>
          </a:p>
        </p:txBody>
      </p:sp>
      <p:sp>
        <p:nvSpPr>
          <p:cNvPr name="TextBox 84" id="84"/>
          <p:cNvSpPr txBox="true"/>
          <p:nvPr/>
        </p:nvSpPr>
        <p:spPr>
          <a:xfrm rot="0">
            <a:off x="10436727" y="4216948"/>
            <a:ext cx="1974055"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SessionValidator</a:t>
            </a:r>
          </a:p>
        </p:txBody>
      </p:sp>
      <p:sp>
        <p:nvSpPr>
          <p:cNvPr name="TextBox 85" id="85"/>
          <p:cNvSpPr txBox="true"/>
          <p:nvPr/>
        </p:nvSpPr>
        <p:spPr>
          <a:xfrm rot="0">
            <a:off x="10436727" y="4476739"/>
            <a:ext cx="2718937"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Kiểm ra xác thực, quyền truy cập</a:t>
            </a:r>
          </a:p>
        </p:txBody>
      </p:sp>
      <p:sp>
        <p:nvSpPr>
          <p:cNvPr name="TextBox 86" id="86"/>
          <p:cNvSpPr txBox="true"/>
          <p:nvPr/>
        </p:nvSpPr>
        <p:spPr>
          <a:xfrm rot="0">
            <a:off x="10436727" y="6118580"/>
            <a:ext cx="2756032"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Business Service Layer</a:t>
            </a:r>
          </a:p>
        </p:txBody>
      </p:sp>
      <p:sp>
        <p:nvSpPr>
          <p:cNvPr name="TextBox 87" id="87"/>
          <p:cNvSpPr txBox="true"/>
          <p:nvPr/>
        </p:nvSpPr>
        <p:spPr>
          <a:xfrm rot="0">
            <a:off x="10436727" y="7467640"/>
            <a:ext cx="3019709"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Data Access Layer (DAO)</a:t>
            </a:r>
          </a:p>
        </p:txBody>
      </p:sp>
      <p:sp>
        <p:nvSpPr>
          <p:cNvPr name="TextBox 88" id="88"/>
          <p:cNvSpPr txBox="true"/>
          <p:nvPr/>
        </p:nvSpPr>
        <p:spPr>
          <a:xfrm rot="0">
            <a:off x="10436727" y="7727431"/>
            <a:ext cx="3655657"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UserDao - ConversationDao - MessageDao - ...</a:t>
            </a:r>
          </a:p>
        </p:txBody>
      </p:sp>
      <p:sp>
        <p:nvSpPr>
          <p:cNvPr name="TextBox 89" id="89"/>
          <p:cNvSpPr txBox="true"/>
          <p:nvPr/>
        </p:nvSpPr>
        <p:spPr>
          <a:xfrm rot="0">
            <a:off x="10345336" y="2210983"/>
            <a:ext cx="2284785"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SERVER (ChatServer)</a:t>
            </a:r>
          </a:p>
        </p:txBody>
      </p:sp>
      <p:sp>
        <p:nvSpPr>
          <p:cNvPr name="TextBox 90" id="90"/>
          <p:cNvSpPr txBox="true"/>
          <p:nvPr/>
        </p:nvSpPr>
        <p:spPr>
          <a:xfrm rot="0">
            <a:off x="10345336" y="2470774"/>
            <a:ext cx="3605887"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Xử lý nghiệp vụ, xác thực, định tuyến, lưu trữ</a:t>
            </a:r>
          </a:p>
        </p:txBody>
      </p:sp>
      <p:sp>
        <p:nvSpPr>
          <p:cNvPr name="TextBox 91" id="91"/>
          <p:cNvSpPr txBox="true"/>
          <p:nvPr/>
        </p:nvSpPr>
        <p:spPr>
          <a:xfrm rot="0">
            <a:off x="16183238" y="2532496"/>
            <a:ext cx="1397983"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(Wal mode)</a:t>
            </a:r>
          </a:p>
        </p:txBody>
      </p:sp>
      <p:sp>
        <p:nvSpPr>
          <p:cNvPr name="TextBox 92" id="92"/>
          <p:cNvSpPr txBox="true"/>
          <p:nvPr/>
        </p:nvSpPr>
        <p:spPr>
          <a:xfrm rot="0">
            <a:off x="15789949" y="3856509"/>
            <a:ext cx="475235"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users</a:t>
            </a:r>
          </a:p>
        </p:txBody>
      </p:sp>
      <p:sp>
        <p:nvSpPr>
          <p:cNvPr name="TextBox 93" id="93"/>
          <p:cNvSpPr txBox="true"/>
          <p:nvPr/>
        </p:nvSpPr>
        <p:spPr>
          <a:xfrm rot="0">
            <a:off x="15764795" y="4132856"/>
            <a:ext cx="1841580"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(thống tin người dùng)</a:t>
            </a:r>
          </a:p>
        </p:txBody>
      </p:sp>
      <p:sp>
        <p:nvSpPr>
          <p:cNvPr name="TextBox 94" id="94"/>
          <p:cNvSpPr txBox="true"/>
          <p:nvPr/>
        </p:nvSpPr>
        <p:spPr>
          <a:xfrm rot="0">
            <a:off x="15789949" y="4774259"/>
            <a:ext cx="1343270"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conversations</a:t>
            </a:r>
          </a:p>
        </p:txBody>
      </p:sp>
      <p:sp>
        <p:nvSpPr>
          <p:cNvPr name="TextBox 95" id="95"/>
          <p:cNvSpPr txBox="true"/>
          <p:nvPr/>
        </p:nvSpPr>
        <p:spPr>
          <a:xfrm rot="0">
            <a:off x="15789949" y="5016131"/>
            <a:ext cx="1102937" cy="198674"/>
          </a:xfrm>
          <a:prstGeom prst="rect">
            <a:avLst/>
          </a:prstGeom>
        </p:spPr>
        <p:txBody>
          <a:bodyPr anchor="t" rtlCol="false" tIns="0" lIns="0" bIns="0" rIns="0">
            <a:spAutoFit/>
          </a:bodyPr>
          <a:lstStyle/>
          <a:p>
            <a:pPr algn="l">
              <a:lnSpc>
                <a:spcPts val="1649"/>
              </a:lnSpc>
            </a:pPr>
            <a:r>
              <a:rPr lang="en-US" sz="1178">
                <a:solidFill>
                  <a:srgbClr val="001139"/>
                </a:solidFill>
                <a:latin typeface="Montserrat"/>
                <a:ea typeface="Montserrat"/>
                <a:cs typeface="Montserrat"/>
                <a:sym typeface="Montserrat"/>
              </a:rPr>
              <a:t>(hội thoại)</a:t>
            </a:r>
          </a:p>
        </p:txBody>
      </p:sp>
      <p:sp>
        <p:nvSpPr>
          <p:cNvPr name="TextBox 96" id="96"/>
          <p:cNvSpPr txBox="true"/>
          <p:nvPr/>
        </p:nvSpPr>
        <p:spPr>
          <a:xfrm rot="0">
            <a:off x="15789949" y="5648654"/>
            <a:ext cx="1966543"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conversation_members</a:t>
            </a:r>
          </a:p>
        </p:txBody>
      </p:sp>
      <p:sp>
        <p:nvSpPr>
          <p:cNvPr name="TextBox 97" id="97"/>
          <p:cNvSpPr txBox="true"/>
          <p:nvPr/>
        </p:nvSpPr>
        <p:spPr>
          <a:xfrm rot="0">
            <a:off x="15789949" y="7500314"/>
            <a:ext cx="219339"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a:t>
            </a:r>
          </a:p>
        </p:txBody>
      </p:sp>
      <p:sp>
        <p:nvSpPr>
          <p:cNvPr name="TextBox 98" id="98"/>
          <p:cNvSpPr txBox="true"/>
          <p:nvPr/>
        </p:nvSpPr>
        <p:spPr>
          <a:xfrm rot="0">
            <a:off x="1156018" y="205737"/>
            <a:ext cx="15757323" cy="1123950"/>
          </a:xfrm>
          <a:prstGeom prst="rect">
            <a:avLst/>
          </a:prstGeom>
        </p:spPr>
        <p:txBody>
          <a:bodyPr anchor="t" rtlCol="false" tIns="0" lIns="0" bIns="0" rIns="0">
            <a:spAutoFit/>
          </a:bodyPr>
          <a:lstStyle/>
          <a:p>
            <a:pPr algn="ctr">
              <a:lnSpc>
                <a:spcPts val="8859"/>
              </a:lnSpc>
            </a:pPr>
            <a:r>
              <a:rPr lang="en-US" sz="7382" b="true">
                <a:solidFill>
                  <a:srgbClr val="001549"/>
                </a:solidFill>
                <a:latin typeface="Montserrat Ultra-Bold"/>
                <a:ea typeface="Montserrat Ultra-Bold"/>
                <a:cs typeface="Montserrat Ultra-Bold"/>
                <a:sym typeface="Montserrat Ultra-Bold"/>
              </a:rPr>
              <a:t>SƠ ĐỒ KIẾN TRÚC HỆ THỐNG</a:t>
            </a:r>
          </a:p>
        </p:txBody>
      </p:sp>
      <p:sp>
        <p:nvSpPr>
          <p:cNvPr name="TextBox 99" id="99"/>
          <p:cNvSpPr txBox="true"/>
          <p:nvPr/>
        </p:nvSpPr>
        <p:spPr>
          <a:xfrm rot="0">
            <a:off x="10345336" y="3186614"/>
            <a:ext cx="1425706" cy="248445"/>
          </a:xfrm>
          <a:prstGeom prst="rect">
            <a:avLst/>
          </a:prstGeom>
        </p:spPr>
        <p:txBody>
          <a:bodyPr anchor="t" rtlCol="false" tIns="0" lIns="0" bIns="0" rIns="0">
            <a:spAutoFit/>
          </a:bodyPr>
          <a:lstStyle/>
          <a:p>
            <a:pPr algn="l">
              <a:lnSpc>
                <a:spcPts val="2056"/>
              </a:lnSpc>
            </a:pPr>
            <a:r>
              <a:rPr lang="en-US" sz="1468" b="true">
                <a:solidFill>
                  <a:srgbClr val="001139"/>
                </a:solidFill>
                <a:latin typeface="Montserrat Bold"/>
                <a:ea typeface="Montserrat Bold"/>
                <a:cs typeface="Montserrat Bold"/>
                <a:sym typeface="Montserrat Bold"/>
              </a:rPr>
              <a:t>ClientSession</a:t>
            </a:r>
          </a:p>
        </p:txBody>
      </p:sp>
      <p:sp>
        <p:nvSpPr>
          <p:cNvPr name="TextBox 100" id="100"/>
          <p:cNvSpPr txBox="true"/>
          <p:nvPr/>
        </p:nvSpPr>
        <p:spPr>
          <a:xfrm rot="0">
            <a:off x="10345336" y="3446405"/>
            <a:ext cx="3483458" cy="206286"/>
          </a:xfrm>
          <a:prstGeom prst="rect">
            <a:avLst/>
          </a:prstGeom>
        </p:spPr>
        <p:txBody>
          <a:bodyPr anchor="t" rtlCol="false" tIns="0" lIns="0" bIns="0" rIns="0">
            <a:spAutoFit/>
          </a:bodyPr>
          <a:lstStyle/>
          <a:p>
            <a:pPr algn="l">
              <a:lnSpc>
                <a:spcPts val="1754"/>
              </a:lnSpc>
            </a:pPr>
            <a:r>
              <a:rPr lang="en-US" sz="1253">
                <a:solidFill>
                  <a:srgbClr val="001139"/>
                </a:solidFill>
                <a:latin typeface="Montserrat"/>
                <a:ea typeface="Montserrat"/>
                <a:cs typeface="Montserrat"/>
                <a:sym typeface="Montserrat"/>
              </a:rPr>
              <a:t>Mỗi kết nối TCP ứng với một phiên làm việc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1984663"/>
            <a:ext cx="6463841" cy="6317673"/>
          </a:xfrm>
          <a:custGeom>
            <a:avLst/>
            <a:gdLst/>
            <a:ahLst/>
            <a:cxnLst/>
            <a:rect r="r" b="b" t="t" l="l"/>
            <a:pathLst>
              <a:path h="6317673" w="6463841">
                <a:moveTo>
                  <a:pt x="0" y="0"/>
                </a:moveTo>
                <a:lnTo>
                  <a:pt x="6463841" y="0"/>
                </a:lnTo>
                <a:lnTo>
                  <a:pt x="6463841" y="6317674"/>
                </a:lnTo>
                <a:lnTo>
                  <a:pt x="0" y="6317674"/>
                </a:lnTo>
                <a:lnTo>
                  <a:pt x="0" y="0"/>
                </a:lnTo>
                <a:close/>
              </a:path>
            </a:pathLst>
          </a:custGeom>
          <a:blipFill>
            <a:blip r:embed="rId3"/>
            <a:stretch>
              <a:fillRect l="0" t="0" r="0" b="0"/>
            </a:stretch>
          </a:blipFill>
        </p:spPr>
      </p:sp>
      <p:sp>
        <p:nvSpPr>
          <p:cNvPr name="Freeform 4" id="4"/>
          <p:cNvSpPr/>
          <p:nvPr/>
        </p:nvSpPr>
        <p:spPr>
          <a:xfrm flipH="false" flipV="false" rot="0">
            <a:off x="1028700" y="2082108"/>
            <a:ext cx="6463841" cy="1388589"/>
          </a:xfrm>
          <a:custGeom>
            <a:avLst/>
            <a:gdLst/>
            <a:ahLst/>
            <a:cxnLst/>
            <a:rect r="r" b="b" t="t" l="l"/>
            <a:pathLst>
              <a:path h="1388589" w="6463841">
                <a:moveTo>
                  <a:pt x="0" y="0"/>
                </a:moveTo>
                <a:lnTo>
                  <a:pt x="6463841" y="0"/>
                </a:lnTo>
                <a:lnTo>
                  <a:pt x="6463841" y="1388589"/>
                </a:lnTo>
                <a:lnTo>
                  <a:pt x="0" y="1388589"/>
                </a:lnTo>
                <a:lnTo>
                  <a:pt x="0" y="0"/>
                </a:lnTo>
                <a:close/>
              </a:path>
            </a:pathLst>
          </a:custGeom>
          <a:blipFill>
            <a:blip r:embed="rId4"/>
            <a:stretch>
              <a:fillRect l="0" t="0" r="0" b="0"/>
            </a:stretch>
          </a:blipFill>
        </p:spPr>
      </p:sp>
      <p:sp>
        <p:nvSpPr>
          <p:cNvPr name="Freeform 5" id="5"/>
          <p:cNvSpPr/>
          <p:nvPr/>
        </p:nvSpPr>
        <p:spPr>
          <a:xfrm flipH="false" flipV="false" rot="0">
            <a:off x="1223590" y="2276998"/>
            <a:ext cx="519706" cy="503465"/>
          </a:xfrm>
          <a:custGeom>
            <a:avLst/>
            <a:gdLst/>
            <a:ahLst/>
            <a:cxnLst/>
            <a:rect r="r" b="b" t="t" l="l"/>
            <a:pathLst>
              <a:path h="503465" w="519706">
                <a:moveTo>
                  <a:pt x="0" y="0"/>
                </a:moveTo>
                <a:lnTo>
                  <a:pt x="519705" y="0"/>
                </a:lnTo>
                <a:lnTo>
                  <a:pt x="519705" y="503465"/>
                </a:lnTo>
                <a:lnTo>
                  <a:pt x="0" y="503465"/>
                </a:lnTo>
                <a:lnTo>
                  <a:pt x="0" y="0"/>
                </a:lnTo>
                <a:close/>
              </a:path>
            </a:pathLst>
          </a:custGeom>
          <a:blipFill>
            <a:blip r:embed="rId5"/>
            <a:stretch>
              <a:fillRect l="0" t="0" r="0" b="0"/>
            </a:stretch>
          </a:blipFill>
        </p:spPr>
      </p:sp>
      <p:sp>
        <p:nvSpPr>
          <p:cNvPr name="Freeform 6" id="6"/>
          <p:cNvSpPr/>
          <p:nvPr/>
        </p:nvSpPr>
        <p:spPr>
          <a:xfrm flipH="false" flipV="false" rot="0">
            <a:off x="1028700" y="3560021"/>
            <a:ext cx="6463841" cy="1583479"/>
          </a:xfrm>
          <a:custGeom>
            <a:avLst/>
            <a:gdLst/>
            <a:ahLst/>
            <a:cxnLst/>
            <a:rect r="r" b="b" t="t" l="l"/>
            <a:pathLst>
              <a:path h="1583479" w="6463841">
                <a:moveTo>
                  <a:pt x="0" y="0"/>
                </a:moveTo>
                <a:lnTo>
                  <a:pt x="6463841" y="0"/>
                </a:lnTo>
                <a:lnTo>
                  <a:pt x="6463841" y="1583479"/>
                </a:lnTo>
                <a:lnTo>
                  <a:pt x="0" y="1583479"/>
                </a:lnTo>
                <a:lnTo>
                  <a:pt x="0" y="0"/>
                </a:lnTo>
                <a:close/>
              </a:path>
            </a:pathLst>
          </a:custGeom>
          <a:blipFill>
            <a:blip r:embed="rId6"/>
            <a:stretch>
              <a:fillRect l="0" t="0" r="0" b="0"/>
            </a:stretch>
          </a:blipFill>
        </p:spPr>
      </p:sp>
      <p:sp>
        <p:nvSpPr>
          <p:cNvPr name="Freeform 7" id="7"/>
          <p:cNvSpPr/>
          <p:nvPr/>
        </p:nvSpPr>
        <p:spPr>
          <a:xfrm flipH="false" flipV="false" rot="0">
            <a:off x="1223590" y="3754911"/>
            <a:ext cx="519706" cy="503465"/>
          </a:xfrm>
          <a:custGeom>
            <a:avLst/>
            <a:gdLst/>
            <a:ahLst/>
            <a:cxnLst/>
            <a:rect r="r" b="b" t="t" l="l"/>
            <a:pathLst>
              <a:path h="503465" w="519706">
                <a:moveTo>
                  <a:pt x="0" y="0"/>
                </a:moveTo>
                <a:lnTo>
                  <a:pt x="519705" y="0"/>
                </a:lnTo>
                <a:lnTo>
                  <a:pt x="519705" y="503465"/>
                </a:lnTo>
                <a:lnTo>
                  <a:pt x="0" y="503465"/>
                </a:lnTo>
                <a:lnTo>
                  <a:pt x="0" y="0"/>
                </a:lnTo>
                <a:close/>
              </a:path>
            </a:pathLst>
          </a:custGeom>
          <a:blipFill>
            <a:blip r:embed="rId7"/>
            <a:stretch>
              <a:fillRect l="0" t="0" r="0" b="0"/>
            </a:stretch>
          </a:blipFill>
        </p:spPr>
      </p:sp>
      <p:sp>
        <p:nvSpPr>
          <p:cNvPr name="Freeform 8" id="8"/>
          <p:cNvSpPr/>
          <p:nvPr/>
        </p:nvSpPr>
        <p:spPr>
          <a:xfrm flipH="false" flipV="false" rot="0">
            <a:off x="1028700" y="5240945"/>
            <a:ext cx="6463841" cy="1486034"/>
          </a:xfrm>
          <a:custGeom>
            <a:avLst/>
            <a:gdLst/>
            <a:ahLst/>
            <a:cxnLst/>
            <a:rect r="r" b="b" t="t" l="l"/>
            <a:pathLst>
              <a:path h="1486034" w="6463841">
                <a:moveTo>
                  <a:pt x="0" y="0"/>
                </a:moveTo>
                <a:lnTo>
                  <a:pt x="6463841" y="0"/>
                </a:lnTo>
                <a:lnTo>
                  <a:pt x="6463841" y="1486034"/>
                </a:lnTo>
                <a:lnTo>
                  <a:pt x="0" y="1486034"/>
                </a:lnTo>
                <a:lnTo>
                  <a:pt x="0" y="0"/>
                </a:lnTo>
                <a:close/>
              </a:path>
            </a:pathLst>
          </a:custGeom>
          <a:blipFill>
            <a:blip r:embed="rId8"/>
            <a:stretch>
              <a:fillRect l="0" t="0" r="0" b="0"/>
            </a:stretch>
          </a:blipFill>
        </p:spPr>
      </p:sp>
      <p:sp>
        <p:nvSpPr>
          <p:cNvPr name="Freeform 9" id="9"/>
          <p:cNvSpPr/>
          <p:nvPr/>
        </p:nvSpPr>
        <p:spPr>
          <a:xfrm flipH="false" flipV="false" rot="0">
            <a:off x="1223590" y="5435834"/>
            <a:ext cx="519706" cy="503465"/>
          </a:xfrm>
          <a:custGeom>
            <a:avLst/>
            <a:gdLst/>
            <a:ahLst/>
            <a:cxnLst/>
            <a:rect r="r" b="b" t="t" l="l"/>
            <a:pathLst>
              <a:path h="503465" w="519706">
                <a:moveTo>
                  <a:pt x="0" y="0"/>
                </a:moveTo>
                <a:lnTo>
                  <a:pt x="519705" y="0"/>
                </a:lnTo>
                <a:lnTo>
                  <a:pt x="519705" y="503465"/>
                </a:lnTo>
                <a:lnTo>
                  <a:pt x="0" y="503465"/>
                </a:lnTo>
                <a:lnTo>
                  <a:pt x="0" y="0"/>
                </a:lnTo>
                <a:close/>
              </a:path>
            </a:pathLst>
          </a:custGeom>
          <a:blipFill>
            <a:blip r:embed="rId9"/>
            <a:stretch>
              <a:fillRect l="0" t="0" r="0" b="0"/>
            </a:stretch>
          </a:blipFill>
        </p:spPr>
      </p:sp>
      <p:sp>
        <p:nvSpPr>
          <p:cNvPr name="Freeform 10" id="10"/>
          <p:cNvSpPr/>
          <p:nvPr/>
        </p:nvSpPr>
        <p:spPr>
          <a:xfrm flipH="false" flipV="false" rot="0">
            <a:off x="1028700" y="6816303"/>
            <a:ext cx="6463841" cy="1388589"/>
          </a:xfrm>
          <a:custGeom>
            <a:avLst/>
            <a:gdLst/>
            <a:ahLst/>
            <a:cxnLst/>
            <a:rect r="r" b="b" t="t" l="l"/>
            <a:pathLst>
              <a:path h="1388589" w="6463841">
                <a:moveTo>
                  <a:pt x="0" y="0"/>
                </a:moveTo>
                <a:lnTo>
                  <a:pt x="6463841" y="0"/>
                </a:lnTo>
                <a:lnTo>
                  <a:pt x="6463841" y="1388589"/>
                </a:lnTo>
                <a:lnTo>
                  <a:pt x="0" y="1388589"/>
                </a:lnTo>
                <a:lnTo>
                  <a:pt x="0" y="0"/>
                </a:lnTo>
                <a:close/>
              </a:path>
            </a:pathLst>
          </a:custGeom>
          <a:blipFill>
            <a:blip r:embed="rId10"/>
            <a:stretch>
              <a:fillRect l="0" t="0" r="0" b="0"/>
            </a:stretch>
          </a:blipFill>
        </p:spPr>
      </p:sp>
      <p:sp>
        <p:nvSpPr>
          <p:cNvPr name="Freeform 11" id="11"/>
          <p:cNvSpPr/>
          <p:nvPr/>
        </p:nvSpPr>
        <p:spPr>
          <a:xfrm flipH="false" flipV="false" rot="0">
            <a:off x="1223590" y="7011193"/>
            <a:ext cx="113686" cy="998810"/>
          </a:xfrm>
          <a:custGeom>
            <a:avLst/>
            <a:gdLst/>
            <a:ahLst/>
            <a:cxnLst/>
            <a:rect r="r" b="b" t="t" l="l"/>
            <a:pathLst>
              <a:path h="998810" w="113686">
                <a:moveTo>
                  <a:pt x="0" y="0"/>
                </a:moveTo>
                <a:lnTo>
                  <a:pt x="113685" y="0"/>
                </a:lnTo>
                <a:lnTo>
                  <a:pt x="113685" y="998809"/>
                </a:lnTo>
                <a:lnTo>
                  <a:pt x="0" y="998809"/>
                </a:lnTo>
                <a:lnTo>
                  <a:pt x="0" y="0"/>
                </a:lnTo>
                <a:close/>
              </a:path>
            </a:pathLst>
          </a:custGeom>
          <a:blipFill>
            <a:blip r:embed="rId11"/>
            <a:stretch>
              <a:fillRect l="0" t="0" r="0" b="0"/>
            </a:stretch>
          </a:blipFill>
        </p:spPr>
      </p:sp>
      <p:sp>
        <p:nvSpPr>
          <p:cNvPr name="Freeform 12" id="12"/>
          <p:cNvSpPr/>
          <p:nvPr/>
        </p:nvSpPr>
        <p:spPr>
          <a:xfrm flipH="false" flipV="false" rot="0">
            <a:off x="7778291" y="2082108"/>
            <a:ext cx="10112360" cy="6787922"/>
          </a:xfrm>
          <a:custGeom>
            <a:avLst/>
            <a:gdLst/>
            <a:ahLst/>
            <a:cxnLst/>
            <a:rect r="r" b="b" t="t" l="l"/>
            <a:pathLst>
              <a:path h="6787922" w="10112360">
                <a:moveTo>
                  <a:pt x="0" y="0"/>
                </a:moveTo>
                <a:lnTo>
                  <a:pt x="10112360" y="0"/>
                </a:lnTo>
                <a:lnTo>
                  <a:pt x="10112360" y="6787922"/>
                </a:lnTo>
                <a:lnTo>
                  <a:pt x="0" y="6787922"/>
                </a:lnTo>
                <a:lnTo>
                  <a:pt x="0" y="0"/>
                </a:lnTo>
                <a:close/>
              </a:path>
            </a:pathLst>
          </a:custGeom>
          <a:blipFill>
            <a:blip r:embed="rId12"/>
            <a:stretch>
              <a:fillRect l="0" t="0" r="0" b="0"/>
            </a:stretch>
          </a:blipFill>
        </p:spPr>
      </p:sp>
      <p:sp>
        <p:nvSpPr>
          <p:cNvPr name="TextBox 13" id="13"/>
          <p:cNvSpPr txBox="true"/>
          <p:nvPr/>
        </p:nvSpPr>
        <p:spPr>
          <a:xfrm rot="0">
            <a:off x="1907782" y="2465056"/>
            <a:ext cx="3422553" cy="258146"/>
          </a:xfrm>
          <a:prstGeom prst="rect">
            <a:avLst/>
          </a:prstGeom>
        </p:spPr>
        <p:txBody>
          <a:bodyPr anchor="t" rtlCol="false" tIns="0" lIns="0" bIns="0" rIns="0">
            <a:spAutoFit/>
          </a:bodyPr>
          <a:lstStyle/>
          <a:p>
            <a:pPr algn="l">
              <a:lnSpc>
                <a:spcPts val="1913"/>
              </a:lnSpc>
            </a:pPr>
            <a:r>
              <a:rPr lang="en-US" sz="1913" b="true">
                <a:solidFill>
                  <a:srgbClr val="262890"/>
                </a:solidFill>
                <a:latin typeface="Montserrat Bold"/>
                <a:ea typeface="Montserrat Bold"/>
                <a:cs typeface="Montserrat Bold"/>
                <a:sym typeface="Montserrat Bold"/>
              </a:rPr>
              <a:t>VIEWS &amp; CONTROLLERS</a:t>
            </a:r>
          </a:p>
        </p:txBody>
      </p:sp>
      <p:sp>
        <p:nvSpPr>
          <p:cNvPr name="TextBox 14" id="14"/>
          <p:cNvSpPr txBox="true"/>
          <p:nvPr/>
        </p:nvSpPr>
        <p:spPr>
          <a:xfrm rot="0">
            <a:off x="1907782" y="2830843"/>
            <a:ext cx="4983621" cy="496858"/>
          </a:xfrm>
          <a:prstGeom prst="rect">
            <a:avLst/>
          </a:prstGeom>
        </p:spPr>
        <p:txBody>
          <a:bodyPr anchor="t" rtlCol="false" tIns="0" lIns="0" bIns="0" rIns="0">
            <a:spAutoFit/>
          </a:bodyPr>
          <a:lstStyle/>
          <a:p>
            <a:pPr algn="l">
              <a:lnSpc>
                <a:spcPts val="2014"/>
              </a:lnSpc>
            </a:pPr>
            <a:r>
              <a:rPr lang="en-US" sz="1438">
                <a:solidFill>
                  <a:srgbClr val="455989"/>
                </a:solidFill>
                <a:latin typeface="Montserrat"/>
                <a:ea typeface="Montserrat"/>
                <a:cs typeface="Montserrat"/>
                <a:sym typeface="Montserrat"/>
              </a:rPr>
              <a:t>LoginView.fxml - sidebar.fxml - chat.fxml nhận input và vẽ UI</a:t>
            </a:r>
          </a:p>
        </p:txBody>
      </p:sp>
      <p:sp>
        <p:nvSpPr>
          <p:cNvPr name="TextBox 15" id="15"/>
          <p:cNvSpPr txBox="true"/>
          <p:nvPr/>
        </p:nvSpPr>
        <p:spPr>
          <a:xfrm rot="0">
            <a:off x="1337275" y="3915421"/>
            <a:ext cx="359711" cy="209616"/>
          </a:xfrm>
          <a:prstGeom prst="rect">
            <a:avLst/>
          </a:prstGeom>
        </p:spPr>
        <p:txBody>
          <a:bodyPr anchor="t" rtlCol="false" tIns="0" lIns="0" bIns="0" rIns="0">
            <a:spAutoFit/>
          </a:bodyPr>
          <a:lstStyle/>
          <a:p>
            <a:pPr algn="ctr">
              <a:lnSpc>
                <a:spcPts val="1502"/>
              </a:lnSpc>
            </a:pPr>
            <a:r>
              <a:rPr lang="en-US" b="true" sz="1502">
                <a:solidFill>
                  <a:srgbClr val="262890"/>
                </a:solidFill>
                <a:latin typeface="Montserrat Bold"/>
                <a:ea typeface="Montserrat Bold"/>
                <a:cs typeface="Montserrat Bold"/>
                <a:sym typeface="Montserrat Bold"/>
              </a:rPr>
              <a:t>02</a:t>
            </a:r>
          </a:p>
        </p:txBody>
      </p:sp>
      <p:sp>
        <p:nvSpPr>
          <p:cNvPr name="TextBox 16" id="16"/>
          <p:cNvSpPr txBox="true"/>
          <p:nvPr/>
        </p:nvSpPr>
        <p:spPr>
          <a:xfrm rot="0">
            <a:off x="1907782" y="3896641"/>
            <a:ext cx="4158514" cy="237928"/>
          </a:xfrm>
          <a:prstGeom prst="rect">
            <a:avLst/>
          </a:prstGeom>
        </p:spPr>
        <p:txBody>
          <a:bodyPr anchor="t" rtlCol="false" tIns="0" lIns="0" bIns="0" rIns="0">
            <a:spAutoFit/>
          </a:bodyPr>
          <a:lstStyle/>
          <a:p>
            <a:pPr algn="l">
              <a:lnSpc>
                <a:spcPts val="1867"/>
              </a:lnSpc>
            </a:pPr>
            <a:r>
              <a:rPr lang="en-US" sz="1867" b="true">
                <a:solidFill>
                  <a:srgbClr val="262890"/>
                </a:solidFill>
                <a:latin typeface="Montserrat Bold"/>
                <a:ea typeface="Montserrat Bold"/>
                <a:cs typeface="Montserrat Bold"/>
                <a:sym typeface="Montserrat Bold"/>
              </a:rPr>
              <a:t>CONTROLLER CACHE &amp; STATE</a:t>
            </a:r>
          </a:p>
        </p:txBody>
      </p:sp>
      <p:sp>
        <p:nvSpPr>
          <p:cNvPr name="TextBox 17" id="17"/>
          <p:cNvSpPr txBox="true"/>
          <p:nvPr/>
        </p:nvSpPr>
        <p:spPr>
          <a:xfrm rot="0">
            <a:off x="1907782" y="4271247"/>
            <a:ext cx="4822025" cy="495267"/>
          </a:xfrm>
          <a:prstGeom prst="rect">
            <a:avLst/>
          </a:prstGeom>
        </p:spPr>
        <p:txBody>
          <a:bodyPr anchor="t" rtlCol="false" tIns="0" lIns="0" bIns="0" rIns="0">
            <a:spAutoFit/>
          </a:bodyPr>
          <a:lstStyle/>
          <a:p>
            <a:pPr algn="l">
              <a:lnSpc>
                <a:spcPts val="1953"/>
              </a:lnSpc>
            </a:pPr>
            <a:r>
              <a:rPr lang="en-US" sz="1502">
                <a:solidFill>
                  <a:srgbClr val="455989"/>
                </a:solidFill>
                <a:latin typeface="Montserrat"/>
                <a:ea typeface="Montserrat"/>
                <a:cs typeface="Montserrat"/>
                <a:sym typeface="Montserrat"/>
              </a:rPr>
              <a:t>Quản lý hội thoại đang chọn, cache danh sách hội thoại, tin nhắn và danh bạ để giảm độ trễ hiển thị</a:t>
            </a:r>
          </a:p>
        </p:txBody>
      </p:sp>
      <p:sp>
        <p:nvSpPr>
          <p:cNvPr name="TextBox 18" id="18"/>
          <p:cNvSpPr txBox="true"/>
          <p:nvPr/>
        </p:nvSpPr>
        <p:spPr>
          <a:xfrm rot="0">
            <a:off x="1384211" y="5555496"/>
            <a:ext cx="315875" cy="209616"/>
          </a:xfrm>
          <a:prstGeom prst="rect">
            <a:avLst/>
          </a:prstGeom>
        </p:spPr>
        <p:txBody>
          <a:bodyPr anchor="t" rtlCol="false" tIns="0" lIns="0" bIns="0" rIns="0">
            <a:spAutoFit/>
          </a:bodyPr>
          <a:lstStyle/>
          <a:p>
            <a:pPr algn="ctr">
              <a:lnSpc>
                <a:spcPts val="1502"/>
              </a:lnSpc>
            </a:pPr>
            <a:r>
              <a:rPr lang="en-US" b="true" sz="1502">
                <a:solidFill>
                  <a:srgbClr val="262890"/>
                </a:solidFill>
                <a:latin typeface="Montserrat Bold"/>
                <a:ea typeface="Montserrat Bold"/>
                <a:cs typeface="Montserrat Bold"/>
                <a:sym typeface="Montserrat Bold"/>
              </a:rPr>
              <a:t>03</a:t>
            </a:r>
          </a:p>
        </p:txBody>
      </p:sp>
      <p:sp>
        <p:nvSpPr>
          <p:cNvPr name="TextBox 19" id="19"/>
          <p:cNvSpPr txBox="true"/>
          <p:nvPr/>
        </p:nvSpPr>
        <p:spPr>
          <a:xfrm rot="0">
            <a:off x="1907782" y="5545262"/>
            <a:ext cx="4798989" cy="248037"/>
          </a:xfrm>
          <a:prstGeom prst="rect">
            <a:avLst/>
          </a:prstGeom>
        </p:spPr>
        <p:txBody>
          <a:bodyPr anchor="t" rtlCol="false" tIns="0" lIns="0" bIns="0" rIns="0">
            <a:spAutoFit/>
          </a:bodyPr>
          <a:lstStyle/>
          <a:p>
            <a:pPr algn="l">
              <a:lnSpc>
                <a:spcPts val="1890"/>
              </a:lnSpc>
            </a:pPr>
            <a:r>
              <a:rPr lang="en-US" sz="1890" b="true">
                <a:solidFill>
                  <a:srgbClr val="262890"/>
                </a:solidFill>
                <a:latin typeface="Montserrat Bold"/>
                <a:ea typeface="Montserrat Bold"/>
                <a:cs typeface="Montserrat Bold"/>
                <a:sym typeface="Montserrat Bold"/>
              </a:rPr>
              <a:t>NETWORK LAYER (NON-BLOCKING)</a:t>
            </a:r>
          </a:p>
        </p:txBody>
      </p:sp>
      <p:sp>
        <p:nvSpPr>
          <p:cNvPr name="TextBox 20" id="20"/>
          <p:cNvSpPr txBox="true"/>
          <p:nvPr/>
        </p:nvSpPr>
        <p:spPr>
          <a:xfrm rot="0">
            <a:off x="1907782" y="5945431"/>
            <a:ext cx="5202135" cy="495267"/>
          </a:xfrm>
          <a:prstGeom prst="rect">
            <a:avLst/>
          </a:prstGeom>
        </p:spPr>
        <p:txBody>
          <a:bodyPr anchor="t" rtlCol="false" tIns="0" lIns="0" bIns="0" rIns="0">
            <a:spAutoFit/>
          </a:bodyPr>
          <a:lstStyle/>
          <a:p>
            <a:pPr algn="l">
              <a:lnSpc>
                <a:spcPts val="1953"/>
              </a:lnSpc>
            </a:pPr>
            <a:r>
              <a:rPr lang="en-US" sz="1502">
                <a:solidFill>
                  <a:srgbClr val="455989"/>
                </a:solidFill>
                <a:latin typeface="Montserrat"/>
                <a:ea typeface="Montserrat"/>
                <a:cs typeface="Montserrat"/>
                <a:sym typeface="Montserrat"/>
              </a:rPr>
              <a:t>ChatClient gửi request JSON qua TCP Socket ChatReceiver chạy luồng nền để lắng nghe server</a:t>
            </a:r>
          </a:p>
        </p:txBody>
      </p:sp>
      <p:sp>
        <p:nvSpPr>
          <p:cNvPr name="TextBox 21" id="21"/>
          <p:cNvSpPr txBox="true"/>
          <p:nvPr/>
        </p:nvSpPr>
        <p:spPr>
          <a:xfrm rot="0">
            <a:off x="1545807" y="7117504"/>
            <a:ext cx="2714813" cy="246870"/>
          </a:xfrm>
          <a:prstGeom prst="rect">
            <a:avLst/>
          </a:prstGeom>
        </p:spPr>
        <p:txBody>
          <a:bodyPr anchor="t" rtlCol="false" tIns="0" lIns="0" bIns="0" rIns="0">
            <a:spAutoFit/>
          </a:bodyPr>
          <a:lstStyle/>
          <a:p>
            <a:pPr algn="l">
              <a:lnSpc>
                <a:spcPts val="1844"/>
              </a:lnSpc>
            </a:pPr>
            <a:r>
              <a:rPr lang="en-US" sz="1844" b="true">
                <a:solidFill>
                  <a:srgbClr val="262890"/>
                </a:solidFill>
                <a:latin typeface="Montserrat Bold"/>
                <a:ea typeface="Montserrat Bold"/>
                <a:cs typeface="Montserrat Bold"/>
                <a:sym typeface="Montserrat Bold"/>
              </a:rPr>
              <a:t>NGUYÊN TẮC LUỒNG:</a:t>
            </a:r>
          </a:p>
        </p:txBody>
      </p:sp>
      <p:sp>
        <p:nvSpPr>
          <p:cNvPr name="TextBox 22" id="22"/>
          <p:cNvSpPr txBox="true"/>
          <p:nvPr/>
        </p:nvSpPr>
        <p:spPr>
          <a:xfrm rot="0">
            <a:off x="1545807" y="7374679"/>
            <a:ext cx="5597686" cy="742917"/>
          </a:xfrm>
          <a:prstGeom prst="rect">
            <a:avLst/>
          </a:prstGeom>
        </p:spPr>
        <p:txBody>
          <a:bodyPr anchor="t" rtlCol="false" tIns="0" lIns="0" bIns="0" rIns="0">
            <a:spAutoFit/>
          </a:bodyPr>
          <a:lstStyle/>
          <a:p>
            <a:pPr algn="l">
              <a:lnSpc>
                <a:spcPts val="1953"/>
              </a:lnSpc>
            </a:pPr>
            <a:r>
              <a:rPr lang="en-US" sz="1502">
                <a:solidFill>
                  <a:srgbClr val="455989"/>
                </a:solidFill>
                <a:latin typeface="Montserrat"/>
                <a:ea typeface="Montserrat"/>
                <a:cs typeface="Montserrat"/>
                <a:sym typeface="Montserrat"/>
              </a:rPr>
              <a:t>Mọi sự kiện từ ChatReceiver đều được dispatch về giao diện thông qua Platform.runLater() để không xung đột luồng JavaFX UI.</a:t>
            </a:r>
          </a:p>
        </p:txBody>
      </p:sp>
      <p:sp>
        <p:nvSpPr>
          <p:cNvPr name="TextBox 23" id="23"/>
          <p:cNvSpPr txBox="true"/>
          <p:nvPr/>
        </p:nvSpPr>
        <p:spPr>
          <a:xfrm rot="0">
            <a:off x="1384211" y="2485107"/>
            <a:ext cx="239162" cy="209616"/>
          </a:xfrm>
          <a:prstGeom prst="rect">
            <a:avLst/>
          </a:prstGeom>
        </p:spPr>
        <p:txBody>
          <a:bodyPr anchor="t" rtlCol="false" tIns="0" lIns="0" bIns="0" rIns="0">
            <a:spAutoFit/>
          </a:bodyPr>
          <a:lstStyle/>
          <a:p>
            <a:pPr algn="ctr">
              <a:lnSpc>
                <a:spcPts val="1502"/>
              </a:lnSpc>
            </a:pPr>
            <a:r>
              <a:rPr lang="en-US" b="true" sz="1502">
                <a:solidFill>
                  <a:srgbClr val="262890"/>
                </a:solidFill>
                <a:latin typeface="Montserrat Bold"/>
                <a:ea typeface="Montserrat Bold"/>
                <a:cs typeface="Montserrat Bold"/>
                <a:sym typeface="Montserrat Bold"/>
              </a:rPr>
              <a:t>01</a:t>
            </a:r>
          </a:p>
        </p:txBody>
      </p:sp>
      <p:sp>
        <p:nvSpPr>
          <p:cNvPr name="TextBox 24" id="24"/>
          <p:cNvSpPr txBox="true"/>
          <p:nvPr/>
        </p:nvSpPr>
        <p:spPr>
          <a:xfrm rot="0">
            <a:off x="1028700" y="1119551"/>
            <a:ext cx="11929932" cy="520700"/>
          </a:xfrm>
          <a:prstGeom prst="rect">
            <a:avLst/>
          </a:prstGeom>
        </p:spPr>
        <p:txBody>
          <a:bodyPr anchor="t" rtlCol="false" tIns="0" lIns="0" bIns="0" rIns="0">
            <a:spAutoFit/>
          </a:bodyPr>
          <a:lstStyle/>
          <a:p>
            <a:pPr algn="l">
              <a:lnSpc>
                <a:spcPts val="3999"/>
              </a:lnSpc>
            </a:pPr>
            <a:r>
              <a:rPr lang="en-US" sz="3999" b="true">
                <a:solidFill>
                  <a:srgbClr val="262890"/>
                </a:solidFill>
                <a:latin typeface="Montserrat Bold"/>
                <a:ea typeface="Montserrat Bold"/>
                <a:cs typeface="Montserrat Bold"/>
                <a:sym typeface="Montserrat Bold"/>
              </a:rPr>
              <a:t>CẤU TRÚC CLIENT VÀ GIAO DIỆN THỰC TẾ</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772547" y="744431"/>
            <a:ext cx="10319791" cy="542414"/>
          </a:xfrm>
          <a:prstGeom prst="rect">
            <a:avLst/>
          </a:prstGeom>
        </p:spPr>
        <p:txBody>
          <a:bodyPr anchor="t" rtlCol="false" tIns="0" lIns="0" bIns="0" rIns="0">
            <a:spAutoFit/>
          </a:bodyPr>
          <a:lstStyle/>
          <a:p>
            <a:pPr algn="l">
              <a:lnSpc>
                <a:spcPts val="4104"/>
              </a:lnSpc>
            </a:pPr>
            <a:r>
              <a:rPr lang="en-US" sz="4104" b="true">
                <a:solidFill>
                  <a:srgbClr val="05276B"/>
                </a:solidFill>
                <a:latin typeface="Montserrat Bold"/>
                <a:ea typeface="Montserrat Bold"/>
                <a:cs typeface="Montserrat Bold"/>
                <a:sym typeface="Montserrat Bold"/>
              </a:rPr>
              <a:t>Kiến trúc Server và Phân tầng xử lý</a:t>
            </a:r>
          </a:p>
        </p:txBody>
      </p:sp>
      <p:sp>
        <p:nvSpPr>
          <p:cNvPr name="Freeform 4" id="4"/>
          <p:cNvSpPr/>
          <p:nvPr/>
        </p:nvSpPr>
        <p:spPr>
          <a:xfrm flipH="false" flipV="false" rot="0">
            <a:off x="431206" y="1705390"/>
            <a:ext cx="8712794" cy="1945894"/>
          </a:xfrm>
          <a:custGeom>
            <a:avLst/>
            <a:gdLst/>
            <a:ahLst/>
            <a:cxnLst/>
            <a:rect r="r" b="b" t="t" l="l"/>
            <a:pathLst>
              <a:path h="1945894" w="8712794">
                <a:moveTo>
                  <a:pt x="0" y="0"/>
                </a:moveTo>
                <a:lnTo>
                  <a:pt x="8712794" y="0"/>
                </a:lnTo>
                <a:lnTo>
                  <a:pt x="8712794" y="1945894"/>
                </a:lnTo>
                <a:lnTo>
                  <a:pt x="0" y="1945894"/>
                </a:lnTo>
                <a:lnTo>
                  <a:pt x="0" y="0"/>
                </a:lnTo>
                <a:close/>
              </a:path>
            </a:pathLst>
          </a:custGeom>
          <a:blipFill>
            <a:blip r:embed="rId3"/>
            <a:stretch>
              <a:fillRect l="0" t="0" r="0" b="0"/>
            </a:stretch>
          </a:blipFill>
        </p:spPr>
      </p:sp>
      <p:sp>
        <p:nvSpPr>
          <p:cNvPr name="TextBox 5" id="5"/>
          <p:cNvSpPr txBox="true"/>
          <p:nvPr/>
        </p:nvSpPr>
        <p:spPr>
          <a:xfrm rot="0">
            <a:off x="955329" y="2003988"/>
            <a:ext cx="1970702" cy="278654"/>
          </a:xfrm>
          <a:prstGeom prst="rect">
            <a:avLst/>
          </a:prstGeom>
        </p:spPr>
        <p:txBody>
          <a:bodyPr anchor="t" rtlCol="false" tIns="0" lIns="0" bIns="0" rIns="0">
            <a:spAutoFit/>
          </a:bodyPr>
          <a:lstStyle/>
          <a:p>
            <a:pPr algn="l">
              <a:lnSpc>
                <a:spcPts val="2141"/>
              </a:lnSpc>
            </a:pPr>
            <a:r>
              <a:rPr lang="en-US" sz="2141" b="true">
                <a:solidFill>
                  <a:srgbClr val="05276B"/>
                </a:solidFill>
                <a:latin typeface="Montserrat Semi-Bold"/>
                <a:ea typeface="Montserrat Semi-Bold"/>
                <a:cs typeface="Montserrat Semi-Bold"/>
                <a:sym typeface="Montserrat Semi-Bold"/>
              </a:rPr>
              <a:t>ChatServer</a:t>
            </a:r>
          </a:p>
        </p:txBody>
      </p:sp>
      <p:sp>
        <p:nvSpPr>
          <p:cNvPr name="TextBox 6" id="6"/>
          <p:cNvSpPr txBox="true"/>
          <p:nvPr/>
        </p:nvSpPr>
        <p:spPr>
          <a:xfrm rot="0">
            <a:off x="955329" y="2440311"/>
            <a:ext cx="7603766" cy="829424"/>
          </a:xfrm>
          <a:prstGeom prst="rect">
            <a:avLst/>
          </a:prstGeom>
        </p:spPr>
        <p:txBody>
          <a:bodyPr anchor="t" rtlCol="false" tIns="0" lIns="0" bIns="0" rIns="0">
            <a:spAutoFit/>
          </a:bodyPr>
          <a:lstStyle/>
          <a:p>
            <a:pPr algn="l">
              <a:lnSpc>
                <a:spcPts val="2227"/>
              </a:lnSpc>
            </a:pPr>
            <a:r>
              <a:rPr lang="en-US" sz="1856">
                <a:solidFill>
                  <a:srgbClr val="05276B"/>
                </a:solidFill>
                <a:latin typeface="Montserrat Light"/>
                <a:ea typeface="Montserrat Light"/>
                <a:cs typeface="Montserrat Light"/>
                <a:sym typeface="Montserrat Light"/>
              </a:rPr>
              <a:t>Mở ServerSocket, chấp nhận kết nối từ Client, tạo ClientSession và xử lý đồng thời bằng ThreadPool. Đọc ProtocolMessage dạng JSON Lines UTF-8 qua TCP</a:t>
            </a:r>
          </a:p>
        </p:txBody>
      </p:sp>
      <p:sp>
        <p:nvSpPr>
          <p:cNvPr name="Freeform 7" id="7"/>
          <p:cNvSpPr/>
          <p:nvPr/>
        </p:nvSpPr>
        <p:spPr>
          <a:xfrm flipH="false" flipV="false" rot="0">
            <a:off x="4574429" y="3421712"/>
            <a:ext cx="437279" cy="655919"/>
          </a:xfrm>
          <a:custGeom>
            <a:avLst/>
            <a:gdLst/>
            <a:ahLst/>
            <a:cxnLst/>
            <a:rect r="r" b="b" t="t" l="l"/>
            <a:pathLst>
              <a:path h="655919" w="437279">
                <a:moveTo>
                  <a:pt x="0" y="0"/>
                </a:moveTo>
                <a:lnTo>
                  <a:pt x="437280" y="0"/>
                </a:lnTo>
                <a:lnTo>
                  <a:pt x="437280" y="655919"/>
                </a:lnTo>
                <a:lnTo>
                  <a:pt x="0" y="655919"/>
                </a:lnTo>
                <a:lnTo>
                  <a:pt x="0" y="0"/>
                </a:lnTo>
                <a:close/>
              </a:path>
            </a:pathLst>
          </a:custGeom>
          <a:blipFill>
            <a:blip r:embed="rId4"/>
            <a:stretch>
              <a:fillRect l="0" t="0" r="0" b="0"/>
            </a:stretch>
          </a:blipFill>
        </p:spPr>
      </p:sp>
      <p:sp>
        <p:nvSpPr>
          <p:cNvPr name="Freeform 8" id="8"/>
          <p:cNvSpPr/>
          <p:nvPr/>
        </p:nvSpPr>
        <p:spPr>
          <a:xfrm flipH="false" flipV="false" rot="0">
            <a:off x="9144000" y="1705390"/>
            <a:ext cx="8712794" cy="1945894"/>
          </a:xfrm>
          <a:custGeom>
            <a:avLst/>
            <a:gdLst/>
            <a:ahLst/>
            <a:cxnLst/>
            <a:rect r="r" b="b" t="t" l="l"/>
            <a:pathLst>
              <a:path h="1945894" w="8712794">
                <a:moveTo>
                  <a:pt x="0" y="0"/>
                </a:moveTo>
                <a:lnTo>
                  <a:pt x="8712794" y="0"/>
                </a:lnTo>
                <a:lnTo>
                  <a:pt x="8712794" y="1945894"/>
                </a:lnTo>
                <a:lnTo>
                  <a:pt x="0" y="1945894"/>
                </a:lnTo>
                <a:lnTo>
                  <a:pt x="0" y="0"/>
                </a:lnTo>
                <a:close/>
              </a:path>
            </a:pathLst>
          </a:custGeom>
          <a:blipFill>
            <a:blip r:embed="rId5"/>
            <a:stretch>
              <a:fillRect l="0" t="0" r="0" b="0"/>
            </a:stretch>
          </a:blipFill>
        </p:spPr>
      </p:sp>
      <p:sp>
        <p:nvSpPr>
          <p:cNvPr name="TextBox 9" id="9"/>
          <p:cNvSpPr txBox="true"/>
          <p:nvPr/>
        </p:nvSpPr>
        <p:spPr>
          <a:xfrm rot="0">
            <a:off x="9600957" y="2003988"/>
            <a:ext cx="2120281" cy="278654"/>
          </a:xfrm>
          <a:prstGeom prst="rect">
            <a:avLst/>
          </a:prstGeom>
        </p:spPr>
        <p:txBody>
          <a:bodyPr anchor="t" rtlCol="false" tIns="0" lIns="0" bIns="0" rIns="0">
            <a:spAutoFit/>
          </a:bodyPr>
          <a:lstStyle/>
          <a:p>
            <a:pPr algn="l">
              <a:lnSpc>
                <a:spcPts val="2141"/>
              </a:lnSpc>
            </a:pPr>
            <a:r>
              <a:rPr lang="en-US" sz="2141" b="true">
                <a:solidFill>
                  <a:srgbClr val="05276B"/>
                </a:solidFill>
                <a:latin typeface="Montserrat Semi-Bold"/>
                <a:ea typeface="Montserrat Semi-Bold"/>
                <a:cs typeface="Montserrat Semi-Bold"/>
                <a:sym typeface="Montserrat Semi-Bold"/>
              </a:rPr>
              <a:t>ClientSession</a:t>
            </a:r>
          </a:p>
        </p:txBody>
      </p:sp>
      <p:sp>
        <p:nvSpPr>
          <p:cNvPr name="TextBox 10" id="10"/>
          <p:cNvSpPr txBox="true"/>
          <p:nvPr/>
        </p:nvSpPr>
        <p:spPr>
          <a:xfrm rot="0">
            <a:off x="9600957" y="2447612"/>
            <a:ext cx="7530652" cy="819899"/>
          </a:xfrm>
          <a:prstGeom prst="rect">
            <a:avLst/>
          </a:prstGeom>
        </p:spPr>
        <p:txBody>
          <a:bodyPr anchor="t" rtlCol="false" tIns="0" lIns="0" bIns="0" rIns="0">
            <a:spAutoFit/>
          </a:bodyPr>
          <a:lstStyle/>
          <a:p>
            <a:pPr algn="l">
              <a:lnSpc>
                <a:spcPts val="2182"/>
              </a:lnSpc>
            </a:pPr>
            <a:r>
              <a:rPr lang="en-US" sz="1818">
                <a:solidFill>
                  <a:srgbClr val="05276B"/>
                </a:solidFill>
                <a:latin typeface="Montserrat Light"/>
                <a:ea typeface="Montserrat Light"/>
                <a:cs typeface="Montserrat Light"/>
                <a:sym typeface="Montserrat Light"/>
              </a:rPr>
              <a:t>Đại diện cho một kết nối mạng. Giữ socket, sessionId, user/username sau khi xác thực, writer để gửi response và callback xử lý message/disconnect</a:t>
            </a:r>
          </a:p>
        </p:txBody>
      </p:sp>
      <p:sp>
        <p:nvSpPr>
          <p:cNvPr name="Freeform 11" id="11"/>
          <p:cNvSpPr/>
          <p:nvPr/>
        </p:nvSpPr>
        <p:spPr>
          <a:xfrm flipH="false" flipV="false" rot="0">
            <a:off x="13276291" y="3421712"/>
            <a:ext cx="437279" cy="655919"/>
          </a:xfrm>
          <a:custGeom>
            <a:avLst/>
            <a:gdLst/>
            <a:ahLst/>
            <a:cxnLst/>
            <a:rect r="r" b="b" t="t" l="l"/>
            <a:pathLst>
              <a:path h="655919" w="437279">
                <a:moveTo>
                  <a:pt x="0" y="0"/>
                </a:moveTo>
                <a:lnTo>
                  <a:pt x="437280" y="0"/>
                </a:lnTo>
                <a:lnTo>
                  <a:pt x="437280" y="655919"/>
                </a:lnTo>
                <a:lnTo>
                  <a:pt x="0" y="655919"/>
                </a:lnTo>
                <a:lnTo>
                  <a:pt x="0" y="0"/>
                </a:lnTo>
                <a:close/>
              </a:path>
            </a:pathLst>
          </a:custGeom>
          <a:blipFill>
            <a:blip r:embed="rId6"/>
            <a:stretch>
              <a:fillRect l="0" t="0" r="0" b="0"/>
            </a:stretch>
          </a:blipFill>
        </p:spPr>
      </p:sp>
      <p:sp>
        <p:nvSpPr>
          <p:cNvPr name="Freeform 12" id="12"/>
          <p:cNvSpPr/>
          <p:nvPr/>
        </p:nvSpPr>
        <p:spPr>
          <a:xfrm flipH="false" flipV="false" rot="0">
            <a:off x="431206" y="3848060"/>
            <a:ext cx="17425588" cy="1945894"/>
          </a:xfrm>
          <a:custGeom>
            <a:avLst/>
            <a:gdLst/>
            <a:ahLst/>
            <a:cxnLst/>
            <a:rect r="r" b="b" t="t" l="l"/>
            <a:pathLst>
              <a:path h="1945894" w="17425588">
                <a:moveTo>
                  <a:pt x="0" y="0"/>
                </a:moveTo>
                <a:lnTo>
                  <a:pt x="17425588" y="0"/>
                </a:lnTo>
                <a:lnTo>
                  <a:pt x="17425588" y="1945893"/>
                </a:lnTo>
                <a:lnTo>
                  <a:pt x="0" y="1945893"/>
                </a:lnTo>
                <a:lnTo>
                  <a:pt x="0" y="0"/>
                </a:lnTo>
                <a:close/>
              </a:path>
            </a:pathLst>
          </a:custGeom>
          <a:blipFill>
            <a:blip r:embed="rId7"/>
            <a:stretch>
              <a:fillRect l="0" t="0" r="0" b="0"/>
            </a:stretch>
          </a:blipFill>
        </p:spPr>
      </p:sp>
      <p:sp>
        <p:nvSpPr>
          <p:cNvPr name="TextBox 13" id="13"/>
          <p:cNvSpPr txBox="true"/>
          <p:nvPr/>
        </p:nvSpPr>
        <p:spPr>
          <a:xfrm rot="0">
            <a:off x="955329" y="4174545"/>
            <a:ext cx="6456027" cy="278654"/>
          </a:xfrm>
          <a:prstGeom prst="rect">
            <a:avLst/>
          </a:prstGeom>
        </p:spPr>
        <p:txBody>
          <a:bodyPr anchor="t" rtlCol="false" tIns="0" lIns="0" bIns="0" rIns="0">
            <a:spAutoFit/>
          </a:bodyPr>
          <a:lstStyle/>
          <a:p>
            <a:pPr algn="l">
              <a:lnSpc>
                <a:spcPts val="2141"/>
              </a:lnSpc>
            </a:pPr>
            <a:r>
              <a:rPr lang="en-US" sz="2141" b="true">
                <a:solidFill>
                  <a:srgbClr val="05276B"/>
                </a:solidFill>
                <a:latin typeface="Montserrat Semi-Bold"/>
                <a:ea typeface="Montserrat Semi-Bold"/>
                <a:cs typeface="Montserrat Semi-Bold"/>
                <a:sym typeface="Montserrat Semi-Bold"/>
              </a:rPr>
              <a:t>SessionValidator (điểm kiểm soát bắt buộc)</a:t>
            </a:r>
          </a:p>
        </p:txBody>
      </p:sp>
      <p:sp>
        <p:nvSpPr>
          <p:cNvPr name="TextBox 14" id="14"/>
          <p:cNvSpPr txBox="true"/>
          <p:nvPr/>
        </p:nvSpPr>
        <p:spPr>
          <a:xfrm rot="0">
            <a:off x="955329" y="4659300"/>
            <a:ext cx="14288720" cy="721511"/>
          </a:xfrm>
          <a:prstGeom prst="rect">
            <a:avLst/>
          </a:prstGeom>
        </p:spPr>
        <p:txBody>
          <a:bodyPr anchor="t" rtlCol="false" tIns="0" lIns="0" bIns="0" rIns="0">
            <a:spAutoFit/>
          </a:bodyPr>
          <a:lstStyle/>
          <a:p>
            <a:pPr algn="l">
              <a:lnSpc>
                <a:spcPts val="1956"/>
              </a:lnSpc>
            </a:pPr>
            <a:r>
              <a:rPr lang="en-US" sz="1630">
                <a:solidFill>
                  <a:srgbClr val="05276B"/>
                </a:solidFill>
                <a:latin typeface="Montserrat Light"/>
                <a:ea typeface="Montserrat Light"/>
                <a:cs typeface="Montserrat Light"/>
                <a:sym typeface="Montserrat Light"/>
              </a:rPr>
              <a:t>Kiểm tra trạng thái xác thực. Cho phép trước đăng nhập: AUTH_LOGIN, AUTH_REGISTER_INIT, AUTH_REGISTER_VERIFY_OTP, AUTH_REGISTER_RESEND_OTP, AUTH_FORGOT_INIT, AUTH_FORGOT_RESET. Từ chối HELLO để xác thực và chặn các request nghiệp vụ</a:t>
            </a:r>
          </a:p>
          <a:p>
            <a:pPr algn="l">
              <a:lnSpc>
                <a:spcPts val="1956"/>
              </a:lnSpc>
            </a:pPr>
            <a:r>
              <a:rPr lang="en-US" sz="1630">
                <a:solidFill>
                  <a:srgbClr val="05276B"/>
                </a:solidFill>
                <a:latin typeface="Montserrat Light"/>
                <a:ea typeface="Montserrat Light"/>
                <a:cs typeface="Montserrat Light"/>
                <a:sym typeface="Montserrat Light"/>
              </a:rPr>
              <a:t>nếu session chưa hợp lệ.</a:t>
            </a:r>
          </a:p>
        </p:txBody>
      </p:sp>
      <p:sp>
        <p:nvSpPr>
          <p:cNvPr name="Freeform 15" id="15"/>
          <p:cNvSpPr/>
          <p:nvPr/>
        </p:nvSpPr>
        <p:spPr>
          <a:xfrm flipH="false" flipV="false" rot="0">
            <a:off x="3262591" y="5564382"/>
            <a:ext cx="229572" cy="437279"/>
          </a:xfrm>
          <a:custGeom>
            <a:avLst/>
            <a:gdLst/>
            <a:ahLst/>
            <a:cxnLst/>
            <a:rect r="r" b="b" t="t" l="l"/>
            <a:pathLst>
              <a:path h="437279" w="229572">
                <a:moveTo>
                  <a:pt x="0" y="0"/>
                </a:moveTo>
                <a:lnTo>
                  <a:pt x="229572" y="0"/>
                </a:lnTo>
                <a:lnTo>
                  <a:pt x="229572" y="437279"/>
                </a:lnTo>
                <a:lnTo>
                  <a:pt x="0" y="437279"/>
                </a:lnTo>
                <a:lnTo>
                  <a:pt x="0" y="0"/>
                </a:lnTo>
                <a:close/>
              </a:path>
            </a:pathLst>
          </a:custGeom>
          <a:blipFill>
            <a:blip r:embed="rId8"/>
            <a:stretch>
              <a:fillRect l="0" t="0" r="0" b="0"/>
            </a:stretch>
          </a:blipFill>
        </p:spPr>
      </p:sp>
      <p:sp>
        <p:nvSpPr>
          <p:cNvPr name="Freeform 16" id="16"/>
          <p:cNvSpPr/>
          <p:nvPr/>
        </p:nvSpPr>
        <p:spPr>
          <a:xfrm flipH="false" flipV="false" rot="0">
            <a:off x="431206" y="5990729"/>
            <a:ext cx="6110981" cy="3017228"/>
          </a:xfrm>
          <a:custGeom>
            <a:avLst/>
            <a:gdLst/>
            <a:ahLst/>
            <a:cxnLst/>
            <a:rect r="r" b="b" t="t" l="l"/>
            <a:pathLst>
              <a:path h="3017228" w="6110981">
                <a:moveTo>
                  <a:pt x="0" y="0"/>
                </a:moveTo>
                <a:lnTo>
                  <a:pt x="6110981" y="0"/>
                </a:lnTo>
                <a:lnTo>
                  <a:pt x="6110981" y="3017228"/>
                </a:lnTo>
                <a:lnTo>
                  <a:pt x="0" y="3017228"/>
                </a:lnTo>
                <a:lnTo>
                  <a:pt x="0" y="0"/>
                </a:lnTo>
                <a:close/>
              </a:path>
            </a:pathLst>
          </a:custGeom>
          <a:blipFill>
            <a:blip r:embed="rId9"/>
            <a:stretch>
              <a:fillRect l="0" t="0" r="0" b="0"/>
            </a:stretch>
          </a:blipFill>
        </p:spPr>
      </p:sp>
      <p:sp>
        <p:nvSpPr>
          <p:cNvPr name="TextBox 17" id="17"/>
          <p:cNvSpPr txBox="true"/>
          <p:nvPr/>
        </p:nvSpPr>
        <p:spPr>
          <a:xfrm rot="0">
            <a:off x="918773" y="6262659"/>
            <a:ext cx="3128205" cy="267899"/>
          </a:xfrm>
          <a:prstGeom prst="rect">
            <a:avLst/>
          </a:prstGeom>
        </p:spPr>
        <p:txBody>
          <a:bodyPr anchor="t" rtlCol="false" tIns="0" lIns="0" bIns="0" rIns="0">
            <a:spAutoFit/>
          </a:bodyPr>
          <a:lstStyle/>
          <a:p>
            <a:pPr algn="l">
              <a:lnSpc>
                <a:spcPts val="2092"/>
              </a:lnSpc>
            </a:pPr>
            <a:r>
              <a:rPr lang="en-US" sz="2092" b="true">
                <a:solidFill>
                  <a:srgbClr val="05276B"/>
                </a:solidFill>
                <a:latin typeface="Montserrat Semi-Bold"/>
                <a:ea typeface="Montserrat Semi-Bold"/>
                <a:cs typeface="Montserrat Semi-Bold"/>
                <a:sym typeface="Montserrat Semi-Bold"/>
              </a:rPr>
              <a:t> Handlers và Routing</a:t>
            </a:r>
          </a:p>
        </p:txBody>
      </p:sp>
      <p:sp>
        <p:nvSpPr>
          <p:cNvPr name="TextBox 18" id="18"/>
          <p:cNvSpPr txBox="true"/>
          <p:nvPr/>
        </p:nvSpPr>
        <p:spPr>
          <a:xfrm rot="0">
            <a:off x="918773" y="6658300"/>
            <a:ext cx="5373815" cy="2003029"/>
          </a:xfrm>
          <a:prstGeom prst="rect">
            <a:avLst/>
          </a:prstGeom>
        </p:spPr>
        <p:txBody>
          <a:bodyPr anchor="t" rtlCol="false" tIns="0" lIns="0" bIns="0" rIns="0">
            <a:spAutoFit/>
          </a:bodyPr>
          <a:lstStyle/>
          <a:p>
            <a:pPr algn="l" marL="314773" indent="-157386" lvl="1">
              <a:lnSpc>
                <a:spcPts val="2041"/>
              </a:lnSpc>
              <a:buFont typeface="Arial"/>
              <a:buChar char="•"/>
            </a:pPr>
            <a:r>
              <a:rPr lang="en-US" b="true" sz="1457">
                <a:solidFill>
                  <a:srgbClr val="05276B"/>
                </a:solidFill>
                <a:latin typeface="Montserrat Semi-Bold"/>
                <a:ea typeface="Montserrat Semi-Bold"/>
                <a:cs typeface="Montserrat Semi-Bold"/>
                <a:sym typeface="Montserrat Semi-Bold"/>
              </a:rPr>
              <a:t>AuthHandler / RegisterHandler: </a:t>
            </a:r>
            <a:r>
              <a:rPr lang="en-US" sz="1457">
                <a:solidFill>
                  <a:srgbClr val="05276B"/>
                </a:solidFill>
                <a:latin typeface="Montserrat Light"/>
                <a:ea typeface="Montserrat Light"/>
                <a:cs typeface="Montserrat Light"/>
                <a:sym typeface="Montserrat Light"/>
              </a:rPr>
              <a:t>đăng ký, xác thực OTP, quên mật khẩu</a:t>
            </a:r>
          </a:p>
          <a:p>
            <a:pPr algn="l" marL="314773" indent="-157386" lvl="1">
              <a:lnSpc>
                <a:spcPts val="2041"/>
              </a:lnSpc>
              <a:buFont typeface="Arial"/>
              <a:buChar char="•"/>
            </a:pPr>
            <a:r>
              <a:rPr lang="en-US" b="true" sz="1457">
                <a:solidFill>
                  <a:srgbClr val="05276B"/>
                </a:solidFill>
                <a:latin typeface="Montserrat Semi-Bold"/>
                <a:ea typeface="Montserrat Semi-Bold"/>
                <a:cs typeface="Montserrat Semi-Bold"/>
                <a:sym typeface="Montserrat Semi-Bold"/>
              </a:rPr>
              <a:t>LoginHandler: </a:t>
            </a:r>
            <a:r>
              <a:rPr lang="en-US" sz="1457">
                <a:solidFill>
                  <a:srgbClr val="05276B"/>
                </a:solidFill>
                <a:latin typeface="Montserrat Light"/>
                <a:ea typeface="Montserrat Light"/>
                <a:cs typeface="Montserrat Light"/>
                <a:sym typeface="Montserrat Light"/>
              </a:rPr>
              <a:t>bind user vào session, single-session kick, join phong chung</a:t>
            </a:r>
          </a:p>
          <a:p>
            <a:pPr algn="l" marL="314773" indent="-157386" lvl="1">
              <a:lnSpc>
                <a:spcPts val="2041"/>
              </a:lnSpc>
              <a:buFont typeface="Arial"/>
              <a:buChar char="•"/>
            </a:pPr>
            <a:r>
              <a:rPr lang="en-US" b="true" sz="1457">
                <a:solidFill>
                  <a:srgbClr val="05276B"/>
                </a:solidFill>
                <a:latin typeface="Montserrat Semi-Bold"/>
                <a:ea typeface="Montserrat Semi-Bold"/>
                <a:cs typeface="Montserrat Semi-Bold"/>
                <a:sym typeface="Montserrat Semi-Bold"/>
              </a:rPr>
              <a:t>UserSearchHandler: </a:t>
            </a:r>
            <a:r>
              <a:rPr lang="en-US" sz="1457">
                <a:solidFill>
                  <a:srgbClr val="05276B"/>
                </a:solidFill>
                <a:latin typeface="Montserrat Light"/>
                <a:ea typeface="Montserrat Light"/>
                <a:cs typeface="Montserrat Light"/>
                <a:sym typeface="Montserrat Light"/>
              </a:rPr>
              <a:t>tìm kiếm người dùng</a:t>
            </a:r>
          </a:p>
          <a:p>
            <a:pPr algn="l" marL="314773" indent="-157386" lvl="1">
              <a:lnSpc>
                <a:spcPts val="2041"/>
              </a:lnSpc>
              <a:buFont typeface="Arial"/>
              <a:buChar char="•"/>
            </a:pPr>
            <a:r>
              <a:rPr lang="en-US" b="true" sz="1457">
                <a:solidFill>
                  <a:srgbClr val="05276B"/>
                </a:solidFill>
                <a:latin typeface="Montserrat Semi-Bold"/>
                <a:ea typeface="Montserrat Semi-Bold"/>
                <a:cs typeface="Montserrat Semi-Bold"/>
                <a:sym typeface="Montserrat Semi-Bold"/>
              </a:rPr>
              <a:t>MessageRouter: </a:t>
            </a:r>
            <a:r>
              <a:rPr lang="en-US" sz="1457">
                <a:solidFill>
                  <a:srgbClr val="05276B"/>
                </a:solidFill>
                <a:latin typeface="Montserrat Light"/>
                <a:ea typeface="Montserrat Light"/>
                <a:cs typeface="Montserrat Light"/>
                <a:sym typeface="Montserrat Light"/>
              </a:rPr>
              <a:t>xử lị CHAT, HISTORY_REQ, OPEN_DM_REQUEST, CONVERSATION_LIST_REQUEST, OPEN_DM_REQUEST</a:t>
            </a:r>
          </a:p>
        </p:txBody>
      </p:sp>
      <p:sp>
        <p:nvSpPr>
          <p:cNvPr name="Freeform 19" id="19"/>
          <p:cNvSpPr/>
          <p:nvPr/>
        </p:nvSpPr>
        <p:spPr>
          <a:xfrm flipH="false" flipV="false" rot="0">
            <a:off x="8925360" y="5564382"/>
            <a:ext cx="437279" cy="437279"/>
          </a:xfrm>
          <a:custGeom>
            <a:avLst/>
            <a:gdLst/>
            <a:ahLst/>
            <a:cxnLst/>
            <a:rect r="r" b="b" t="t" l="l"/>
            <a:pathLst>
              <a:path h="437279" w="437279">
                <a:moveTo>
                  <a:pt x="0" y="0"/>
                </a:moveTo>
                <a:lnTo>
                  <a:pt x="437280" y="0"/>
                </a:lnTo>
                <a:lnTo>
                  <a:pt x="437280" y="437279"/>
                </a:lnTo>
                <a:lnTo>
                  <a:pt x="0" y="437279"/>
                </a:lnTo>
                <a:lnTo>
                  <a:pt x="0" y="0"/>
                </a:lnTo>
                <a:close/>
              </a:path>
            </a:pathLst>
          </a:custGeom>
          <a:blipFill>
            <a:blip r:embed="rId10"/>
            <a:stretch>
              <a:fillRect l="0" t="0" r="0" b="0"/>
            </a:stretch>
          </a:blipFill>
        </p:spPr>
      </p:sp>
      <p:sp>
        <p:nvSpPr>
          <p:cNvPr name="Freeform 20" id="20"/>
          <p:cNvSpPr/>
          <p:nvPr/>
        </p:nvSpPr>
        <p:spPr>
          <a:xfrm flipH="false" flipV="false" rot="0">
            <a:off x="6531255" y="5990729"/>
            <a:ext cx="5444130" cy="3017228"/>
          </a:xfrm>
          <a:custGeom>
            <a:avLst/>
            <a:gdLst/>
            <a:ahLst/>
            <a:cxnLst/>
            <a:rect r="r" b="b" t="t" l="l"/>
            <a:pathLst>
              <a:path h="3017228" w="5444130">
                <a:moveTo>
                  <a:pt x="0" y="0"/>
                </a:moveTo>
                <a:lnTo>
                  <a:pt x="5444130" y="0"/>
                </a:lnTo>
                <a:lnTo>
                  <a:pt x="5444130" y="3017228"/>
                </a:lnTo>
                <a:lnTo>
                  <a:pt x="0" y="3017228"/>
                </a:lnTo>
                <a:lnTo>
                  <a:pt x="0" y="0"/>
                </a:lnTo>
                <a:close/>
              </a:path>
            </a:pathLst>
          </a:custGeom>
          <a:blipFill>
            <a:blip r:embed="rId11"/>
            <a:stretch>
              <a:fillRect l="0" t="0" r="0" b="0"/>
            </a:stretch>
          </a:blipFill>
        </p:spPr>
      </p:sp>
      <p:sp>
        <p:nvSpPr>
          <p:cNvPr name="TextBox 21" id="21"/>
          <p:cNvSpPr txBox="true"/>
          <p:nvPr/>
        </p:nvSpPr>
        <p:spPr>
          <a:xfrm rot="0">
            <a:off x="6968884" y="6252519"/>
            <a:ext cx="3692213" cy="278654"/>
          </a:xfrm>
          <a:prstGeom prst="rect">
            <a:avLst/>
          </a:prstGeom>
        </p:spPr>
        <p:txBody>
          <a:bodyPr anchor="t" rtlCol="false" tIns="0" lIns="0" bIns="0" rIns="0">
            <a:spAutoFit/>
          </a:bodyPr>
          <a:lstStyle/>
          <a:p>
            <a:pPr algn="l">
              <a:lnSpc>
                <a:spcPts val="2141"/>
              </a:lnSpc>
            </a:pPr>
            <a:r>
              <a:rPr lang="en-US" sz="2141" b="true">
                <a:solidFill>
                  <a:srgbClr val="05276B"/>
                </a:solidFill>
                <a:latin typeface="Montserrat Semi-Bold"/>
                <a:ea typeface="Montserrat Semi-Bold"/>
                <a:cs typeface="Montserrat Semi-Bold"/>
                <a:sym typeface="Montserrat Semi-Bold"/>
              </a:rPr>
              <a:t>Registry và Online State</a:t>
            </a:r>
          </a:p>
        </p:txBody>
      </p:sp>
      <p:sp>
        <p:nvSpPr>
          <p:cNvPr name="TextBox 22" id="22"/>
          <p:cNvSpPr txBox="true"/>
          <p:nvPr/>
        </p:nvSpPr>
        <p:spPr>
          <a:xfrm rot="0">
            <a:off x="6968884" y="6700070"/>
            <a:ext cx="4752353" cy="1645135"/>
          </a:xfrm>
          <a:prstGeom prst="rect">
            <a:avLst/>
          </a:prstGeom>
        </p:spPr>
        <p:txBody>
          <a:bodyPr anchor="t" rtlCol="false" tIns="0" lIns="0" bIns="0" rIns="0">
            <a:spAutoFit/>
          </a:bodyPr>
          <a:lstStyle/>
          <a:p>
            <a:pPr algn="l" marL="346715" indent="-173358" lvl="1">
              <a:lnSpc>
                <a:spcPts val="2248"/>
              </a:lnSpc>
              <a:buFont typeface="Arial"/>
              <a:buChar char="•"/>
            </a:pPr>
            <a:r>
              <a:rPr lang="en-US" b="true" sz="1605">
                <a:solidFill>
                  <a:srgbClr val="05276B"/>
                </a:solidFill>
                <a:latin typeface="Montserrat Semi-Bold"/>
                <a:ea typeface="Montserrat Semi-Bold"/>
                <a:cs typeface="Montserrat Semi-Bold"/>
                <a:sym typeface="Montserrat Semi-Bold"/>
              </a:rPr>
              <a:t>OnlineUserRegistry: </a:t>
            </a:r>
            <a:r>
              <a:rPr lang="en-US" sz="1605">
                <a:solidFill>
                  <a:srgbClr val="05276B"/>
                </a:solidFill>
                <a:latin typeface="Montserrat Light"/>
                <a:ea typeface="Montserrat Light"/>
                <a:cs typeface="Montserrat Light"/>
                <a:sym typeface="Montserrat Light"/>
              </a:rPr>
              <a:t>quản lý user online, kick phiên cũ khi đăng nhập mới</a:t>
            </a:r>
          </a:p>
          <a:p>
            <a:pPr algn="l" marL="346715" indent="-173358" lvl="1">
              <a:lnSpc>
                <a:spcPts val="2248"/>
              </a:lnSpc>
              <a:buFont typeface="Arial"/>
              <a:buChar char="•"/>
            </a:pPr>
            <a:r>
              <a:rPr lang="en-US" b="true" sz="1605">
                <a:solidFill>
                  <a:srgbClr val="05276B"/>
                </a:solidFill>
                <a:latin typeface="Montserrat Semi-Bold"/>
                <a:ea typeface="Montserrat Semi-Bold"/>
                <a:cs typeface="Montserrat Semi-Bold"/>
                <a:sym typeface="Montserrat Semi-Bold"/>
              </a:rPr>
              <a:t>ConversationRegistry: </a:t>
            </a:r>
            <a:r>
              <a:rPr lang="en-US" sz="1605">
                <a:solidFill>
                  <a:srgbClr val="05276B"/>
                </a:solidFill>
                <a:latin typeface="Montserrat"/>
                <a:ea typeface="Montserrat"/>
                <a:cs typeface="Montserrat"/>
                <a:sym typeface="Montserrat"/>
              </a:rPr>
              <a:t>convId </a:t>
            </a:r>
            <a:r>
              <a:rPr lang="en-US" sz="1605">
                <a:solidFill>
                  <a:srgbClr val="05276B"/>
                </a:solidFill>
                <a:latin typeface="Montserrat Light"/>
                <a:ea typeface="Montserrat Light"/>
                <a:cs typeface="Montserrat Light"/>
                <a:sym typeface="Montserrat Light"/>
              </a:rPr>
              <a:t>→ tập ClientSession đang tham gia</a:t>
            </a:r>
          </a:p>
          <a:p>
            <a:pPr algn="l" marL="346715" indent="-173358" lvl="1">
              <a:lnSpc>
                <a:spcPts val="2248"/>
              </a:lnSpc>
              <a:buFont typeface="Arial"/>
              <a:buChar char="•"/>
            </a:pPr>
            <a:r>
              <a:rPr lang="en-US" sz="1605">
                <a:solidFill>
                  <a:srgbClr val="05276B"/>
                </a:solidFill>
                <a:latin typeface="Montserrat Light"/>
                <a:ea typeface="Montserrat Light"/>
                <a:cs typeface="Montserrat Light"/>
                <a:sym typeface="Montserrat Light"/>
              </a:rPr>
              <a:t>Dùng dễ push tin realtime và broadcast đúng hội thoại</a:t>
            </a:r>
          </a:p>
        </p:txBody>
      </p:sp>
      <p:sp>
        <p:nvSpPr>
          <p:cNvPr name="Freeform 23" id="23"/>
          <p:cNvSpPr/>
          <p:nvPr/>
        </p:nvSpPr>
        <p:spPr>
          <a:xfrm flipH="false" flipV="false" rot="0">
            <a:off x="14795837" y="5564382"/>
            <a:ext cx="448211" cy="437279"/>
          </a:xfrm>
          <a:custGeom>
            <a:avLst/>
            <a:gdLst/>
            <a:ahLst/>
            <a:cxnLst/>
            <a:rect r="r" b="b" t="t" l="l"/>
            <a:pathLst>
              <a:path h="437279" w="448211">
                <a:moveTo>
                  <a:pt x="0" y="0"/>
                </a:moveTo>
                <a:lnTo>
                  <a:pt x="448212" y="0"/>
                </a:lnTo>
                <a:lnTo>
                  <a:pt x="448212" y="437279"/>
                </a:lnTo>
                <a:lnTo>
                  <a:pt x="0" y="437279"/>
                </a:lnTo>
                <a:lnTo>
                  <a:pt x="0" y="0"/>
                </a:lnTo>
                <a:close/>
              </a:path>
            </a:pathLst>
          </a:custGeom>
          <a:blipFill>
            <a:blip r:embed="rId12"/>
            <a:stretch>
              <a:fillRect l="0" t="0" r="0" b="0"/>
            </a:stretch>
          </a:blipFill>
        </p:spPr>
      </p:sp>
      <p:sp>
        <p:nvSpPr>
          <p:cNvPr name="Freeform 24" id="24"/>
          <p:cNvSpPr/>
          <p:nvPr/>
        </p:nvSpPr>
        <p:spPr>
          <a:xfrm flipH="false" flipV="false" rot="0">
            <a:off x="11964453" y="5990729"/>
            <a:ext cx="5892341" cy="3017228"/>
          </a:xfrm>
          <a:custGeom>
            <a:avLst/>
            <a:gdLst/>
            <a:ahLst/>
            <a:cxnLst/>
            <a:rect r="r" b="b" t="t" l="l"/>
            <a:pathLst>
              <a:path h="3017228" w="5892341">
                <a:moveTo>
                  <a:pt x="0" y="0"/>
                </a:moveTo>
                <a:lnTo>
                  <a:pt x="5892341" y="0"/>
                </a:lnTo>
                <a:lnTo>
                  <a:pt x="5892341" y="3017228"/>
                </a:lnTo>
                <a:lnTo>
                  <a:pt x="0" y="3017228"/>
                </a:lnTo>
                <a:lnTo>
                  <a:pt x="0" y="0"/>
                </a:lnTo>
                <a:close/>
              </a:path>
            </a:pathLst>
          </a:custGeom>
          <a:blipFill>
            <a:blip r:embed="rId13"/>
            <a:stretch>
              <a:fillRect l="0" t="0" r="0" b="0"/>
            </a:stretch>
          </a:blipFill>
        </p:spPr>
      </p:sp>
      <p:sp>
        <p:nvSpPr>
          <p:cNvPr name="TextBox 25" id="25"/>
          <p:cNvSpPr txBox="true"/>
          <p:nvPr/>
        </p:nvSpPr>
        <p:spPr>
          <a:xfrm rot="0">
            <a:off x="12452369" y="6252519"/>
            <a:ext cx="4724019" cy="278654"/>
          </a:xfrm>
          <a:prstGeom prst="rect">
            <a:avLst/>
          </a:prstGeom>
        </p:spPr>
        <p:txBody>
          <a:bodyPr anchor="t" rtlCol="false" tIns="0" lIns="0" bIns="0" rIns="0">
            <a:spAutoFit/>
          </a:bodyPr>
          <a:lstStyle/>
          <a:p>
            <a:pPr algn="l">
              <a:lnSpc>
                <a:spcPts val="2141"/>
              </a:lnSpc>
            </a:pPr>
            <a:r>
              <a:rPr lang="en-US" sz="2141" b="true">
                <a:solidFill>
                  <a:srgbClr val="05276B"/>
                </a:solidFill>
                <a:latin typeface="Montserrat Semi-Bold"/>
                <a:ea typeface="Montserrat Semi-Bold"/>
                <a:cs typeface="Montserrat Semi-Bold"/>
                <a:sym typeface="Montserrat Semi-Bold"/>
              </a:rPr>
              <a:t>Service / Repository /DAO</a:t>
            </a:r>
          </a:p>
        </p:txBody>
      </p:sp>
      <p:sp>
        <p:nvSpPr>
          <p:cNvPr name="TextBox 26" id="26"/>
          <p:cNvSpPr txBox="true"/>
          <p:nvPr/>
        </p:nvSpPr>
        <p:spPr>
          <a:xfrm rot="0">
            <a:off x="12452369" y="6744459"/>
            <a:ext cx="4752353" cy="1977407"/>
          </a:xfrm>
          <a:prstGeom prst="rect">
            <a:avLst/>
          </a:prstGeom>
        </p:spPr>
        <p:txBody>
          <a:bodyPr anchor="t" rtlCol="false" tIns="0" lIns="0" bIns="0" rIns="0">
            <a:spAutoFit/>
          </a:bodyPr>
          <a:lstStyle/>
          <a:p>
            <a:pPr algn="l" marL="346716" indent="-173358" lvl="1">
              <a:lnSpc>
                <a:spcPts val="2248"/>
              </a:lnSpc>
              <a:buFont typeface="Arial"/>
              <a:buChar char="•"/>
            </a:pPr>
            <a:r>
              <a:rPr lang="en-US" b="true" sz="1605">
                <a:solidFill>
                  <a:srgbClr val="05276B"/>
                </a:solidFill>
                <a:latin typeface="Montserrat Semi-Bold"/>
                <a:ea typeface="Montserrat Semi-Bold"/>
                <a:cs typeface="Montserrat Semi-Bold"/>
                <a:sym typeface="Montserrat Semi-Bold"/>
              </a:rPr>
              <a:t>UserLoginService, UserRegisterService</a:t>
            </a:r>
          </a:p>
          <a:p>
            <a:pPr algn="l" marL="346716" indent="-173358" lvl="1">
              <a:lnSpc>
                <a:spcPts val="2248"/>
              </a:lnSpc>
              <a:buFont typeface="Arial"/>
              <a:buChar char="•"/>
            </a:pPr>
            <a:r>
              <a:rPr lang="en-US" b="true" sz="1605">
                <a:solidFill>
                  <a:srgbClr val="05276B"/>
                </a:solidFill>
                <a:latin typeface="Montserrat Semi-Bold"/>
                <a:ea typeface="Montserrat Semi-Bold"/>
                <a:cs typeface="Montserrat Semi-Bold"/>
                <a:sym typeface="Montserrat Semi-Bold"/>
              </a:rPr>
              <a:t>ChatStorageService: </a:t>
            </a:r>
            <a:r>
              <a:rPr lang="en-US" sz="1605">
                <a:solidFill>
                  <a:srgbClr val="05276B"/>
                </a:solidFill>
                <a:latin typeface="Montserrat Light"/>
                <a:ea typeface="Montserrat Light"/>
                <a:cs typeface="Montserrat Light"/>
                <a:sym typeface="Montserrat Light"/>
              </a:rPr>
              <a:t>lưu tin trong transaction</a:t>
            </a:r>
          </a:p>
          <a:p>
            <a:pPr algn="l" marL="346716" indent="-173358" lvl="1">
              <a:lnSpc>
                <a:spcPts val="2248"/>
              </a:lnSpc>
              <a:buFont typeface="Arial"/>
              <a:buChar char="•"/>
            </a:pPr>
            <a:r>
              <a:rPr lang="en-US" sz="1605">
                <a:solidFill>
                  <a:srgbClr val="05276B"/>
                </a:solidFill>
                <a:latin typeface="Montserrat Light"/>
                <a:ea typeface="Montserrat Light"/>
                <a:cs typeface="Montserrat Light"/>
                <a:sym typeface="Montserrat Light"/>
              </a:rPr>
              <a:t>UserRepository, ConversationDao, MessageDao</a:t>
            </a:r>
          </a:p>
          <a:p>
            <a:pPr algn="l" marL="346716" indent="-173358" lvl="1">
              <a:lnSpc>
                <a:spcPts val="2248"/>
              </a:lnSpc>
              <a:buFont typeface="Arial"/>
              <a:buChar char="•"/>
            </a:pPr>
            <a:r>
              <a:rPr lang="en-US" sz="1605">
                <a:solidFill>
                  <a:srgbClr val="05276B"/>
                </a:solidFill>
                <a:latin typeface="Montserrat Light"/>
                <a:ea typeface="Montserrat Light"/>
                <a:cs typeface="Montserrat Light"/>
                <a:sym typeface="Montserrat Light"/>
              </a:rPr>
              <a:t>DatabaseConnectionFactory/</a:t>
            </a:r>
          </a:p>
          <a:p>
            <a:pPr algn="l" marL="346716" indent="-173358" lvl="1">
              <a:lnSpc>
                <a:spcPts val="2248"/>
              </a:lnSpc>
              <a:buFont typeface="Arial"/>
              <a:buChar char="•"/>
            </a:pPr>
            <a:r>
              <a:rPr lang="en-US" sz="1605">
                <a:solidFill>
                  <a:srgbClr val="05276B"/>
                </a:solidFill>
                <a:latin typeface="Montserrat Light"/>
                <a:ea typeface="Montserrat Light"/>
                <a:cs typeface="Montserrat Light"/>
                <a:sym typeface="Montserrat Light"/>
              </a:rPr>
              <a:t>DatabaseInitializer→ SQLite WAL</a:t>
            </a:r>
          </a:p>
        </p:txBody>
      </p:sp>
      <p:sp>
        <p:nvSpPr>
          <p:cNvPr name="Freeform 27" id="27"/>
          <p:cNvSpPr/>
          <p:nvPr/>
        </p:nvSpPr>
        <p:spPr>
          <a:xfrm flipH="false" flipV="false" rot="0">
            <a:off x="431206" y="8997026"/>
            <a:ext cx="17425588" cy="1082267"/>
          </a:xfrm>
          <a:custGeom>
            <a:avLst/>
            <a:gdLst/>
            <a:ahLst/>
            <a:cxnLst/>
            <a:rect r="r" b="b" t="t" l="l"/>
            <a:pathLst>
              <a:path h="1082267" w="17425588">
                <a:moveTo>
                  <a:pt x="0" y="0"/>
                </a:moveTo>
                <a:lnTo>
                  <a:pt x="17425588" y="0"/>
                </a:lnTo>
                <a:lnTo>
                  <a:pt x="17425588" y="1082266"/>
                </a:lnTo>
                <a:lnTo>
                  <a:pt x="0" y="1082266"/>
                </a:lnTo>
                <a:lnTo>
                  <a:pt x="0" y="0"/>
                </a:lnTo>
                <a:close/>
              </a:path>
            </a:pathLst>
          </a:custGeom>
          <a:blipFill>
            <a:blip r:embed="rId14"/>
            <a:stretch>
              <a:fillRect l="0" t="0" r="0" b="0"/>
            </a:stretch>
          </a:blipFill>
        </p:spPr>
      </p:sp>
      <p:sp>
        <p:nvSpPr>
          <p:cNvPr name="TextBox 28" id="28"/>
          <p:cNvSpPr txBox="true"/>
          <p:nvPr/>
        </p:nvSpPr>
        <p:spPr>
          <a:xfrm rot="0">
            <a:off x="863938" y="9320090"/>
            <a:ext cx="16489703" cy="556124"/>
          </a:xfrm>
          <a:prstGeom prst="rect">
            <a:avLst/>
          </a:prstGeom>
        </p:spPr>
        <p:txBody>
          <a:bodyPr anchor="t" rtlCol="false" tIns="0" lIns="0" bIns="0" rIns="0">
            <a:spAutoFit/>
          </a:bodyPr>
          <a:lstStyle/>
          <a:p>
            <a:pPr algn="l">
              <a:lnSpc>
                <a:spcPts val="2227"/>
              </a:lnSpc>
            </a:pPr>
            <a:r>
              <a:rPr lang="en-US" sz="1856" b="true">
                <a:solidFill>
                  <a:srgbClr val="05276B"/>
                </a:solidFill>
                <a:latin typeface="Montserrat Semi-Bold"/>
                <a:ea typeface="Montserrat Semi-Bold"/>
                <a:cs typeface="Montserrat Semi-Bold"/>
                <a:sym typeface="Montserrat Semi-Bold"/>
              </a:rPr>
              <a:t>Mục tiêu thiết kế: </a:t>
            </a:r>
            <a:r>
              <a:rPr lang="en-US" sz="1856">
                <a:solidFill>
                  <a:srgbClr val="05276B"/>
                </a:solidFill>
                <a:latin typeface="Montserrat Light"/>
                <a:ea typeface="Montserrat Light"/>
                <a:cs typeface="Montserrat Light"/>
                <a:sym typeface="Montserrat Light"/>
              </a:rPr>
              <a:t>ClientSession chi quản lý kết nối và danh tính; logic nghiệp vụ được tách sang Handler, Router, Service và Repository để dễ kiểm thử, mở rộng và tránh phụ thuộc luồng</a:t>
            </a:r>
          </a:p>
        </p:txBody>
      </p:sp>
      <p:sp>
        <p:nvSpPr>
          <p:cNvPr name="TextBox 29" id="29"/>
          <p:cNvSpPr txBox="true"/>
          <p:nvPr/>
        </p:nvSpPr>
        <p:spPr>
          <a:xfrm rot="0">
            <a:off x="14751952" y="2047836"/>
            <a:ext cx="2708666" cy="192484"/>
          </a:xfrm>
          <a:prstGeom prst="rect">
            <a:avLst/>
          </a:prstGeom>
        </p:spPr>
        <p:txBody>
          <a:bodyPr anchor="t" rtlCol="false" tIns="0" lIns="0" bIns="0" rIns="0">
            <a:spAutoFit/>
          </a:bodyPr>
          <a:lstStyle/>
          <a:p>
            <a:pPr algn="r">
              <a:lnSpc>
                <a:spcPts val="1441"/>
              </a:lnSpc>
            </a:pPr>
            <a:r>
              <a:rPr lang="en-US" sz="1441">
                <a:solidFill>
                  <a:srgbClr val="05276B"/>
                </a:solidFill>
                <a:latin typeface="Montserrat Light"/>
                <a:ea typeface="Montserrat Light"/>
                <a:cs typeface="Montserrat Light"/>
                <a:sym typeface="Montserrat Light"/>
              </a:rPr>
              <a:t>1 CONNECTION ↔ 1 SESSION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662877" y="616375"/>
            <a:ext cx="10418621" cy="572047"/>
          </a:xfrm>
          <a:prstGeom prst="rect">
            <a:avLst/>
          </a:prstGeom>
        </p:spPr>
        <p:txBody>
          <a:bodyPr anchor="t" rtlCol="false" tIns="0" lIns="0" bIns="0" rIns="0">
            <a:spAutoFit/>
          </a:bodyPr>
          <a:lstStyle/>
          <a:p>
            <a:pPr algn="l">
              <a:lnSpc>
                <a:spcPts val="4760"/>
              </a:lnSpc>
            </a:pPr>
            <a:r>
              <a:rPr lang="en-US" sz="3400" b="true">
                <a:solidFill>
                  <a:srgbClr val="263E7A"/>
                </a:solidFill>
                <a:latin typeface="Muli Bold"/>
                <a:ea typeface="Muli Bold"/>
                <a:cs typeface="Muli Bold"/>
                <a:sym typeface="Muli Bold"/>
              </a:rPr>
              <a:t>Luồng giao tiếp Client – Server (Sequential Flow)</a:t>
            </a:r>
          </a:p>
        </p:txBody>
      </p:sp>
      <p:sp>
        <p:nvSpPr>
          <p:cNvPr name="Freeform 4" id="4"/>
          <p:cNvSpPr/>
          <p:nvPr/>
        </p:nvSpPr>
        <p:spPr>
          <a:xfrm flipH="false" flipV="false" rot="0">
            <a:off x="431206" y="1705390"/>
            <a:ext cx="4580503" cy="4733550"/>
          </a:xfrm>
          <a:custGeom>
            <a:avLst/>
            <a:gdLst/>
            <a:ahLst/>
            <a:cxnLst/>
            <a:rect r="r" b="b" t="t" l="l"/>
            <a:pathLst>
              <a:path h="4733550" w="4580503">
                <a:moveTo>
                  <a:pt x="0" y="0"/>
                </a:moveTo>
                <a:lnTo>
                  <a:pt x="4580503" y="0"/>
                </a:lnTo>
                <a:lnTo>
                  <a:pt x="4580503" y="4733550"/>
                </a:lnTo>
                <a:lnTo>
                  <a:pt x="0" y="4733550"/>
                </a:lnTo>
                <a:lnTo>
                  <a:pt x="0" y="0"/>
                </a:lnTo>
                <a:close/>
              </a:path>
            </a:pathLst>
          </a:custGeom>
          <a:blipFill>
            <a:blip r:embed="rId3"/>
            <a:stretch>
              <a:fillRect l="0" t="0" r="0" b="0"/>
            </a:stretch>
          </a:blipFill>
        </p:spPr>
      </p:sp>
      <p:sp>
        <p:nvSpPr>
          <p:cNvPr name="Freeform 5" id="5"/>
          <p:cNvSpPr/>
          <p:nvPr/>
        </p:nvSpPr>
        <p:spPr>
          <a:xfrm flipH="false" flipV="false" rot="0">
            <a:off x="649846" y="2569017"/>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4"/>
            <a:stretch>
              <a:fillRect l="0" t="0" r="0" b="0"/>
            </a:stretch>
          </a:blipFill>
        </p:spPr>
      </p:sp>
      <p:sp>
        <p:nvSpPr>
          <p:cNvPr name="TextBox 6" id="6"/>
          <p:cNvSpPr txBox="true"/>
          <p:nvPr/>
        </p:nvSpPr>
        <p:spPr>
          <a:xfrm rot="0">
            <a:off x="1394008" y="2905333"/>
            <a:ext cx="2376177" cy="6172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UI — Controller / ChatClient</a:t>
            </a:r>
          </a:p>
          <a:p>
            <a:pPr algn="l">
              <a:lnSpc>
                <a:spcPts val="1679"/>
              </a:lnSpc>
            </a:pPr>
            <a:r>
              <a:rPr lang="en-US" sz="1200" b="true">
                <a:solidFill>
                  <a:srgbClr val="263E7A"/>
                </a:solidFill>
                <a:latin typeface="Montserrat Semi-Bold"/>
                <a:ea typeface="Montserrat Semi-Bold"/>
                <a:cs typeface="Montserrat Semi-Bold"/>
                <a:sym typeface="Montserrat Semi-Bold"/>
              </a:rPr>
              <a:t>Tạo ProtocolMessage (JSON format)</a:t>
            </a:r>
          </a:p>
        </p:txBody>
      </p:sp>
      <p:sp>
        <p:nvSpPr>
          <p:cNvPr name="Freeform 7" id="7"/>
          <p:cNvSpPr/>
          <p:nvPr/>
        </p:nvSpPr>
        <p:spPr>
          <a:xfrm flipH="false" flipV="false" rot="0">
            <a:off x="649846" y="3421712"/>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5"/>
            <a:stretch>
              <a:fillRect l="0" t="0" r="0" b="0"/>
            </a:stretch>
          </a:blipFill>
        </p:spPr>
      </p:sp>
      <p:sp>
        <p:nvSpPr>
          <p:cNvPr name="TextBox 8" id="8"/>
          <p:cNvSpPr txBox="true"/>
          <p:nvPr/>
        </p:nvSpPr>
        <p:spPr>
          <a:xfrm rot="0">
            <a:off x="774124" y="3697414"/>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2</a:t>
            </a:r>
          </a:p>
        </p:txBody>
      </p:sp>
      <p:sp>
        <p:nvSpPr>
          <p:cNvPr name="TextBox 9" id="9"/>
          <p:cNvSpPr txBox="true"/>
          <p:nvPr/>
        </p:nvSpPr>
        <p:spPr>
          <a:xfrm rot="0">
            <a:off x="1394008" y="3851737"/>
            <a:ext cx="2705186"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ChatClient gửi JSON(UTF-8) qua</a:t>
            </a:r>
          </a:p>
          <a:p>
            <a:pPr algn="l">
              <a:lnSpc>
                <a:spcPts val="1679"/>
              </a:lnSpc>
            </a:pPr>
            <a:r>
              <a:rPr lang="en-US" sz="1200" b="true">
                <a:solidFill>
                  <a:srgbClr val="263E7A"/>
                </a:solidFill>
                <a:latin typeface="Montserrat Semi-Bold"/>
                <a:ea typeface="Montserrat Semi-Bold"/>
                <a:cs typeface="Montserrat Semi-Bold"/>
                <a:sym typeface="Montserrat Semi-Bold"/>
              </a:rPr>
              <a:t>Socket tới Server.</a:t>
            </a:r>
          </a:p>
        </p:txBody>
      </p:sp>
      <p:sp>
        <p:nvSpPr>
          <p:cNvPr name="Freeform 10" id="10"/>
          <p:cNvSpPr/>
          <p:nvPr/>
        </p:nvSpPr>
        <p:spPr>
          <a:xfrm flipH="false" flipV="false" rot="0">
            <a:off x="649846" y="4493047"/>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6"/>
            <a:stretch>
              <a:fillRect l="0" t="0" r="0" b="0"/>
            </a:stretch>
          </a:blipFill>
        </p:spPr>
      </p:sp>
      <p:sp>
        <p:nvSpPr>
          <p:cNvPr name="TextBox 11" id="11"/>
          <p:cNvSpPr txBox="true"/>
          <p:nvPr/>
        </p:nvSpPr>
        <p:spPr>
          <a:xfrm rot="0">
            <a:off x="1394008" y="4798141"/>
            <a:ext cx="3399761"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ChatServer nhận request, SessionValidator</a:t>
            </a:r>
          </a:p>
          <a:p>
            <a:pPr algn="l">
              <a:lnSpc>
                <a:spcPts val="1679"/>
              </a:lnSpc>
            </a:pPr>
            <a:r>
              <a:rPr lang="en-US" sz="1200" b="true">
                <a:solidFill>
                  <a:srgbClr val="263E7A"/>
                </a:solidFill>
                <a:latin typeface="Montserrat Semi-Bold"/>
                <a:ea typeface="Montserrat Semi-Bold"/>
                <a:cs typeface="Montserrat Semi-Bold"/>
                <a:sym typeface="Montserrat Semi-Bold"/>
              </a:rPr>
              <a:t>kiểm tra xác thực và quyển truy cập.</a:t>
            </a:r>
          </a:p>
        </p:txBody>
      </p:sp>
      <p:sp>
        <p:nvSpPr>
          <p:cNvPr name="Freeform 12" id="12"/>
          <p:cNvSpPr/>
          <p:nvPr/>
        </p:nvSpPr>
        <p:spPr>
          <a:xfrm flipH="false" flipV="false" rot="0">
            <a:off x="649846" y="5356674"/>
            <a:ext cx="666851" cy="644987"/>
          </a:xfrm>
          <a:custGeom>
            <a:avLst/>
            <a:gdLst/>
            <a:ahLst/>
            <a:cxnLst/>
            <a:rect r="r" b="b" t="t" l="l"/>
            <a:pathLst>
              <a:path h="644987" w="666851">
                <a:moveTo>
                  <a:pt x="0" y="0"/>
                </a:moveTo>
                <a:lnTo>
                  <a:pt x="666851" y="0"/>
                </a:lnTo>
                <a:lnTo>
                  <a:pt x="666851" y="644987"/>
                </a:lnTo>
                <a:lnTo>
                  <a:pt x="0" y="644987"/>
                </a:lnTo>
                <a:lnTo>
                  <a:pt x="0" y="0"/>
                </a:lnTo>
                <a:close/>
              </a:path>
            </a:pathLst>
          </a:custGeom>
          <a:blipFill>
            <a:blip r:embed="rId7"/>
            <a:stretch>
              <a:fillRect l="0" t="0" r="0" b="0"/>
            </a:stretch>
          </a:blipFill>
        </p:spPr>
      </p:sp>
      <p:sp>
        <p:nvSpPr>
          <p:cNvPr name="TextBox 13" id="13"/>
          <p:cNvSpPr txBox="true"/>
          <p:nvPr/>
        </p:nvSpPr>
        <p:spPr>
          <a:xfrm rot="0">
            <a:off x="774124" y="5615691"/>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4</a:t>
            </a:r>
          </a:p>
        </p:txBody>
      </p:sp>
      <p:sp>
        <p:nvSpPr>
          <p:cNvPr name="TextBox 14" id="14"/>
          <p:cNvSpPr txBox="true"/>
          <p:nvPr/>
        </p:nvSpPr>
        <p:spPr>
          <a:xfrm rot="0">
            <a:off x="1394008" y="5806267"/>
            <a:ext cx="3399761"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Chuyển request đến Handler / Router</a:t>
            </a:r>
          </a:p>
          <a:p>
            <a:pPr algn="l">
              <a:lnSpc>
                <a:spcPts val="1679"/>
              </a:lnSpc>
            </a:pPr>
            <a:r>
              <a:rPr lang="en-US" sz="1200" b="true">
                <a:solidFill>
                  <a:srgbClr val="263E7A"/>
                </a:solidFill>
                <a:latin typeface="Montserrat Semi-Bold"/>
                <a:ea typeface="Montserrat Semi-Bold"/>
                <a:cs typeface="Montserrat Semi-Bold"/>
                <a:sym typeface="Montserrat Semi-Bold"/>
              </a:rPr>
              <a:t>phù hợp (Auth, Message, Conversation, …).</a:t>
            </a:r>
          </a:p>
        </p:txBody>
      </p:sp>
      <p:sp>
        <p:nvSpPr>
          <p:cNvPr name="Freeform 15" id="15"/>
          <p:cNvSpPr/>
          <p:nvPr/>
        </p:nvSpPr>
        <p:spPr>
          <a:xfrm flipH="false" flipV="false" rot="0">
            <a:off x="649846" y="6428009"/>
            <a:ext cx="666851" cy="644987"/>
          </a:xfrm>
          <a:custGeom>
            <a:avLst/>
            <a:gdLst/>
            <a:ahLst/>
            <a:cxnLst/>
            <a:rect r="r" b="b" t="t" l="l"/>
            <a:pathLst>
              <a:path h="644987" w="666851">
                <a:moveTo>
                  <a:pt x="0" y="0"/>
                </a:moveTo>
                <a:lnTo>
                  <a:pt x="666851" y="0"/>
                </a:lnTo>
                <a:lnTo>
                  <a:pt x="666851" y="644987"/>
                </a:lnTo>
                <a:lnTo>
                  <a:pt x="0" y="644987"/>
                </a:lnTo>
                <a:lnTo>
                  <a:pt x="0" y="0"/>
                </a:lnTo>
                <a:close/>
              </a:path>
            </a:pathLst>
          </a:custGeom>
          <a:blipFill>
            <a:blip r:embed="rId8"/>
            <a:stretch>
              <a:fillRect l="0" t="0" r="0" b="0"/>
            </a:stretch>
          </a:blipFill>
        </p:spPr>
      </p:sp>
      <p:sp>
        <p:nvSpPr>
          <p:cNvPr name="TextBox 16" id="16"/>
          <p:cNvSpPr txBox="true"/>
          <p:nvPr/>
        </p:nvSpPr>
        <p:spPr>
          <a:xfrm rot="0">
            <a:off x="1394008" y="6793819"/>
            <a:ext cx="3162143"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Handler gọi Service →DAO → SQL</a:t>
            </a:r>
          </a:p>
          <a:p>
            <a:pPr algn="l">
              <a:lnSpc>
                <a:spcPts val="1679"/>
              </a:lnSpc>
            </a:pPr>
            <a:r>
              <a:rPr lang="en-US" sz="1200" b="true">
                <a:solidFill>
                  <a:srgbClr val="263E7A"/>
                </a:solidFill>
                <a:latin typeface="Montserrat Semi-Bold"/>
                <a:ea typeface="Montserrat Semi-Bold"/>
                <a:cs typeface="Montserrat Semi-Bold"/>
                <a:sym typeface="Montserrat Semi-Bold"/>
              </a:rPr>
              <a:t>đẽ xý lý dữ liệu.</a:t>
            </a:r>
          </a:p>
        </p:txBody>
      </p:sp>
      <p:sp>
        <p:nvSpPr>
          <p:cNvPr name="Freeform 17" id="17"/>
          <p:cNvSpPr/>
          <p:nvPr/>
        </p:nvSpPr>
        <p:spPr>
          <a:xfrm flipH="false" flipV="false" rot="0">
            <a:off x="649846" y="7280704"/>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9"/>
            <a:stretch>
              <a:fillRect l="0" t="0" r="0" b="0"/>
            </a:stretch>
          </a:blipFill>
        </p:spPr>
      </p:sp>
      <p:sp>
        <p:nvSpPr>
          <p:cNvPr name="TextBox 18" id="18"/>
          <p:cNvSpPr txBox="true"/>
          <p:nvPr/>
        </p:nvSpPr>
        <p:spPr>
          <a:xfrm rot="0">
            <a:off x="1394008" y="7659694"/>
            <a:ext cx="3619100" cy="6172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Server gửi response (JSON),</a:t>
            </a:r>
          </a:p>
          <a:p>
            <a:pPr algn="l">
              <a:lnSpc>
                <a:spcPts val="1679"/>
              </a:lnSpc>
            </a:pPr>
            <a:r>
              <a:rPr lang="en-US" sz="1200" b="true">
                <a:solidFill>
                  <a:srgbClr val="263E7A"/>
                </a:solidFill>
                <a:latin typeface="Montserrat Semi-Bold"/>
                <a:ea typeface="Montserrat Semi-Bold"/>
                <a:cs typeface="Montserrat Semi-Bold"/>
                <a:sym typeface="Montserrat Semi-Bold"/>
              </a:rPr>
              <a:t>Client nhận qua ChatReceiver và cập nhật UI thông qua Platform.runLater().</a:t>
            </a:r>
          </a:p>
        </p:txBody>
      </p:sp>
      <p:sp>
        <p:nvSpPr>
          <p:cNvPr name="Freeform 19" id="19"/>
          <p:cNvSpPr/>
          <p:nvPr/>
        </p:nvSpPr>
        <p:spPr>
          <a:xfrm flipH="false" flipV="false" rot="0">
            <a:off x="5000777" y="1705390"/>
            <a:ext cx="13074657" cy="6876220"/>
          </a:xfrm>
          <a:custGeom>
            <a:avLst/>
            <a:gdLst/>
            <a:ahLst/>
            <a:cxnLst/>
            <a:rect r="r" b="b" t="t" l="l"/>
            <a:pathLst>
              <a:path h="6876220" w="13074657">
                <a:moveTo>
                  <a:pt x="0" y="0"/>
                </a:moveTo>
                <a:lnTo>
                  <a:pt x="13074657" y="0"/>
                </a:lnTo>
                <a:lnTo>
                  <a:pt x="13074657" y="6876220"/>
                </a:lnTo>
                <a:lnTo>
                  <a:pt x="0" y="6876220"/>
                </a:lnTo>
                <a:lnTo>
                  <a:pt x="0" y="0"/>
                </a:lnTo>
                <a:close/>
              </a:path>
            </a:pathLst>
          </a:custGeom>
          <a:blipFill>
            <a:blip r:embed="rId10"/>
            <a:stretch>
              <a:fillRect l="0" t="0" r="0" b="0"/>
            </a:stretch>
          </a:blipFill>
        </p:spPr>
      </p:sp>
      <p:sp>
        <p:nvSpPr>
          <p:cNvPr name="TextBox 20" id="20"/>
          <p:cNvSpPr txBox="true"/>
          <p:nvPr/>
        </p:nvSpPr>
        <p:spPr>
          <a:xfrm rot="0">
            <a:off x="15033682" y="2145546"/>
            <a:ext cx="2701111" cy="198120"/>
          </a:xfrm>
          <a:prstGeom prst="rect">
            <a:avLst/>
          </a:prstGeom>
        </p:spPr>
        <p:txBody>
          <a:bodyPr anchor="t" rtlCol="false" tIns="0" lIns="0" bIns="0" rIns="0">
            <a:spAutoFit/>
          </a:bodyPr>
          <a:lstStyle/>
          <a:p>
            <a:pPr algn="r">
              <a:lnSpc>
                <a:spcPts val="1679"/>
              </a:lnSpc>
            </a:pPr>
            <a:r>
              <a:rPr lang="en-US" sz="1200">
                <a:solidFill>
                  <a:srgbClr val="263E7A"/>
                </a:solidFill>
                <a:latin typeface="Montserrat"/>
                <a:ea typeface="Montserrat"/>
                <a:cs typeface="Montserrat"/>
                <a:sym typeface="Montserrat"/>
              </a:rPr>
              <a:t>JSON from Lines qua TCP Socket</a:t>
            </a:r>
          </a:p>
        </p:txBody>
      </p:sp>
      <p:sp>
        <p:nvSpPr>
          <p:cNvPr name="Freeform 21" id="21"/>
          <p:cNvSpPr/>
          <p:nvPr/>
        </p:nvSpPr>
        <p:spPr>
          <a:xfrm flipH="false" flipV="false" rot="0">
            <a:off x="5219417" y="2569017"/>
            <a:ext cx="1967758" cy="863627"/>
          </a:xfrm>
          <a:custGeom>
            <a:avLst/>
            <a:gdLst/>
            <a:ahLst/>
            <a:cxnLst/>
            <a:rect r="r" b="b" t="t" l="l"/>
            <a:pathLst>
              <a:path h="863627" w="1967758">
                <a:moveTo>
                  <a:pt x="0" y="0"/>
                </a:moveTo>
                <a:lnTo>
                  <a:pt x="1967757" y="0"/>
                </a:lnTo>
                <a:lnTo>
                  <a:pt x="1967757" y="863627"/>
                </a:lnTo>
                <a:lnTo>
                  <a:pt x="0" y="863627"/>
                </a:lnTo>
                <a:lnTo>
                  <a:pt x="0" y="0"/>
                </a:lnTo>
                <a:close/>
              </a:path>
            </a:pathLst>
          </a:custGeom>
          <a:blipFill>
            <a:blip r:embed="rId11"/>
            <a:stretch>
              <a:fillRect l="0" t="0" r="0" b="0"/>
            </a:stretch>
          </a:blipFill>
        </p:spPr>
      </p:sp>
      <p:sp>
        <p:nvSpPr>
          <p:cNvPr name="Freeform 22" id="22"/>
          <p:cNvSpPr/>
          <p:nvPr/>
        </p:nvSpPr>
        <p:spPr>
          <a:xfrm flipH="false" flipV="false" rot="0">
            <a:off x="7176242" y="2569017"/>
            <a:ext cx="1541410" cy="863627"/>
          </a:xfrm>
          <a:custGeom>
            <a:avLst/>
            <a:gdLst/>
            <a:ahLst/>
            <a:cxnLst/>
            <a:rect r="r" b="b" t="t" l="l"/>
            <a:pathLst>
              <a:path h="863627" w="1541410">
                <a:moveTo>
                  <a:pt x="0" y="0"/>
                </a:moveTo>
                <a:lnTo>
                  <a:pt x="1541410" y="0"/>
                </a:lnTo>
                <a:lnTo>
                  <a:pt x="1541410" y="863627"/>
                </a:lnTo>
                <a:lnTo>
                  <a:pt x="0" y="863627"/>
                </a:lnTo>
                <a:lnTo>
                  <a:pt x="0" y="0"/>
                </a:lnTo>
                <a:close/>
              </a:path>
            </a:pathLst>
          </a:custGeom>
          <a:blipFill>
            <a:blip r:embed="rId12"/>
            <a:stretch>
              <a:fillRect l="0" t="0" r="0" b="0"/>
            </a:stretch>
          </a:blipFill>
        </p:spPr>
      </p:sp>
      <p:sp>
        <p:nvSpPr>
          <p:cNvPr name="TextBox 23" id="23"/>
          <p:cNvSpPr txBox="true"/>
          <p:nvPr/>
        </p:nvSpPr>
        <p:spPr>
          <a:xfrm rot="0">
            <a:off x="7485571" y="2981780"/>
            <a:ext cx="849675"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ChatClient</a:t>
            </a:r>
          </a:p>
        </p:txBody>
      </p:sp>
      <p:sp>
        <p:nvSpPr>
          <p:cNvPr name="Freeform 24" id="24"/>
          <p:cNvSpPr/>
          <p:nvPr/>
        </p:nvSpPr>
        <p:spPr>
          <a:xfrm flipH="false" flipV="false" rot="0">
            <a:off x="8706721" y="2569017"/>
            <a:ext cx="1530478" cy="863627"/>
          </a:xfrm>
          <a:custGeom>
            <a:avLst/>
            <a:gdLst/>
            <a:ahLst/>
            <a:cxnLst/>
            <a:rect r="r" b="b" t="t" l="l"/>
            <a:pathLst>
              <a:path h="863627" w="1530478">
                <a:moveTo>
                  <a:pt x="0" y="0"/>
                </a:moveTo>
                <a:lnTo>
                  <a:pt x="1530478" y="0"/>
                </a:lnTo>
                <a:lnTo>
                  <a:pt x="1530478" y="863627"/>
                </a:lnTo>
                <a:lnTo>
                  <a:pt x="0" y="863627"/>
                </a:lnTo>
                <a:lnTo>
                  <a:pt x="0" y="0"/>
                </a:lnTo>
                <a:close/>
              </a:path>
            </a:pathLst>
          </a:custGeom>
          <a:blipFill>
            <a:blip r:embed="rId13"/>
            <a:stretch>
              <a:fillRect l="0" t="0" r="0" b="0"/>
            </a:stretch>
          </a:blipFill>
        </p:spPr>
      </p:sp>
      <p:sp>
        <p:nvSpPr>
          <p:cNvPr name="TextBox 25" id="25"/>
          <p:cNvSpPr txBox="true"/>
          <p:nvPr/>
        </p:nvSpPr>
        <p:spPr>
          <a:xfrm rot="0">
            <a:off x="8877123" y="2979229"/>
            <a:ext cx="1082444"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ChatReceiver</a:t>
            </a:r>
          </a:p>
        </p:txBody>
      </p:sp>
      <p:sp>
        <p:nvSpPr>
          <p:cNvPr name="Freeform 26" id="26"/>
          <p:cNvSpPr/>
          <p:nvPr/>
        </p:nvSpPr>
        <p:spPr>
          <a:xfrm flipH="false" flipV="false" rot="0">
            <a:off x="10226267" y="2569017"/>
            <a:ext cx="1311838" cy="863627"/>
          </a:xfrm>
          <a:custGeom>
            <a:avLst/>
            <a:gdLst/>
            <a:ahLst/>
            <a:cxnLst/>
            <a:rect r="r" b="b" t="t" l="l"/>
            <a:pathLst>
              <a:path h="863627" w="1311838">
                <a:moveTo>
                  <a:pt x="0" y="0"/>
                </a:moveTo>
                <a:lnTo>
                  <a:pt x="1311838" y="0"/>
                </a:lnTo>
                <a:lnTo>
                  <a:pt x="1311838" y="863627"/>
                </a:lnTo>
                <a:lnTo>
                  <a:pt x="0" y="863627"/>
                </a:lnTo>
                <a:lnTo>
                  <a:pt x="0" y="0"/>
                </a:lnTo>
                <a:close/>
              </a:path>
            </a:pathLst>
          </a:custGeom>
          <a:blipFill>
            <a:blip r:embed="rId14"/>
            <a:stretch>
              <a:fillRect l="0" t="0" r="0" b="0"/>
            </a:stretch>
          </a:blipFill>
        </p:spPr>
      </p:sp>
      <p:sp>
        <p:nvSpPr>
          <p:cNvPr name="TextBox 27" id="27"/>
          <p:cNvSpPr txBox="true"/>
          <p:nvPr/>
        </p:nvSpPr>
        <p:spPr>
          <a:xfrm rot="0">
            <a:off x="10403658" y="2979229"/>
            <a:ext cx="1028265"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ChatServer</a:t>
            </a:r>
          </a:p>
        </p:txBody>
      </p:sp>
      <p:sp>
        <p:nvSpPr>
          <p:cNvPr name="Freeform 28" id="28"/>
          <p:cNvSpPr/>
          <p:nvPr/>
        </p:nvSpPr>
        <p:spPr>
          <a:xfrm flipH="false" flipV="false" rot="0">
            <a:off x="11527173" y="2569017"/>
            <a:ext cx="1760050" cy="863627"/>
          </a:xfrm>
          <a:custGeom>
            <a:avLst/>
            <a:gdLst/>
            <a:ahLst/>
            <a:cxnLst/>
            <a:rect r="r" b="b" t="t" l="l"/>
            <a:pathLst>
              <a:path h="863627" w="1760050">
                <a:moveTo>
                  <a:pt x="0" y="0"/>
                </a:moveTo>
                <a:lnTo>
                  <a:pt x="1760050" y="0"/>
                </a:lnTo>
                <a:lnTo>
                  <a:pt x="1760050" y="863627"/>
                </a:lnTo>
                <a:lnTo>
                  <a:pt x="0" y="863627"/>
                </a:lnTo>
                <a:lnTo>
                  <a:pt x="0" y="0"/>
                </a:lnTo>
                <a:close/>
              </a:path>
            </a:pathLst>
          </a:custGeom>
          <a:blipFill>
            <a:blip r:embed="rId15"/>
            <a:stretch>
              <a:fillRect l="0" t="0" r="0" b="0"/>
            </a:stretch>
          </a:blipFill>
        </p:spPr>
      </p:sp>
      <p:sp>
        <p:nvSpPr>
          <p:cNvPr name="TextBox 29" id="29"/>
          <p:cNvSpPr txBox="true"/>
          <p:nvPr/>
        </p:nvSpPr>
        <p:spPr>
          <a:xfrm rot="0">
            <a:off x="11826986" y="2981780"/>
            <a:ext cx="1396602"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SessionValidator</a:t>
            </a:r>
          </a:p>
        </p:txBody>
      </p:sp>
      <p:sp>
        <p:nvSpPr>
          <p:cNvPr name="Freeform 30" id="30"/>
          <p:cNvSpPr/>
          <p:nvPr/>
        </p:nvSpPr>
        <p:spPr>
          <a:xfrm flipH="false" flipV="false" rot="0">
            <a:off x="13276291" y="2569017"/>
            <a:ext cx="1749118" cy="863627"/>
          </a:xfrm>
          <a:custGeom>
            <a:avLst/>
            <a:gdLst/>
            <a:ahLst/>
            <a:cxnLst/>
            <a:rect r="r" b="b" t="t" l="l"/>
            <a:pathLst>
              <a:path h="863627" w="1749118">
                <a:moveTo>
                  <a:pt x="0" y="0"/>
                </a:moveTo>
                <a:lnTo>
                  <a:pt x="1749118" y="0"/>
                </a:lnTo>
                <a:lnTo>
                  <a:pt x="1749118" y="863627"/>
                </a:lnTo>
                <a:lnTo>
                  <a:pt x="0" y="863627"/>
                </a:lnTo>
                <a:lnTo>
                  <a:pt x="0" y="0"/>
                </a:lnTo>
                <a:close/>
              </a:path>
            </a:pathLst>
          </a:custGeom>
          <a:blipFill>
            <a:blip r:embed="rId16"/>
            <a:stretch>
              <a:fillRect l="0" t="0" r="0" b="0"/>
            </a:stretch>
          </a:blipFill>
        </p:spPr>
      </p:sp>
      <p:sp>
        <p:nvSpPr>
          <p:cNvPr name="TextBox 31" id="31"/>
          <p:cNvSpPr txBox="true"/>
          <p:nvPr/>
        </p:nvSpPr>
        <p:spPr>
          <a:xfrm rot="0">
            <a:off x="13595581" y="2902954"/>
            <a:ext cx="1324087"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Authenticator</a:t>
            </a:r>
          </a:p>
          <a:p>
            <a:pPr algn="l">
              <a:lnSpc>
                <a:spcPts val="1679"/>
              </a:lnSpc>
            </a:pPr>
            <a:r>
              <a:rPr lang="en-US" sz="1200">
                <a:solidFill>
                  <a:srgbClr val="263E7A"/>
                </a:solidFill>
                <a:latin typeface="Montserrat"/>
                <a:ea typeface="Montserrat"/>
                <a:cs typeface="Montserrat"/>
                <a:sym typeface="Montserrat"/>
              </a:rPr>
              <a:t>(Login/Register)</a:t>
            </a:r>
          </a:p>
        </p:txBody>
      </p:sp>
      <p:sp>
        <p:nvSpPr>
          <p:cNvPr name="Freeform 32" id="32"/>
          <p:cNvSpPr/>
          <p:nvPr/>
        </p:nvSpPr>
        <p:spPr>
          <a:xfrm flipH="false" flipV="false" rot="0">
            <a:off x="15014477" y="2569017"/>
            <a:ext cx="1530478" cy="863627"/>
          </a:xfrm>
          <a:custGeom>
            <a:avLst/>
            <a:gdLst/>
            <a:ahLst/>
            <a:cxnLst/>
            <a:rect r="r" b="b" t="t" l="l"/>
            <a:pathLst>
              <a:path h="863627" w="1530478">
                <a:moveTo>
                  <a:pt x="0" y="0"/>
                </a:moveTo>
                <a:lnTo>
                  <a:pt x="1530478" y="0"/>
                </a:lnTo>
                <a:lnTo>
                  <a:pt x="1530478" y="863627"/>
                </a:lnTo>
                <a:lnTo>
                  <a:pt x="0" y="863627"/>
                </a:lnTo>
                <a:lnTo>
                  <a:pt x="0" y="0"/>
                </a:lnTo>
                <a:close/>
              </a:path>
            </a:pathLst>
          </a:custGeom>
          <a:blipFill>
            <a:blip r:embed="rId17"/>
            <a:stretch>
              <a:fillRect l="0" t="0" r="0" b="0"/>
            </a:stretch>
          </a:blipFill>
        </p:spPr>
      </p:sp>
      <p:sp>
        <p:nvSpPr>
          <p:cNvPr name="Freeform 33" id="33"/>
          <p:cNvSpPr/>
          <p:nvPr/>
        </p:nvSpPr>
        <p:spPr>
          <a:xfrm flipH="false" flipV="false" rot="0">
            <a:off x="16534023" y="2569017"/>
            <a:ext cx="1322770" cy="863627"/>
          </a:xfrm>
          <a:custGeom>
            <a:avLst/>
            <a:gdLst/>
            <a:ahLst/>
            <a:cxnLst/>
            <a:rect r="r" b="b" t="t" l="l"/>
            <a:pathLst>
              <a:path h="863627" w="1322770">
                <a:moveTo>
                  <a:pt x="0" y="0"/>
                </a:moveTo>
                <a:lnTo>
                  <a:pt x="1322771" y="0"/>
                </a:lnTo>
                <a:lnTo>
                  <a:pt x="1322771" y="863627"/>
                </a:lnTo>
                <a:lnTo>
                  <a:pt x="0" y="863627"/>
                </a:lnTo>
                <a:lnTo>
                  <a:pt x="0" y="0"/>
                </a:lnTo>
                <a:close/>
              </a:path>
            </a:pathLst>
          </a:custGeom>
          <a:blipFill>
            <a:blip r:embed="rId18"/>
            <a:stretch>
              <a:fillRect l="0" t="0" r="0" b="0"/>
            </a:stretch>
          </a:blipFill>
        </p:spPr>
      </p:sp>
      <p:sp>
        <p:nvSpPr>
          <p:cNvPr name="Freeform 34" id="34"/>
          <p:cNvSpPr/>
          <p:nvPr/>
        </p:nvSpPr>
        <p:spPr>
          <a:xfrm flipH="false" flipV="false" rot="0">
            <a:off x="6093976" y="3214004"/>
            <a:ext cx="229572" cy="5148966"/>
          </a:xfrm>
          <a:custGeom>
            <a:avLst/>
            <a:gdLst/>
            <a:ahLst/>
            <a:cxnLst/>
            <a:rect r="r" b="b" t="t" l="l"/>
            <a:pathLst>
              <a:path h="5148966" w="229572">
                <a:moveTo>
                  <a:pt x="0" y="0"/>
                </a:moveTo>
                <a:lnTo>
                  <a:pt x="229571" y="0"/>
                </a:lnTo>
                <a:lnTo>
                  <a:pt x="229571" y="5148966"/>
                </a:lnTo>
                <a:lnTo>
                  <a:pt x="0" y="5148966"/>
                </a:lnTo>
                <a:lnTo>
                  <a:pt x="0" y="0"/>
                </a:lnTo>
                <a:close/>
              </a:path>
            </a:pathLst>
          </a:custGeom>
          <a:blipFill>
            <a:blip r:embed="rId19"/>
            <a:stretch>
              <a:fillRect l="0" t="0" r="0" b="0"/>
            </a:stretch>
          </a:blipFill>
        </p:spPr>
      </p:sp>
      <p:sp>
        <p:nvSpPr>
          <p:cNvPr name="Freeform 35" id="35"/>
          <p:cNvSpPr/>
          <p:nvPr/>
        </p:nvSpPr>
        <p:spPr>
          <a:xfrm flipH="false" flipV="false" rot="0">
            <a:off x="5875336" y="3848060"/>
            <a:ext cx="448211" cy="4088563"/>
          </a:xfrm>
          <a:custGeom>
            <a:avLst/>
            <a:gdLst/>
            <a:ahLst/>
            <a:cxnLst/>
            <a:rect r="r" b="b" t="t" l="l"/>
            <a:pathLst>
              <a:path h="4088563" w="448211">
                <a:moveTo>
                  <a:pt x="0" y="0"/>
                </a:moveTo>
                <a:lnTo>
                  <a:pt x="448211" y="0"/>
                </a:lnTo>
                <a:lnTo>
                  <a:pt x="448211" y="4088563"/>
                </a:lnTo>
                <a:lnTo>
                  <a:pt x="0" y="4088563"/>
                </a:lnTo>
                <a:lnTo>
                  <a:pt x="0" y="0"/>
                </a:lnTo>
                <a:close/>
              </a:path>
            </a:pathLst>
          </a:custGeom>
          <a:blipFill>
            <a:blip r:embed="rId20"/>
            <a:stretch>
              <a:fillRect l="0" t="0" r="0" b="0"/>
            </a:stretch>
          </a:blipFill>
        </p:spPr>
      </p:sp>
      <p:sp>
        <p:nvSpPr>
          <p:cNvPr name="Freeform 36" id="36"/>
          <p:cNvSpPr/>
          <p:nvPr/>
        </p:nvSpPr>
        <p:spPr>
          <a:xfrm flipH="false" flipV="false" rot="0">
            <a:off x="6093976" y="4066699"/>
            <a:ext cx="1749118" cy="437279"/>
          </a:xfrm>
          <a:custGeom>
            <a:avLst/>
            <a:gdLst/>
            <a:ahLst/>
            <a:cxnLst/>
            <a:rect r="r" b="b" t="t" l="l"/>
            <a:pathLst>
              <a:path h="437279" w="1749118">
                <a:moveTo>
                  <a:pt x="0" y="0"/>
                </a:moveTo>
                <a:lnTo>
                  <a:pt x="1749118" y="0"/>
                </a:lnTo>
                <a:lnTo>
                  <a:pt x="1749118" y="437280"/>
                </a:lnTo>
                <a:lnTo>
                  <a:pt x="0" y="437280"/>
                </a:lnTo>
                <a:lnTo>
                  <a:pt x="0" y="0"/>
                </a:lnTo>
                <a:close/>
              </a:path>
            </a:pathLst>
          </a:custGeom>
          <a:blipFill>
            <a:blip r:embed="rId21"/>
            <a:stretch>
              <a:fillRect l="0" t="0" r="0" b="0"/>
            </a:stretch>
          </a:blipFill>
        </p:spPr>
      </p:sp>
      <p:sp>
        <p:nvSpPr>
          <p:cNvPr name="Freeform 37" id="37"/>
          <p:cNvSpPr/>
          <p:nvPr/>
        </p:nvSpPr>
        <p:spPr>
          <a:xfrm flipH="false" flipV="false" rot="0">
            <a:off x="7832162" y="4066699"/>
            <a:ext cx="229572" cy="3869923"/>
          </a:xfrm>
          <a:custGeom>
            <a:avLst/>
            <a:gdLst/>
            <a:ahLst/>
            <a:cxnLst/>
            <a:rect r="r" b="b" t="t" l="l"/>
            <a:pathLst>
              <a:path h="3869923" w="229572">
                <a:moveTo>
                  <a:pt x="0" y="0"/>
                </a:moveTo>
                <a:lnTo>
                  <a:pt x="229571" y="0"/>
                </a:lnTo>
                <a:lnTo>
                  <a:pt x="229571" y="3869924"/>
                </a:lnTo>
                <a:lnTo>
                  <a:pt x="0" y="3869924"/>
                </a:lnTo>
                <a:lnTo>
                  <a:pt x="0" y="0"/>
                </a:lnTo>
                <a:close/>
              </a:path>
            </a:pathLst>
          </a:custGeom>
          <a:blipFill>
            <a:blip r:embed="rId22"/>
            <a:stretch>
              <a:fillRect l="0" t="0" r="0" b="0"/>
            </a:stretch>
          </a:blipFill>
        </p:spPr>
      </p:sp>
      <p:sp>
        <p:nvSpPr>
          <p:cNvPr name="Freeform 38" id="38"/>
          <p:cNvSpPr/>
          <p:nvPr/>
        </p:nvSpPr>
        <p:spPr>
          <a:xfrm flipH="false" flipV="false" rot="0">
            <a:off x="8050801" y="4493047"/>
            <a:ext cx="2842317" cy="229572"/>
          </a:xfrm>
          <a:custGeom>
            <a:avLst/>
            <a:gdLst/>
            <a:ahLst/>
            <a:cxnLst/>
            <a:rect r="r" b="b" t="t" l="l"/>
            <a:pathLst>
              <a:path h="229572" w="2842317">
                <a:moveTo>
                  <a:pt x="0" y="0"/>
                </a:moveTo>
                <a:lnTo>
                  <a:pt x="2842317" y="0"/>
                </a:lnTo>
                <a:lnTo>
                  <a:pt x="2842317" y="229571"/>
                </a:lnTo>
                <a:lnTo>
                  <a:pt x="0" y="229571"/>
                </a:lnTo>
                <a:lnTo>
                  <a:pt x="0" y="0"/>
                </a:lnTo>
                <a:close/>
              </a:path>
            </a:pathLst>
          </a:custGeom>
          <a:blipFill>
            <a:blip r:embed="rId23"/>
            <a:stretch>
              <a:fillRect l="0" t="0" r="0" b="0"/>
            </a:stretch>
          </a:blipFill>
        </p:spPr>
      </p:sp>
      <p:sp>
        <p:nvSpPr>
          <p:cNvPr name="Freeform 39" id="39"/>
          <p:cNvSpPr/>
          <p:nvPr/>
        </p:nvSpPr>
        <p:spPr>
          <a:xfrm flipH="false" flipV="false" rot="0">
            <a:off x="9351708" y="6635716"/>
            <a:ext cx="229572" cy="655919"/>
          </a:xfrm>
          <a:custGeom>
            <a:avLst/>
            <a:gdLst/>
            <a:ahLst/>
            <a:cxnLst/>
            <a:rect r="r" b="b" t="t" l="l"/>
            <a:pathLst>
              <a:path h="655919" w="229572">
                <a:moveTo>
                  <a:pt x="0" y="0"/>
                </a:moveTo>
                <a:lnTo>
                  <a:pt x="229571" y="0"/>
                </a:lnTo>
                <a:lnTo>
                  <a:pt x="229571" y="655919"/>
                </a:lnTo>
                <a:lnTo>
                  <a:pt x="0" y="655919"/>
                </a:lnTo>
                <a:lnTo>
                  <a:pt x="0" y="0"/>
                </a:lnTo>
                <a:close/>
              </a:path>
            </a:pathLst>
          </a:custGeom>
          <a:blipFill>
            <a:blip r:embed="rId24"/>
            <a:stretch>
              <a:fillRect l="0" t="0" r="0" b="0"/>
            </a:stretch>
          </a:blipFill>
        </p:spPr>
      </p:sp>
      <p:sp>
        <p:nvSpPr>
          <p:cNvPr name="Freeform 40" id="40"/>
          <p:cNvSpPr/>
          <p:nvPr/>
        </p:nvSpPr>
        <p:spPr>
          <a:xfrm flipH="false" flipV="false" rot="0">
            <a:off x="8050801" y="6428009"/>
            <a:ext cx="2623677" cy="218640"/>
          </a:xfrm>
          <a:custGeom>
            <a:avLst/>
            <a:gdLst/>
            <a:ahLst/>
            <a:cxnLst/>
            <a:rect r="r" b="b" t="t" l="l"/>
            <a:pathLst>
              <a:path h="218640" w="2623677">
                <a:moveTo>
                  <a:pt x="0" y="0"/>
                </a:moveTo>
                <a:lnTo>
                  <a:pt x="2623677" y="0"/>
                </a:lnTo>
                <a:lnTo>
                  <a:pt x="2623677" y="218639"/>
                </a:lnTo>
                <a:lnTo>
                  <a:pt x="0" y="218639"/>
                </a:lnTo>
                <a:lnTo>
                  <a:pt x="0" y="0"/>
                </a:lnTo>
                <a:close/>
              </a:path>
            </a:pathLst>
          </a:custGeom>
          <a:blipFill>
            <a:blip r:embed="rId25"/>
            <a:stretch>
              <a:fillRect l="0" t="0" r="0" b="0"/>
            </a:stretch>
          </a:blipFill>
        </p:spPr>
      </p:sp>
      <p:sp>
        <p:nvSpPr>
          <p:cNvPr name="TextBox 41" id="41"/>
          <p:cNvSpPr txBox="true"/>
          <p:nvPr/>
        </p:nvSpPr>
        <p:spPr>
          <a:xfrm rot="0">
            <a:off x="8595652" y="6167061"/>
            <a:ext cx="1846107"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8. Gửi JSON</a:t>
            </a:r>
            <a:r>
              <a:rPr lang="en-US" sz="1200" b="true">
                <a:solidFill>
                  <a:srgbClr val="263E7A"/>
                </a:solidFill>
                <a:latin typeface="Montserrat Bold"/>
                <a:ea typeface="Montserrat Bold"/>
                <a:cs typeface="Montserrat Bold"/>
                <a:sym typeface="Montserrat Bold"/>
              </a:rPr>
              <a:t> response</a:t>
            </a:r>
          </a:p>
        </p:txBody>
      </p:sp>
      <p:sp>
        <p:nvSpPr>
          <p:cNvPr name="Freeform 42" id="42"/>
          <p:cNvSpPr/>
          <p:nvPr/>
        </p:nvSpPr>
        <p:spPr>
          <a:xfrm flipH="false" flipV="false" rot="0">
            <a:off x="10663546" y="4493047"/>
            <a:ext cx="448211" cy="2579949"/>
          </a:xfrm>
          <a:custGeom>
            <a:avLst/>
            <a:gdLst/>
            <a:ahLst/>
            <a:cxnLst/>
            <a:rect r="r" b="b" t="t" l="l"/>
            <a:pathLst>
              <a:path h="2579949" w="448211">
                <a:moveTo>
                  <a:pt x="0" y="0"/>
                </a:moveTo>
                <a:lnTo>
                  <a:pt x="448212" y="0"/>
                </a:lnTo>
                <a:lnTo>
                  <a:pt x="448212" y="2579949"/>
                </a:lnTo>
                <a:lnTo>
                  <a:pt x="0" y="2579949"/>
                </a:lnTo>
                <a:lnTo>
                  <a:pt x="0" y="0"/>
                </a:lnTo>
                <a:close/>
              </a:path>
            </a:pathLst>
          </a:custGeom>
          <a:blipFill>
            <a:blip r:embed="rId26"/>
            <a:stretch>
              <a:fillRect l="0" t="0" r="0" b="0"/>
            </a:stretch>
          </a:blipFill>
        </p:spPr>
      </p:sp>
      <p:sp>
        <p:nvSpPr>
          <p:cNvPr name="Freeform 43" id="43"/>
          <p:cNvSpPr/>
          <p:nvPr/>
        </p:nvSpPr>
        <p:spPr>
          <a:xfrm flipH="false" flipV="false" rot="0">
            <a:off x="10882186" y="4919394"/>
            <a:ext cx="1530478" cy="229572"/>
          </a:xfrm>
          <a:custGeom>
            <a:avLst/>
            <a:gdLst/>
            <a:ahLst/>
            <a:cxnLst/>
            <a:rect r="r" b="b" t="t" l="l"/>
            <a:pathLst>
              <a:path h="229572" w="1530478">
                <a:moveTo>
                  <a:pt x="0" y="0"/>
                </a:moveTo>
                <a:lnTo>
                  <a:pt x="1530478" y="0"/>
                </a:lnTo>
                <a:lnTo>
                  <a:pt x="1530478" y="229572"/>
                </a:lnTo>
                <a:lnTo>
                  <a:pt x="0" y="229572"/>
                </a:lnTo>
                <a:lnTo>
                  <a:pt x="0" y="0"/>
                </a:lnTo>
                <a:close/>
              </a:path>
            </a:pathLst>
          </a:custGeom>
          <a:blipFill>
            <a:blip r:embed="rId27"/>
            <a:stretch>
              <a:fillRect l="0" t="0" r="0" b="0"/>
            </a:stretch>
          </a:blipFill>
        </p:spPr>
      </p:sp>
      <p:sp>
        <p:nvSpPr>
          <p:cNvPr name="TextBox 44" id="44"/>
          <p:cNvSpPr txBox="true"/>
          <p:nvPr/>
        </p:nvSpPr>
        <p:spPr>
          <a:xfrm rot="0">
            <a:off x="11026468" y="4289698"/>
            <a:ext cx="1498819" cy="6172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3. Kiểm tra phiên</a:t>
            </a:r>
          </a:p>
          <a:p>
            <a:pPr algn="l">
              <a:lnSpc>
                <a:spcPts val="1679"/>
              </a:lnSpc>
            </a:pPr>
            <a:r>
              <a:rPr lang="en-US" sz="1200">
                <a:solidFill>
                  <a:srgbClr val="263E7A"/>
                </a:solidFill>
                <a:latin typeface="Montserrat"/>
                <a:ea typeface="Montserrat"/>
                <a:cs typeface="Montserrat"/>
                <a:sym typeface="Montserrat"/>
              </a:rPr>
              <a:t>(hoặc xý lý đăng nhập)</a:t>
            </a:r>
          </a:p>
        </p:txBody>
      </p:sp>
      <p:sp>
        <p:nvSpPr>
          <p:cNvPr name="Freeform 45" id="45"/>
          <p:cNvSpPr/>
          <p:nvPr/>
        </p:nvSpPr>
        <p:spPr>
          <a:xfrm flipH="false" flipV="false" rot="0">
            <a:off x="12183092" y="4919394"/>
            <a:ext cx="448211" cy="1082267"/>
          </a:xfrm>
          <a:custGeom>
            <a:avLst/>
            <a:gdLst/>
            <a:ahLst/>
            <a:cxnLst/>
            <a:rect r="r" b="b" t="t" l="l"/>
            <a:pathLst>
              <a:path h="1082267" w="448211">
                <a:moveTo>
                  <a:pt x="0" y="0"/>
                </a:moveTo>
                <a:lnTo>
                  <a:pt x="448212" y="0"/>
                </a:lnTo>
                <a:lnTo>
                  <a:pt x="448212" y="1082267"/>
                </a:lnTo>
                <a:lnTo>
                  <a:pt x="0" y="1082267"/>
                </a:lnTo>
                <a:lnTo>
                  <a:pt x="0" y="0"/>
                </a:lnTo>
                <a:close/>
              </a:path>
            </a:pathLst>
          </a:custGeom>
          <a:blipFill>
            <a:blip r:embed="rId28"/>
            <a:stretch>
              <a:fillRect l="0" t="0" r="0" b="0"/>
            </a:stretch>
          </a:blipFill>
        </p:spPr>
      </p:sp>
      <p:sp>
        <p:nvSpPr>
          <p:cNvPr name="Freeform 46" id="46"/>
          <p:cNvSpPr/>
          <p:nvPr/>
        </p:nvSpPr>
        <p:spPr>
          <a:xfrm flipH="false" flipV="false" rot="0">
            <a:off x="14139918" y="5138034"/>
            <a:ext cx="229572" cy="863627"/>
          </a:xfrm>
          <a:custGeom>
            <a:avLst/>
            <a:gdLst/>
            <a:ahLst/>
            <a:cxnLst/>
            <a:rect r="r" b="b" t="t" l="l"/>
            <a:pathLst>
              <a:path h="863627" w="229572">
                <a:moveTo>
                  <a:pt x="0" y="0"/>
                </a:moveTo>
                <a:lnTo>
                  <a:pt x="229572" y="0"/>
                </a:lnTo>
                <a:lnTo>
                  <a:pt x="229572" y="863627"/>
                </a:lnTo>
                <a:lnTo>
                  <a:pt x="0" y="863627"/>
                </a:lnTo>
                <a:lnTo>
                  <a:pt x="0" y="0"/>
                </a:lnTo>
                <a:close/>
              </a:path>
            </a:pathLst>
          </a:custGeom>
          <a:blipFill>
            <a:blip r:embed="rId29"/>
            <a:stretch>
              <a:fillRect l="0" t="0" r="0" b="0"/>
            </a:stretch>
          </a:blipFill>
        </p:spPr>
      </p:sp>
      <p:sp>
        <p:nvSpPr>
          <p:cNvPr name="Freeform 47" id="47"/>
          <p:cNvSpPr/>
          <p:nvPr/>
        </p:nvSpPr>
        <p:spPr>
          <a:xfrm flipH="false" flipV="false" rot="0">
            <a:off x="14139918" y="5356674"/>
            <a:ext cx="1760050" cy="437279"/>
          </a:xfrm>
          <a:custGeom>
            <a:avLst/>
            <a:gdLst/>
            <a:ahLst/>
            <a:cxnLst/>
            <a:rect r="r" b="b" t="t" l="l"/>
            <a:pathLst>
              <a:path h="437279" w="1760050">
                <a:moveTo>
                  <a:pt x="0" y="0"/>
                </a:moveTo>
                <a:lnTo>
                  <a:pt x="1760050" y="0"/>
                </a:lnTo>
                <a:lnTo>
                  <a:pt x="1760050" y="437279"/>
                </a:lnTo>
                <a:lnTo>
                  <a:pt x="0" y="437279"/>
                </a:lnTo>
                <a:lnTo>
                  <a:pt x="0" y="0"/>
                </a:lnTo>
                <a:close/>
              </a:path>
            </a:pathLst>
          </a:custGeom>
          <a:blipFill>
            <a:blip r:embed="rId30"/>
            <a:stretch>
              <a:fillRect l="0" t="0" r="0" b="0"/>
            </a:stretch>
          </a:blipFill>
        </p:spPr>
      </p:sp>
      <p:sp>
        <p:nvSpPr>
          <p:cNvPr name="Freeform 48" id="48"/>
          <p:cNvSpPr/>
          <p:nvPr/>
        </p:nvSpPr>
        <p:spPr>
          <a:xfrm flipH="false" flipV="false" rot="0">
            <a:off x="15670396" y="5356674"/>
            <a:ext cx="437279" cy="1289974"/>
          </a:xfrm>
          <a:custGeom>
            <a:avLst/>
            <a:gdLst/>
            <a:ahLst/>
            <a:cxnLst/>
            <a:rect r="r" b="b" t="t" l="l"/>
            <a:pathLst>
              <a:path h="1289974" w="437279">
                <a:moveTo>
                  <a:pt x="0" y="0"/>
                </a:moveTo>
                <a:lnTo>
                  <a:pt x="437280" y="0"/>
                </a:lnTo>
                <a:lnTo>
                  <a:pt x="437280" y="1289974"/>
                </a:lnTo>
                <a:lnTo>
                  <a:pt x="0" y="1289974"/>
                </a:lnTo>
                <a:lnTo>
                  <a:pt x="0" y="0"/>
                </a:lnTo>
                <a:close/>
              </a:path>
            </a:pathLst>
          </a:custGeom>
          <a:blipFill>
            <a:blip r:embed="rId31"/>
            <a:stretch>
              <a:fillRect l="0" t="0" r="0" b="0"/>
            </a:stretch>
          </a:blipFill>
        </p:spPr>
      </p:sp>
      <p:sp>
        <p:nvSpPr>
          <p:cNvPr name="Freeform 49" id="49"/>
          <p:cNvSpPr/>
          <p:nvPr/>
        </p:nvSpPr>
        <p:spPr>
          <a:xfrm flipH="false" flipV="false" rot="0">
            <a:off x="16971303" y="5564382"/>
            <a:ext cx="448211" cy="874559"/>
          </a:xfrm>
          <a:custGeom>
            <a:avLst/>
            <a:gdLst/>
            <a:ahLst/>
            <a:cxnLst/>
            <a:rect r="r" b="b" t="t" l="l"/>
            <a:pathLst>
              <a:path h="874559" w="448211">
                <a:moveTo>
                  <a:pt x="0" y="0"/>
                </a:moveTo>
                <a:lnTo>
                  <a:pt x="448211" y="0"/>
                </a:lnTo>
                <a:lnTo>
                  <a:pt x="448211" y="874558"/>
                </a:lnTo>
                <a:lnTo>
                  <a:pt x="0" y="874558"/>
                </a:lnTo>
                <a:lnTo>
                  <a:pt x="0" y="0"/>
                </a:lnTo>
                <a:close/>
              </a:path>
            </a:pathLst>
          </a:custGeom>
          <a:blipFill>
            <a:blip r:embed="rId32"/>
            <a:stretch>
              <a:fillRect l="0" t="0" r="0" b="0"/>
            </a:stretch>
          </a:blipFill>
        </p:spPr>
      </p:sp>
      <p:sp>
        <p:nvSpPr>
          <p:cNvPr name="Freeform 50" id="50"/>
          <p:cNvSpPr/>
          <p:nvPr/>
        </p:nvSpPr>
        <p:spPr>
          <a:xfrm flipH="false" flipV="false" rot="0">
            <a:off x="10882186" y="6209369"/>
            <a:ext cx="4799142" cy="437279"/>
          </a:xfrm>
          <a:custGeom>
            <a:avLst/>
            <a:gdLst/>
            <a:ahLst/>
            <a:cxnLst/>
            <a:rect r="r" b="b" t="t" l="l"/>
            <a:pathLst>
              <a:path h="437279" w="4799142">
                <a:moveTo>
                  <a:pt x="0" y="0"/>
                </a:moveTo>
                <a:lnTo>
                  <a:pt x="4799142" y="0"/>
                </a:lnTo>
                <a:lnTo>
                  <a:pt x="4799142" y="437279"/>
                </a:lnTo>
                <a:lnTo>
                  <a:pt x="0" y="437279"/>
                </a:lnTo>
                <a:lnTo>
                  <a:pt x="0" y="0"/>
                </a:lnTo>
                <a:close/>
              </a:path>
            </a:pathLst>
          </a:custGeom>
          <a:blipFill>
            <a:blip r:embed="rId33"/>
            <a:stretch>
              <a:fillRect l="0" t="0" r="0" b="0"/>
            </a:stretch>
          </a:blipFill>
        </p:spPr>
      </p:sp>
      <p:sp>
        <p:nvSpPr>
          <p:cNvPr name="TextBox 51" id="51"/>
          <p:cNvSpPr txBox="true"/>
          <p:nvPr/>
        </p:nvSpPr>
        <p:spPr>
          <a:xfrm rot="0">
            <a:off x="6323547" y="6751423"/>
            <a:ext cx="1791272" cy="6172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9. Nhận response</a:t>
            </a:r>
          </a:p>
          <a:p>
            <a:pPr algn="l">
              <a:lnSpc>
                <a:spcPts val="1679"/>
              </a:lnSpc>
            </a:pPr>
            <a:r>
              <a:rPr lang="en-US" sz="1200" b="true">
                <a:solidFill>
                  <a:srgbClr val="263E7A"/>
                </a:solidFill>
                <a:latin typeface="Montserrat Semi-Bold"/>
                <a:ea typeface="Montserrat Semi-Bold"/>
                <a:cs typeface="Montserrat Semi-Bold"/>
                <a:sym typeface="Montserrat Semi-Bold"/>
              </a:rPr>
              <a:t>và cập nhật UI</a:t>
            </a:r>
          </a:p>
          <a:p>
            <a:pPr algn="l">
              <a:lnSpc>
                <a:spcPts val="1679"/>
              </a:lnSpc>
            </a:pPr>
            <a:r>
              <a:rPr lang="en-US" sz="1200" b="true">
                <a:solidFill>
                  <a:srgbClr val="263E7A"/>
                </a:solidFill>
                <a:latin typeface="Montserrat Semi-Bold"/>
                <a:ea typeface="Montserrat Semi-Bold"/>
                <a:cs typeface="Montserrat Semi-Bold"/>
                <a:sym typeface="Montserrat Semi-Bold"/>
              </a:rPr>
              <a:t>(Platform.runLater)</a:t>
            </a:r>
          </a:p>
        </p:txBody>
      </p:sp>
      <p:sp>
        <p:nvSpPr>
          <p:cNvPr name="Freeform 52" id="52"/>
          <p:cNvSpPr/>
          <p:nvPr/>
        </p:nvSpPr>
        <p:spPr>
          <a:xfrm flipH="false" flipV="false" rot="0">
            <a:off x="6093976" y="7280704"/>
            <a:ext cx="1749118" cy="437279"/>
          </a:xfrm>
          <a:custGeom>
            <a:avLst/>
            <a:gdLst/>
            <a:ahLst/>
            <a:cxnLst/>
            <a:rect r="r" b="b" t="t" l="l"/>
            <a:pathLst>
              <a:path h="437279" w="1749118">
                <a:moveTo>
                  <a:pt x="0" y="0"/>
                </a:moveTo>
                <a:lnTo>
                  <a:pt x="1749118" y="0"/>
                </a:lnTo>
                <a:lnTo>
                  <a:pt x="1749118" y="437279"/>
                </a:lnTo>
                <a:lnTo>
                  <a:pt x="0" y="437279"/>
                </a:lnTo>
                <a:lnTo>
                  <a:pt x="0" y="0"/>
                </a:lnTo>
                <a:close/>
              </a:path>
            </a:pathLst>
          </a:custGeom>
          <a:blipFill>
            <a:blip r:embed="rId34"/>
            <a:stretch>
              <a:fillRect l="0" t="0" r="0" b="0"/>
            </a:stretch>
          </a:blipFill>
        </p:spPr>
      </p:sp>
      <p:sp>
        <p:nvSpPr>
          <p:cNvPr name="Freeform 53" id="53"/>
          <p:cNvSpPr/>
          <p:nvPr/>
        </p:nvSpPr>
        <p:spPr>
          <a:xfrm flipH="false" flipV="false" rot="0">
            <a:off x="321886" y="8594034"/>
            <a:ext cx="17644227" cy="1716322"/>
          </a:xfrm>
          <a:custGeom>
            <a:avLst/>
            <a:gdLst/>
            <a:ahLst/>
            <a:cxnLst/>
            <a:rect r="r" b="b" t="t" l="l"/>
            <a:pathLst>
              <a:path h="1716322" w="17644227">
                <a:moveTo>
                  <a:pt x="0" y="0"/>
                </a:moveTo>
                <a:lnTo>
                  <a:pt x="17644228" y="0"/>
                </a:lnTo>
                <a:lnTo>
                  <a:pt x="17644228" y="1716322"/>
                </a:lnTo>
                <a:lnTo>
                  <a:pt x="0" y="1716322"/>
                </a:lnTo>
                <a:lnTo>
                  <a:pt x="0" y="0"/>
                </a:lnTo>
                <a:close/>
              </a:path>
            </a:pathLst>
          </a:custGeom>
          <a:blipFill>
            <a:blip r:embed="rId35"/>
            <a:stretch>
              <a:fillRect l="0" t="0" r="0" b="0"/>
            </a:stretch>
          </a:blipFill>
        </p:spPr>
      </p:sp>
      <p:sp>
        <p:nvSpPr>
          <p:cNvPr name="Freeform 54" id="54"/>
          <p:cNvSpPr/>
          <p:nvPr/>
        </p:nvSpPr>
        <p:spPr>
          <a:xfrm flipH="false" flipV="false" rot="0">
            <a:off x="649846" y="8778386"/>
            <a:ext cx="448211" cy="437279"/>
          </a:xfrm>
          <a:custGeom>
            <a:avLst/>
            <a:gdLst/>
            <a:ahLst/>
            <a:cxnLst/>
            <a:rect r="r" b="b" t="t" l="l"/>
            <a:pathLst>
              <a:path h="437279" w="448211">
                <a:moveTo>
                  <a:pt x="0" y="0"/>
                </a:moveTo>
                <a:lnTo>
                  <a:pt x="448211" y="0"/>
                </a:lnTo>
                <a:lnTo>
                  <a:pt x="448211" y="437279"/>
                </a:lnTo>
                <a:lnTo>
                  <a:pt x="0" y="437279"/>
                </a:lnTo>
                <a:lnTo>
                  <a:pt x="0" y="0"/>
                </a:lnTo>
                <a:close/>
              </a:path>
            </a:pathLst>
          </a:custGeom>
          <a:blipFill>
            <a:blip r:embed="rId36"/>
            <a:stretch>
              <a:fillRect l="0" t="0" r="0" b="0"/>
            </a:stretch>
          </a:blipFill>
        </p:spPr>
      </p:sp>
      <p:sp>
        <p:nvSpPr>
          <p:cNvPr name="TextBox 55" id="55"/>
          <p:cNvSpPr txBox="true"/>
          <p:nvPr/>
        </p:nvSpPr>
        <p:spPr>
          <a:xfrm rot="0">
            <a:off x="1211225" y="9062470"/>
            <a:ext cx="5311101" cy="826770"/>
          </a:xfrm>
          <a:prstGeom prst="rect">
            <a:avLst/>
          </a:prstGeom>
        </p:spPr>
        <p:txBody>
          <a:bodyPr anchor="t" rtlCol="false" tIns="0" lIns="0" bIns="0" rIns="0">
            <a:spAutoFit/>
          </a:bodyPr>
          <a:lstStyle/>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Sử dụng JSON Lines (mỗi message 1 dòng)</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UTF-8</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Gửi nhận qua TCP Socket (full-duplex)</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Cầu trúc dựa trên ProtocolMessage (MessageType, payload, …)</a:t>
            </a:r>
          </a:p>
        </p:txBody>
      </p:sp>
      <p:sp>
        <p:nvSpPr>
          <p:cNvPr name="Freeform 56" id="56"/>
          <p:cNvSpPr/>
          <p:nvPr/>
        </p:nvSpPr>
        <p:spPr>
          <a:xfrm flipH="false" flipV="false" rot="0">
            <a:off x="6957603" y="8778386"/>
            <a:ext cx="448211" cy="437279"/>
          </a:xfrm>
          <a:custGeom>
            <a:avLst/>
            <a:gdLst/>
            <a:ahLst/>
            <a:cxnLst/>
            <a:rect r="r" b="b" t="t" l="l"/>
            <a:pathLst>
              <a:path h="437279" w="448211">
                <a:moveTo>
                  <a:pt x="0" y="0"/>
                </a:moveTo>
                <a:lnTo>
                  <a:pt x="448211" y="0"/>
                </a:lnTo>
                <a:lnTo>
                  <a:pt x="448211" y="437279"/>
                </a:lnTo>
                <a:lnTo>
                  <a:pt x="0" y="437279"/>
                </a:lnTo>
                <a:lnTo>
                  <a:pt x="0" y="0"/>
                </a:lnTo>
                <a:close/>
              </a:path>
            </a:pathLst>
          </a:custGeom>
          <a:blipFill>
            <a:blip r:embed="rId37"/>
            <a:stretch>
              <a:fillRect l="0" t="0" r="0" b="0"/>
            </a:stretch>
          </a:blipFill>
        </p:spPr>
      </p:sp>
      <p:sp>
        <p:nvSpPr>
          <p:cNvPr name="TextBox 57" id="57"/>
          <p:cNvSpPr txBox="true"/>
          <p:nvPr/>
        </p:nvSpPr>
        <p:spPr>
          <a:xfrm rot="0">
            <a:off x="7590346" y="9101048"/>
            <a:ext cx="4906630" cy="826770"/>
          </a:xfrm>
          <a:prstGeom prst="rect">
            <a:avLst/>
          </a:prstGeom>
        </p:spPr>
        <p:txBody>
          <a:bodyPr anchor="t" rtlCol="false" tIns="0" lIns="0" bIns="0" rIns="0">
            <a:spAutoFit/>
          </a:bodyPr>
          <a:lstStyle/>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SessionValidator kiểm tra session trước khi xử lý</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Chỉ các request hẹp lẽ được Handler</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Hỗ trợ Single-Session (đăng nhập mới sẽ kích thiết bị cũ)</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Cách thao này cảm (cảm ký, OTP) và kiểm tra bố sung</a:t>
            </a:r>
          </a:p>
        </p:txBody>
      </p:sp>
      <p:sp>
        <p:nvSpPr>
          <p:cNvPr name="Freeform 58" id="58"/>
          <p:cNvSpPr/>
          <p:nvPr/>
        </p:nvSpPr>
        <p:spPr>
          <a:xfrm flipH="false" flipV="false" rot="0">
            <a:off x="13057651" y="8778386"/>
            <a:ext cx="448211" cy="437279"/>
          </a:xfrm>
          <a:custGeom>
            <a:avLst/>
            <a:gdLst/>
            <a:ahLst/>
            <a:cxnLst/>
            <a:rect r="r" b="b" t="t" l="l"/>
            <a:pathLst>
              <a:path h="437279" w="448211">
                <a:moveTo>
                  <a:pt x="0" y="0"/>
                </a:moveTo>
                <a:lnTo>
                  <a:pt x="448212" y="0"/>
                </a:lnTo>
                <a:lnTo>
                  <a:pt x="448212" y="437279"/>
                </a:lnTo>
                <a:lnTo>
                  <a:pt x="0" y="437279"/>
                </a:lnTo>
                <a:lnTo>
                  <a:pt x="0" y="0"/>
                </a:lnTo>
                <a:close/>
              </a:path>
            </a:pathLst>
          </a:custGeom>
          <a:blipFill>
            <a:blip r:embed="rId38"/>
            <a:stretch>
              <a:fillRect l="0" t="0" r="0" b="0"/>
            </a:stretch>
          </a:blipFill>
        </p:spPr>
      </p:sp>
      <p:sp>
        <p:nvSpPr>
          <p:cNvPr name="TextBox 59" id="59"/>
          <p:cNvSpPr txBox="true"/>
          <p:nvPr/>
        </p:nvSpPr>
        <p:spPr>
          <a:xfrm rot="0">
            <a:off x="774124" y="2737817"/>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1</a:t>
            </a:r>
          </a:p>
        </p:txBody>
      </p:sp>
      <p:sp>
        <p:nvSpPr>
          <p:cNvPr name="TextBox 60" id="60"/>
          <p:cNvSpPr txBox="true"/>
          <p:nvPr/>
        </p:nvSpPr>
        <p:spPr>
          <a:xfrm rot="0">
            <a:off x="774124" y="4644204"/>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3</a:t>
            </a:r>
          </a:p>
        </p:txBody>
      </p:sp>
      <p:sp>
        <p:nvSpPr>
          <p:cNvPr name="TextBox 61" id="61"/>
          <p:cNvSpPr txBox="true"/>
          <p:nvPr/>
        </p:nvSpPr>
        <p:spPr>
          <a:xfrm rot="0">
            <a:off x="774124" y="6619915"/>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5</a:t>
            </a:r>
          </a:p>
        </p:txBody>
      </p:sp>
      <p:sp>
        <p:nvSpPr>
          <p:cNvPr name="TextBox 62" id="62"/>
          <p:cNvSpPr txBox="true"/>
          <p:nvPr/>
        </p:nvSpPr>
        <p:spPr>
          <a:xfrm rot="0">
            <a:off x="774124" y="7570159"/>
            <a:ext cx="292453" cy="198120"/>
          </a:xfrm>
          <a:prstGeom prst="rect">
            <a:avLst/>
          </a:prstGeom>
        </p:spPr>
        <p:txBody>
          <a:bodyPr anchor="t" rtlCol="false" tIns="0" lIns="0" bIns="0" rIns="0">
            <a:spAutoFit/>
          </a:bodyPr>
          <a:lstStyle/>
          <a:p>
            <a:pPr algn="ctr">
              <a:lnSpc>
                <a:spcPts val="1679"/>
              </a:lnSpc>
            </a:pPr>
            <a:r>
              <a:rPr lang="en-US" b="true" sz="1200">
                <a:solidFill>
                  <a:srgbClr val="FFFFFF"/>
                </a:solidFill>
                <a:latin typeface="Montserrat Bold"/>
                <a:ea typeface="Montserrat Bold"/>
                <a:cs typeface="Montserrat Bold"/>
                <a:sym typeface="Montserrat Bold"/>
              </a:rPr>
              <a:t>6</a:t>
            </a:r>
          </a:p>
        </p:txBody>
      </p:sp>
      <p:sp>
        <p:nvSpPr>
          <p:cNvPr name="TextBox 63" id="63"/>
          <p:cNvSpPr txBox="true"/>
          <p:nvPr/>
        </p:nvSpPr>
        <p:spPr>
          <a:xfrm rot="0">
            <a:off x="662877" y="2101795"/>
            <a:ext cx="1608489"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Các bước chính</a:t>
            </a:r>
          </a:p>
        </p:txBody>
      </p:sp>
      <p:sp>
        <p:nvSpPr>
          <p:cNvPr name="TextBox 64" id="64"/>
          <p:cNvSpPr txBox="true"/>
          <p:nvPr/>
        </p:nvSpPr>
        <p:spPr>
          <a:xfrm rot="0">
            <a:off x="1394008" y="2615370"/>
            <a:ext cx="2193394"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Client tạo request</a:t>
            </a:r>
          </a:p>
        </p:txBody>
      </p:sp>
      <p:sp>
        <p:nvSpPr>
          <p:cNvPr name="TextBox 65" id="65"/>
          <p:cNvSpPr txBox="true"/>
          <p:nvPr/>
        </p:nvSpPr>
        <p:spPr>
          <a:xfrm rot="0">
            <a:off x="1394008" y="3561774"/>
            <a:ext cx="1827828"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Gửi qua TCP Socket</a:t>
            </a:r>
          </a:p>
        </p:txBody>
      </p:sp>
      <p:sp>
        <p:nvSpPr>
          <p:cNvPr name="TextBox 66" id="66"/>
          <p:cNvSpPr txBox="true"/>
          <p:nvPr/>
        </p:nvSpPr>
        <p:spPr>
          <a:xfrm rot="0">
            <a:off x="1394008" y="4508178"/>
            <a:ext cx="2814856"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Server nhận &amp; kiểm tra phiên</a:t>
            </a:r>
          </a:p>
        </p:txBody>
      </p:sp>
      <p:sp>
        <p:nvSpPr>
          <p:cNvPr name="TextBox 67" id="67"/>
          <p:cNvSpPr txBox="true"/>
          <p:nvPr/>
        </p:nvSpPr>
        <p:spPr>
          <a:xfrm rot="0">
            <a:off x="1394008" y="5520404"/>
            <a:ext cx="1279480"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Xử lý nghiệp vụ</a:t>
            </a:r>
          </a:p>
        </p:txBody>
      </p:sp>
      <p:sp>
        <p:nvSpPr>
          <p:cNvPr name="TextBox 68" id="68"/>
          <p:cNvSpPr txBox="true"/>
          <p:nvPr/>
        </p:nvSpPr>
        <p:spPr>
          <a:xfrm rot="0">
            <a:off x="1394008" y="6503856"/>
            <a:ext cx="1645045"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Truy xuất dữ liệu</a:t>
            </a:r>
          </a:p>
        </p:txBody>
      </p:sp>
      <p:sp>
        <p:nvSpPr>
          <p:cNvPr name="TextBox 69" id="69"/>
          <p:cNvSpPr txBox="true"/>
          <p:nvPr/>
        </p:nvSpPr>
        <p:spPr>
          <a:xfrm rot="0">
            <a:off x="1394008" y="7450260"/>
            <a:ext cx="1974055"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Trả kết quả về Client</a:t>
            </a:r>
          </a:p>
        </p:txBody>
      </p:sp>
      <p:sp>
        <p:nvSpPr>
          <p:cNvPr name="TextBox 70" id="70"/>
          <p:cNvSpPr txBox="true"/>
          <p:nvPr/>
        </p:nvSpPr>
        <p:spPr>
          <a:xfrm rot="0">
            <a:off x="5808984" y="2101795"/>
            <a:ext cx="3416497" cy="19812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Sequence Diagram (Ví dụ: Đăng nhập)</a:t>
            </a:r>
          </a:p>
        </p:txBody>
      </p:sp>
      <p:sp>
        <p:nvSpPr>
          <p:cNvPr name="TextBox 71" id="71"/>
          <p:cNvSpPr txBox="true"/>
          <p:nvPr/>
        </p:nvSpPr>
        <p:spPr>
          <a:xfrm rot="0">
            <a:off x="5497624" y="2874454"/>
            <a:ext cx="1422275"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Client UI</a:t>
            </a:r>
          </a:p>
          <a:p>
            <a:pPr algn="l">
              <a:lnSpc>
                <a:spcPts val="1679"/>
              </a:lnSpc>
            </a:pPr>
            <a:r>
              <a:rPr lang="en-US" sz="1200">
                <a:solidFill>
                  <a:srgbClr val="263E7A"/>
                </a:solidFill>
                <a:latin typeface="Montserrat"/>
                <a:ea typeface="Montserrat"/>
                <a:cs typeface="Montserrat"/>
                <a:sym typeface="Montserrat"/>
              </a:rPr>
              <a:t>(Login/Controller)</a:t>
            </a:r>
          </a:p>
        </p:txBody>
      </p:sp>
      <p:sp>
        <p:nvSpPr>
          <p:cNvPr name="TextBox 72" id="72"/>
          <p:cNvSpPr txBox="true"/>
          <p:nvPr/>
        </p:nvSpPr>
        <p:spPr>
          <a:xfrm rot="0">
            <a:off x="15292109" y="2874454"/>
            <a:ext cx="1236317"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UserService</a:t>
            </a:r>
          </a:p>
          <a:p>
            <a:pPr algn="l">
              <a:lnSpc>
                <a:spcPts val="1679"/>
              </a:lnSpc>
            </a:pPr>
            <a:r>
              <a:rPr lang="en-US" sz="1200">
                <a:solidFill>
                  <a:srgbClr val="263E7A"/>
                </a:solidFill>
                <a:latin typeface="Montserrat"/>
                <a:ea typeface="Montserrat"/>
                <a:cs typeface="Montserrat"/>
                <a:sym typeface="Montserrat"/>
              </a:rPr>
              <a:t>/ UserDao</a:t>
            </a:r>
          </a:p>
        </p:txBody>
      </p:sp>
      <p:sp>
        <p:nvSpPr>
          <p:cNvPr name="TextBox 73" id="73"/>
          <p:cNvSpPr txBox="true"/>
          <p:nvPr/>
        </p:nvSpPr>
        <p:spPr>
          <a:xfrm rot="0">
            <a:off x="16948827" y="2905333"/>
            <a:ext cx="475235"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Bold"/>
                <a:ea typeface="Montserrat Bold"/>
                <a:cs typeface="Montserrat Bold"/>
                <a:sym typeface="Montserrat Bold"/>
              </a:rPr>
              <a:t>SQL</a:t>
            </a:r>
          </a:p>
          <a:p>
            <a:pPr algn="l">
              <a:lnSpc>
                <a:spcPts val="1679"/>
              </a:lnSpc>
            </a:pPr>
            <a:r>
              <a:rPr lang="en-US" sz="1200">
                <a:solidFill>
                  <a:srgbClr val="263E7A"/>
                </a:solidFill>
                <a:latin typeface="Montserrat"/>
                <a:ea typeface="Montserrat"/>
                <a:cs typeface="Montserrat"/>
                <a:sym typeface="Montserrat"/>
              </a:rPr>
              <a:t>(WAL)</a:t>
            </a:r>
          </a:p>
        </p:txBody>
      </p:sp>
      <p:sp>
        <p:nvSpPr>
          <p:cNvPr name="TextBox 74" id="74"/>
          <p:cNvSpPr txBox="true"/>
          <p:nvPr/>
        </p:nvSpPr>
        <p:spPr>
          <a:xfrm rot="0">
            <a:off x="6203295" y="3682174"/>
            <a:ext cx="1861033"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1. Tạo login request</a:t>
            </a:r>
          </a:p>
          <a:p>
            <a:pPr algn="l">
              <a:lnSpc>
                <a:spcPts val="1679"/>
              </a:lnSpc>
            </a:pPr>
            <a:r>
              <a:rPr lang="en-US" sz="1200">
                <a:solidFill>
                  <a:srgbClr val="263E7A"/>
                </a:solidFill>
                <a:latin typeface="Montserrat"/>
                <a:ea typeface="Montserrat"/>
                <a:cs typeface="Montserrat"/>
                <a:sym typeface="Montserrat"/>
              </a:rPr>
              <a:t>(username, password)</a:t>
            </a:r>
          </a:p>
        </p:txBody>
      </p:sp>
      <p:sp>
        <p:nvSpPr>
          <p:cNvPr name="TextBox 75" id="75"/>
          <p:cNvSpPr txBox="true"/>
          <p:nvPr/>
        </p:nvSpPr>
        <p:spPr>
          <a:xfrm rot="0">
            <a:off x="8192480" y="4148460"/>
            <a:ext cx="1279480" cy="398744"/>
          </a:xfrm>
          <a:prstGeom prst="rect">
            <a:avLst/>
          </a:prstGeom>
        </p:spPr>
        <p:txBody>
          <a:bodyPr anchor="t" rtlCol="false" tIns="0" lIns="0" bIns="0" rIns="0">
            <a:spAutoFit/>
          </a:bodyPr>
          <a:lstStyle/>
          <a:p>
            <a:pPr algn="l">
              <a:lnSpc>
                <a:spcPts val="1646"/>
              </a:lnSpc>
            </a:pPr>
            <a:r>
              <a:rPr lang="en-US" sz="1176" b="true">
                <a:solidFill>
                  <a:srgbClr val="263E7A"/>
                </a:solidFill>
                <a:latin typeface="Montserrat Semi-Bold"/>
                <a:ea typeface="Montserrat Semi-Bold"/>
                <a:cs typeface="Montserrat Semi-Bold"/>
                <a:sym typeface="Montserrat Semi-Bold"/>
              </a:rPr>
              <a:t>Gửi JSON (AUTH_LOGIN)</a:t>
            </a:r>
          </a:p>
        </p:txBody>
      </p:sp>
      <p:sp>
        <p:nvSpPr>
          <p:cNvPr name="TextBox 76" id="76"/>
          <p:cNvSpPr txBox="true"/>
          <p:nvPr/>
        </p:nvSpPr>
        <p:spPr>
          <a:xfrm rot="0">
            <a:off x="12782428" y="4798141"/>
            <a:ext cx="1206367"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4. Xý lý đăng nhập</a:t>
            </a:r>
          </a:p>
        </p:txBody>
      </p:sp>
      <p:sp>
        <p:nvSpPr>
          <p:cNvPr name="TextBox 77" id="77"/>
          <p:cNvSpPr txBox="true"/>
          <p:nvPr/>
        </p:nvSpPr>
        <p:spPr>
          <a:xfrm rot="0">
            <a:off x="14521890" y="4949004"/>
            <a:ext cx="1023584"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5. Truy </a:t>
            </a:r>
            <a:r>
              <a:rPr lang="en-US" sz="1200" b="true">
                <a:solidFill>
                  <a:srgbClr val="263E7A"/>
                </a:solidFill>
                <a:latin typeface="Montserrat Bold"/>
                <a:ea typeface="Montserrat Bold"/>
                <a:cs typeface="Montserrat Bold"/>
                <a:sym typeface="Montserrat Bold"/>
              </a:rPr>
              <a:t>vấn user</a:t>
            </a:r>
          </a:p>
        </p:txBody>
      </p:sp>
      <p:sp>
        <p:nvSpPr>
          <p:cNvPr name="TextBox 78" id="78"/>
          <p:cNvSpPr txBox="true"/>
          <p:nvPr/>
        </p:nvSpPr>
        <p:spPr>
          <a:xfrm rot="0">
            <a:off x="15980078" y="5286185"/>
            <a:ext cx="1206367" cy="407670"/>
          </a:xfrm>
          <a:prstGeom prst="rect">
            <a:avLst/>
          </a:prstGeom>
        </p:spPr>
        <p:txBody>
          <a:bodyPr anchor="t" rtlCol="false" tIns="0" lIns="0" bIns="0" rIns="0">
            <a:spAutoFit/>
          </a:bodyPr>
          <a:lstStyle/>
          <a:p>
            <a:pPr algn="l">
              <a:lnSpc>
                <a:spcPts val="1679"/>
              </a:lnSpc>
            </a:pPr>
            <a:r>
              <a:rPr lang="en-US" sz="1200" b="true">
                <a:solidFill>
                  <a:srgbClr val="263E7A"/>
                </a:solidFill>
                <a:latin typeface="Montserrat Semi-Bold"/>
                <a:ea typeface="Montserrat Semi-Bold"/>
                <a:cs typeface="Montserrat Semi-Bold"/>
                <a:sym typeface="Montserrat Semi-Bold"/>
              </a:rPr>
              <a:t>6. Đọc/ghi dữ liệu</a:t>
            </a:r>
          </a:p>
        </p:txBody>
      </p:sp>
      <p:sp>
        <p:nvSpPr>
          <p:cNvPr name="TextBox 79" id="79"/>
          <p:cNvSpPr txBox="true"/>
          <p:nvPr/>
        </p:nvSpPr>
        <p:spPr>
          <a:xfrm rot="0">
            <a:off x="11162221" y="5982611"/>
            <a:ext cx="3494211" cy="399837"/>
          </a:xfrm>
          <a:prstGeom prst="rect">
            <a:avLst/>
          </a:prstGeom>
        </p:spPr>
        <p:txBody>
          <a:bodyPr anchor="t" rtlCol="false" tIns="0" lIns="0" bIns="0" rIns="0">
            <a:spAutoFit/>
          </a:bodyPr>
          <a:lstStyle/>
          <a:p>
            <a:pPr algn="l">
              <a:lnSpc>
                <a:spcPts val="1586"/>
              </a:lnSpc>
            </a:pPr>
            <a:r>
              <a:rPr lang="en-US" sz="1133" b="true">
                <a:solidFill>
                  <a:srgbClr val="263E7A"/>
                </a:solidFill>
                <a:latin typeface="Montserrat Semi-Bold"/>
                <a:ea typeface="Montserrat Semi-Bold"/>
                <a:cs typeface="Montserrat Semi-Bold"/>
                <a:sym typeface="Montserrat Semi-Bold"/>
              </a:rPr>
              <a:t>7. Trả kết quả</a:t>
            </a:r>
          </a:p>
          <a:p>
            <a:pPr algn="l">
              <a:lnSpc>
                <a:spcPts val="1586"/>
              </a:lnSpc>
            </a:pPr>
            <a:r>
              <a:rPr lang="en-US" sz="1133">
                <a:solidFill>
                  <a:srgbClr val="263E7A"/>
                </a:solidFill>
                <a:latin typeface="Montserrat"/>
                <a:ea typeface="Montserrat"/>
                <a:cs typeface="Montserrat"/>
                <a:sym typeface="Montserrat"/>
              </a:rPr>
              <a:t>AUTH_LOGIN_OK / ERROR</a:t>
            </a:r>
          </a:p>
        </p:txBody>
      </p:sp>
      <p:sp>
        <p:nvSpPr>
          <p:cNvPr name="TextBox 80" id="80"/>
          <p:cNvSpPr txBox="true"/>
          <p:nvPr/>
        </p:nvSpPr>
        <p:spPr>
          <a:xfrm rot="0">
            <a:off x="662877" y="1275579"/>
            <a:ext cx="10747630" cy="198120"/>
          </a:xfrm>
          <a:prstGeom prst="rect">
            <a:avLst/>
          </a:prstGeom>
        </p:spPr>
        <p:txBody>
          <a:bodyPr anchor="t" rtlCol="false" tIns="0" lIns="0" bIns="0" rIns="0">
            <a:spAutoFit/>
          </a:bodyPr>
          <a:lstStyle/>
          <a:p>
            <a:pPr algn="l">
              <a:lnSpc>
                <a:spcPts val="1679"/>
              </a:lnSpc>
            </a:pPr>
            <a:r>
              <a:rPr lang="en-US" sz="1200" i="true" b="true">
                <a:solidFill>
                  <a:srgbClr val="263E7A"/>
                </a:solidFill>
                <a:latin typeface="Montserrat Bold Italics"/>
                <a:ea typeface="Montserrat Bold Italics"/>
                <a:cs typeface="Montserrat Bold Italics"/>
                <a:sym typeface="Montserrat Bold Italics"/>
              </a:rPr>
              <a:t>Mô tả luồng xử lý chính khi gửi 1 yêu cầu (ví dụ: Đăng nhập / Gửi tin nhẫn / Lấy lịch sử)</a:t>
            </a:r>
          </a:p>
        </p:txBody>
      </p:sp>
      <p:sp>
        <p:nvSpPr>
          <p:cNvPr name="TextBox 81" id="81"/>
          <p:cNvSpPr txBox="true"/>
          <p:nvPr/>
        </p:nvSpPr>
        <p:spPr>
          <a:xfrm rot="0">
            <a:off x="1292756" y="8725594"/>
            <a:ext cx="2477429" cy="280670"/>
          </a:xfrm>
          <a:prstGeom prst="rect">
            <a:avLst/>
          </a:prstGeom>
        </p:spPr>
        <p:txBody>
          <a:bodyPr anchor="t" rtlCol="false" tIns="0" lIns="0" bIns="0" rIns="0">
            <a:spAutoFit/>
          </a:bodyPr>
          <a:lstStyle/>
          <a:p>
            <a:pPr algn="l">
              <a:lnSpc>
                <a:spcPts val="2379"/>
              </a:lnSpc>
            </a:pPr>
            <a:r>
              <a:rPr lang="en-US" sz="1699" b="true">
                <a:solidFill>
                  <a:srgbClr val="263E7A"/>
                </a:solidFill>
                <a:latin typeface="Montserrat Bold"/>
                <a:ea typeface="Montserrat Bold"/>
                <a:cs typeface="Montserrat Bold"/>
                <a:sym typeface="Montserrat Bold"/>
              </a:rPr>
              <a:t>Định dạng dữ liệu</a:t>
            </a:r>
          </a:p>
        </p:txBody>
      </p:sp>
      <p:sp>
        <p:nvSpPr>
          <p:cNvPr name="TextBox 82" id="82"/>
          <p:cNvSpPr txBox="true"/>
          <p:nvPr/>
        </p:nvSpPr>
        <p:spPr>
          <a:xfrm rot="0">
            <a:off x="7590346" y="8749811"/>
            <a:ext cx="2486385" cy="280670"/>
          </a:xfrm>
          <a:prstGeom prst="rect">
            <a:avLst/>
          </a:prstGeom>
        </p:spPr>
        <p:txBody>
          <a:bodyPr anchor="t" rtlCol="false" tIns="0" lIns="0" bIns="0" rIns="0">
            <a:spAutoFit/>
          </a:bodyPr>
          <a:lstStyle/>
          <a:p>
            <a:pPr algn="l">
              <a:lnSpc>
                <a:spcPts val="2380"/>
              </a:lnSpc>
            </a:pPr>
            <a:r>
              <a:rPr lang="en-US" sz="1700" b="true">
                <a:solidFill>
                  <a:srgbClr val="263E7A"/>
                </a:solidFill>
                <a:latin typeface="Montserrat Bold"/>
                <a:ea typeface="Montserrat Bold"/>
                <a:cs typeface="Montserrat Bold"/>
                <a:sym typeface="Montserrat Bold"/>
              </a:rPr>
              <a:t>Kiểm soát &amp; Bảo mật</a:t>
            </a:r>
          </a:p>
        </p:txBody>
      </p:sp>
      <p:sp>
        <p:nvSpPr>
          <p:cNvPr name="Freeform 83" id="83"/>
          <p:cNvSpPr/>
          <p:nvPr/>
        </p:nvSpPr>
        <p:spPr>
          <a:xfrm flipH="false" flipV="false" rot="0">
            <a:off x="15976168" y="5571308"/>
            <a:ext cx="1283132" cy="437279"/>
          </a:xfrm>
          <a:custGeom>
            <a:avLst/>
            <a:gdLst/>
            <a:ahLst/>
            <a:cxnLst/>
            <a:rect r="r" b="b" t="t" l="l"/>
            <a:pathLst>
              <a:path h="437279" w="1283132">
                <a:moveTo>
                  <a:pt x="0" y="0"/>
                </a:moveTo>
                <a:lnTo>
                  <a:pt x="1283132" y="0"/>
                </a:lnTo>
                <a:lnTo>
                  <a:pt x="1283132" y="437280"/>
                </a:lnTo>
                <a:lnTo>
                  <a:pt x="0" y="437280"/>
                </a:lnTo>
                <a:lnTo>
                  <a:pt x="0" y="0"/>
                </a:lnTo>
                <a:close/>
              </a:path>
            </a:pathLst>
          </a:custGeom>
          <a:blipFill>
            <a:blip r:embed="rId30"/>
            <a:stretch>
              <a:fillRect l="-37168" t="0" r="0" b="0"/>
            </a:stretch>
          </a:blipFill>
        </p:spPr>
      </p:sp>
      <p:sp>
        <p:nvSpPr>
          <p:cNvPr name="Freeform 84" id="84"/>
          <p:cNvSpPr/>
          <p:nvPr/>
        </p:nvSpPr>
        <p:spPr>
          <a:xfrm flipH="false" flipV="false" rot="0">
            <a:off x="12495140" y="5205811"/>
            <a:ext cx="1711944" cy="229572"/>
          </a:xfrm>
          <a:custGeom>
            <a:avLst/>
            <a:gdLst/>
            <a:ahLst/>
            <a:cxnLst/>
            <a:rect r="r" b="b" t="t" l="l"/>
            <a:pathLst>
              <a:path h="229572" w="1711944">
                <a:moveTo>
                  <a:pt x="0" y="0"/>
                </a:moveTo>
                <a:lnTo>
                  <a:pt x="1711944" y="0"/>
                </a:lnTo>
                <a:lnTo>
                  <a:pt x="1711944" y="229572"/>
                </a:lnTo>
                <a:lnTo>
                  <a:pt x="0" y="229572"/>
                </a:lnTo>
                <a:lnTo>
                  <a:pt x="0" y="0"/>
                </a:lnTo>
                <a:close/>
              </a:path>
            </a:pathLst>
          </a:custGeom>
          <a:blipFill>
            <a:blip r:embed="rId27"/>
            <a:stretch>
              <a:fillRect l="0" t="-5928" r="0" b="-5928"/>
            </a:stretch>
          </a:blipFill>
        </p:spPr>
      </p:sp>
      <p:sp>
        <p:nvSpPr>
          <p:cNvPr name="TextBox 85" id="85"/>
          <p:cNvSpPr txBox="true"/>
          <p:nvPr/>
        </p:nvSpPr>
        <p:spPr>
          <a:xfrm rot="0">
            <a:off x="13512510" y="9101048"/>
            <a:ext cx="4569571" cy="826770"/>
          </a:xfrm>
          <a:prstGeom prst="rect">
            <a:avLst/>
          </a:prstGeom>
        </p:spPr>
        <p:txBody>
          <a:bodyPr anchor="t" rtlCol="false" tIns="0" lIns="0" bIns="0" rIns="0">
            <a:spAutoFit/>
          </a:bodyPr>
          <a:lstStyle/>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Giao tiếp theo mô hình request/response</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Server xử lý đa luồng bằng ThreadPool</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UI Client luôn cập nhật qua Platform.runLater()</a:t>
            </a:r>
          </a:p>
          <a:p>
            <a:pPr algn="l" marL="259080" indent="-129540" lvl="1">
              <a:lnSpc>
                <a:spcPts val="1679"/>
              </a:lnSpc>
              <a:buFont typeface="Arial"/>
              <a:buChar char="•"/>
            </a:pPr>
            <a:r>
              <a:rPr lang="en-US" b="true" sz="1200">
                <a:solidFill>
                  <a:srgbClr val="263E7A"/>
                </a:solidFill>
                <a:latin typeface="Montserrat Semi-Bold"/>
                <a:ea typeface="Montserrat Semi-Bold"/>
                <a:cs typeface="Montserrat Semi-Bold"/>
                <a:sym typeface="Montserrat Semi-Bold"/>
              </a:rPr>
              <a:t>Dữ liệu được lưu tập trung tại Server (SQLite WAL)</a:t>
            </a:r>
          </a:p>
        </p:txBody>
      </p:sp>
      <p:sp>
        <p:nvSpPr>
          <p:cNvPr name="TextBox 86" id="86"/>
          <p:cNvSpPr txBox="true"/>
          <p:nvPr/>
        </p:nvSpPr>
        <p:spPr>
          <a:xfrm rot="0">
            <a:off x="13676476" y="8753060"/>
            <a:ext cx="2486385" cy="280670"/>
          </a:xfrm>
          <a:prstGeom prst="rect">
            <a:avLst/>
          </a:prstGeom>
        </p:spPr>
        <p:txBody>
          <a:bodyPr anchor="t" rtlCol="false" tIns="0" lIns="0" bIns="0" rIns="0">
            <a:spAutoFit/>
          </a:bodyPr>
          <a:lstStyle/>
          <a:p>
            <a:pPr algn="l">
              <a:lnSpc>
                <a:spcPts val="2380"/>
              </a:lnSpc>
            </a:pPr>
            <a:r>
              <a:rPr lang="en-US" sz="1700" b="true">
                <a:solidFill>
                  <a:srgbClr val="263E7A"/>
                </a:solidFill>
                <a:latin typeface="Montserrat Bold"/>
                <a:ea typeface="Montserrat Bold"/>
                <a:cs typeface="Montserrat Bold"/>
                <a:sym typeface="Montserrat Bold"/>
              </a:rPr>
              <a:t>Đặc điểm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31256" y="405316"/>
            <a:ext cx="8975336" cy="492291"/>
          </a:xfrm>
          <a:prstGeom prst="rect">
            <a:avLst/>
          </a:prstGeom>
        </p:spPr>
        <p:txBody>
          <a:bodyPr anchor="t" rtlCol="false" tIns="0" lIns="0" bIns="0" rIns="0">
            <a:spAutoFit/>
          </a:bodyPr>
          <a:lstStyle/>
          <a:p>
            <a:pPr algn="l">
              <a:lnSpc>
                <a:spcPts val="3864"/>
              </a:lnSpc>
            </a:pPr>
            <a:r>
              <a:rPr lang="en-US" sz="3513" b="true">
                <a:solidFill>
                  <a:srgbClr val="263E71"/>
                </a:solidFill>
                <a:latin typeface="Montserrat Bold"/>
                <a:ea typeface="Montserrat Bold"/>
                <a:cs typeface="Montserrat Bold"/>
                <a:sym typeface="Montserrat Bold"/>
              </a:rPr>
              <a:t>Kiến trúc lưu trữ dữ liệu &amp; Luồng xử lý</a:t>
            </a:r>
          </a:p>
        </p:txBody>
      </p:sp>
      <p:sp>
        <p:nvSpPr>
          <p:cNvPr name="Freeform 3" id="3"/>
          <p:cNvSpPr/>
          <p:nvPr/>
        </p:nvSpPr>
        <p:spPr>
          <a:xfrm flipH="false" flipV="false" rot="0">
            <a:off x="428233" y="1497682"/>
            <a:ext cx="5892341" cy="2361309"/>
          </a:xfrm>
          <a:custGeom>
            <a:avLst/>
            <a:gdLst/>
            <a:ahLst/>
            <a:cxnLst/>
            <a:rect r="r" b="b" t="t" l="l"/>
            <a:pathLst>
              <a:path h="2361309" w="5892341">
                <a:moveTo>
                  <a:pt x="0" y="0"/>
                </a:moveTo>
                <a:lnTo>
                  <a:pt x="5892341" y="0"/>
                </a:lnTo>
                <a:lnTo>
                  <a:pt x="5892341" y="2361309"/>
                </a:lnTo>
                <a:lnTo>
                  <a:pt x="0" y="2361309"/>
                </a:lnTo>
                <a:lnTo>
                  <a:pt x="0" y="0"/>
                </a:lnTo>
                <a:close/>
              </a:path>
            </a:pathLst>
          </a:custGeom>
          <a:blipFill>
            <a:blip r:embed="rId2"/>
            <a:stretch>
              <a:fillRect l="0" t="0" r="0" b="0"/>
            </a:stretch>
          </a:blipFill>
        </p:spPr>
      </p:sp>
      <p:sp>
        <p:nvSpPr>
          <p:cNvPr name="Freeform 4" id="4"/>
          <p:cNvSpPr/>
          <p:nvPr/>
        </p:nvSpPr>
        <p:spPr>
          <a:xfrm flipH="false" flipV="false" rot="0">
            <a:off x="646872" y="1705390"/>
            <a:ext cx="666851" cy="874559"/>
          </a:xfrm>
          <a:custGeom>
            <a:avLst/>
            <a:gdLst/>
            <a:ahLst/>
            <a:cxnLst/>
            <a:rect r="r" b="b" t="t" l="l"/>
            <a:pathLst>
              <a:path h="874559" w="666851">
                <a:moveTo>
                  <a:pt x="0" y="0"/>
                </a:moveTo>
                <a:lnTo>
                  <a:pt x="666852" y="0"/>
                </a:lnTo>
                <a:lnTo>
                  <a:pt x="666852" y="874559"/>
                </a:lnTo>
                <a:lnTo>
                  <a:pt x="0" y="874559"/>
                </a:lnTo>
                <a:lnTo>
                  <a:pt x="0" y="0"/>
                </a:lnTo>
                <a:close/>
              </a:path>
            </a:pathLst>
          </a:custGeom>
          <a:blipFill>
            <a:blip r:embed="rId3"/>
            <a:stretch>
              <a:fillRect l="0" t="0" r="0" b="0"/>
            </a:stretch>
          </a:blipFill>
        </p:spPr>
      </p:sp>
      <p:sp>
        <p:nvSpPr>
          <p:cNvPr name="TextBox 5" id="5"/>
          <p:cNvSpPr txBox="true"/>
          <p:nvPr/>
        </p:nvSpPr>
        <p:spPr>
          <a:xfrm rot="0">
            <a:off x="1372756" y="2399257"/>
            <a:ext cx="4496458" cy="839202"/>
          </a:xfrm>
          <a:prstGeom prst="rect">
            <a:avLst/>
          </a:prstGeom>
        </p:spPr>
        <p:txBody>
          <a:bodyPr anchor="t" rtlCol="false" tIns="0" lIns="0" bIns="0" rIns="0">
            <a:spAutoFit/>
          </a:bodyPr>
          <a:lstStyle/>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Lưu trữ tập trung tại Server</a:t>
            </a:r>
          </a:p>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Sử dụng SQLite, bật chế độ WAL</a:t>
            </a:r>
          </a:p>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Không có JDBC/SQLite trên Client</a:t>
            </a:r>
          </a:p>
        </p:txBody>
      </p:sp>
      <p:sp>
        <p:nvSpPr>
          <p:cNvPr name="Freeform 6" id="6"/>
          <p:cNvSpPr/>
          <p:nvPr/>
        </p:nvSpPr>
        <p:spPr>
          <a:xfrm flipH="false" flipV="false" rot="0">
            <a:off x="6309642" y="1497682"/>
            <a:ext cx="5444130" cy="2361309"/>
          </a:xfrm>
          <a:custGeom>
            <a:avLst/>
            <a:gdLst/>
            <a:ahLst/>
            <a:cxnLst/>
            <a:rect r="r" b="b" t="t" l="l"/>
            <a:pathLst>
              <a:path h="2361309" w="5444130">
                <a:moveTo>
                  <a:pt x="0" y="0"/>
                </a:moveTo>
                <a:lnTo>
                  <a:pt x="5444129" y="0"/>
                </a:lnTo>
                <a:lnTo>
                  <a:pt x="5444129" y="2361309"/>
                </a:lnTo>
                <a:lnTo>
                  <a:pt x="0" y="2361309"/>
                </a:lnTo>
                <a:lnTo>
                  <a:pt x="0" y="0"/>
                </a:lnTo>
                <a:close/>
              </a:path>
            </a:pathLst>
          </a:custGeom>
          <a:blipFill>
            <a:blip r:embed="rId4"/>
            <a:stretch>
              <a:fillRect l="0" t="0" r="0" b="0"/>
            </a:stretch>
          </a:blipFill>
        </p:spPr>
      </p:sp>
      <p:sp>
        <p:nvSpPr>
          <p:cNvPr name="Freeform 7" id="7"/>
          <p:cNvSpPr/>
          <p:nvPr/>
        </p:nvSpPr>
        <p:spPr>
          <a:xfrm flipH="false" flipV="false" rot="0">
            <a:off x="6746921" y="1705390"/>
            <a:ext cx="437279" cy="655919"/>
          </a:xfrm>
          <a:custGeom>
            <a:avLst/>
            <a:gdLst/>
            <a:ahLst/>
            <a:cxnLst/>
            <a:rect r="r" b="b" t="t" l="l"/>
            <a:pathLst>
              <a:path h="655919" w="437279">
                <a:moveTo>
                  <a:pt x="0" y="0"/>
                </a:moveTo>
                <a:lnTo>
                  <a:pt x="437280" y="0"/>
                </a:lnTo>
                <a:lnTo>
                  <a:pt x="437280" y="655919"/>
                </a:lnTo>
                <a:lnTo>
                  <a:pt x="0" y="655919"/>
                </a:lnTo>
                <a:lnTo>
                  <a:pt x="0" y="0"/>
                </a:lnTo>
                <a:close/>
              </a:path>
            </a:pathLst>
          </a:custGeom>
          <a:blipFill>
            <a:blip r:embed="rId5"/>
            <a:stretch>
              <a:fillRect l="0" t="0" r="0" b="0"/>
            </a:stretch>
          </a:blipFill>
        </p:spPr>
      </p:sp>
      <p:sp>
        <p:nvSpPr>
          <p:cNvPr name="TextBox 8" id="8"/>
          <p:cNvSpPr txBox="true"/>
          <p:nvPr/>
        </p:nvSpPr>
        <p:spPr>
          <a:xfrm rot="0">
            <a:off x="7459424" y="1874637"/>
            <a:ext cx="2051597"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Các bảng chính</a:t>
            </a:r>
          </a:p>
        </p:txBody>
      </p:sp>
      <p:sp>
        <p:nvSpPr>
          <p:cNvPr name="TextBox 9" id="9"/>
          <p:cNvSpPr txBox="true"/>
          <p:nvPr/>
        </p:nvSpPr>
        <p:spPr>
          <a:xfrm rot="0">
            <a:off x="7349755" y="2231867"/>
            <a:ext cx="4496458" cy="1311393"/>
          </a:xfrm>
          <a:prstGeom prst="rect">
            <a:avLst/>
          </a:prstGeom>
        </p:spPr>
        <p:txBody>
          <a:bodyPr anchor="t" rtlCol="false" tIns="0" lIns="0" bIns="0" rIns="0">
            <a:spAutoFit/>
          </a:bodyPr>
          <a:lstStyle/>
          <a:p>
            <a:pPr algn="l" marL="269474" indent="-134737" lvl="1">
              <a:lnSpc>
                <a:spcPts val="2121"/>
              </a:lnSpc>
              <a:buFont typeface="Arial"/>
              <a:buChar char="•"/>
            </a:pPr>
            <a:r>
              <a:rPr lang="en-US" sz="1248">
                <a:solidFill>
                  <a:srgbClr val="263E71"/>
                </a:solidFill>
                <a:latin typeface="Montserrat"/>
                <a:ea typeface="Montserrat"/>
                <a:cs typeface="Montserrat"/>
                <a:sym typeface="Montserrat"/>
              </a:rPr>
              <a:t>users: thông tin người dùng</a:t>
            </a:r>
          </a:p>
          <a:p>
            <a:pPr algn="l" marL="269474" indent="-134737" lvl="1">
              <a:lnSpc>
                <a:spcPts val="2121"/>
              </a:lnSpc>
              <a:buFont typeface="Arial"/>
              <a:buChar char="•"/>
            </a:pPr>
            <a:r>
              <a:rPr lang="en-US" sz="1248">
                <a:solidFill>
                  <a:srgbClr val="263E71"/>
                </a:solidFill>
                <a:latin typeface="Montserrat"/>
                <a:ea typeface="Montserrat"/>
                <a:cs typeface="Montserrat"/>
                <a:sym typeface="Montserrat"/>
              </a:rPr>
              <a:t>conversations: phông chat (cá nhân/óm)</a:t>
            </a:r>
          </a:p>
          <a:p>
            <a:pPr algn="l" marL="269474" indent="-134737" lvl="1">
              <a:lnSpc>
                <a:spcPts val="2121"/>
              </a:lnSpc>
              <a:buFont typeface="Arial"/>
              <a:buChar char="•"/>
            </a:pPr>
            <a:r>
              <a:rPr lang="en-US" sz="1248">
                <a:solidFill>
                  <a:srgbClr val="263E71"/>
                </a:solidFill>
                <a:latin typeface="Montserrat"/>
                <a:ea typeface="Montserrat"/>
                <a:cs typeface="Montserrat"/>
                <a:sym typeface="Montserrat"/>
              </a:rPr>
              <a:t>conversation_members: thành viên phòng chat</a:t>
            </a:r>
          </a:p>
          <a:p>
            <a:pPr algn="l" marL="269474" indent="-134737" lvl="1">
              <a:lnSpc>
                <a:spcPts val="2121"/>
              </a:lnSpc>
              <a:buFont typeface="Arial"/>
              <a:buChar char="•"/>
            </a:pPr>
            <a:r>
              <a:rPr lang="en-US" sz="1248">
                <a:solidFill>
                  <a:srgbClr val="263E71"/>
                </a:solidFill>
                <a:latin typeface="Montserrat"/>
                <a:ea typeface="Montserrat"/>
                <a:cs typeface="Montserrat"/>
                <a:sym typeface="Montserrat"/>
              </a:rPr>
              <a:t>messages: tin nhắn</a:t>
            </a:r>
          </a:p>
          <a:p>
            <a:pPr algn="l" marL="269474" indent="-134737" lvl="1">
              <a:lnSpc>
                <a:spcPts val="2121"/>
              </a:lnSpc>
              <a:buFont typeface="Arial"/>
              <a:buChar char="•"/>
            </a:pPr>
            <a:r>
              <a:rPr lang="en-US" sz="1248">
                <a:solidFill>
                  <a:srgbClr val="263E71"/>
                </a:solidFill>
                <a:latin typeface="Montserrat"/>
                <a:ea typeface="Montserrat"/>
                <a:cs typeface="Montserrat"/>
                <a:sym typeface="Montserrat"/>
              </a:rPr>
              <a:t>(và các bảng liên quan khác)</a:t>
            </a:r>
          </a:p>
        </p:txBody>
      </p:sp>
      <p:sp>
        <p:nvSpPr>
          <p:cNvPr name="Freeform 10" id="10"/>
          <p:cNvSpPr/>
          <p:nvPr/>
        </p:nvSpPr>
        <p:spPr>
          <a:xfrm flipH="false" flipV="false" rot="0">
            <a:off x="11742839" y="1497682"/>
            <a:ext cx="6110981" cy="2361309"/>
          </a:xfrm>
          <a:custGeom>
            <a:avLst/>
            <a:gdLst/>
            <a:ahLst/>
            <a:cxnLst/>
            <a:rect r="r" b="b" t="t" l="l"/>
            <a:pathLst>
              <a:path h="2361309" w="6110981">
                <a:moveTo>
                  <a:pt x="0" y="0"/>
                </a:moveTo>
                <a:lnTo>
                  <a:pt x="6110981" y="0"/>
                </a:lnTo>
                <a:lnTo>
                  <a:pt x="6110981" y="2361309"/>
                </a:lnTo>
                <a:lnTo>
                  <a:pt x="0" y="2361309"/>
                </a:lnTo>
                <a:lnTo>
                  <a:pt x="0" y="0"/>
                </a:lnTo>
                <a:close/>
              </a:path>
            </a:pathLst>
          </a:custGeom>
          <a:blipFill>
            <a:blip r:embed="rId6"/>
            <a:stretch>
              <a:fillRect l="0" t="0" r="0" b="0"/>
            </a:stretch>
          </a:blipFill>
        </p:spPr>
      </p:sp>
      <p:sp>
        <p:nvSpPr>
          <p:cNvPr name="Freeform 11" id="11"/>
          <p:cNvSpPr/>
          <p:nvPr/>
        </p:nvSpPr>
        <p:spPr>
          <a:xfrm flipH="false" flipV="false" rot="0">
            <a:off x="12180119" y="1705390"/>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7"/>
            <a:stretch>
              <a:fillRect l="0" t="0" r="0" b="0"/>
            </a:stretch>
          </a:blipFill>
        </p:spPr>
      </p:sp>
      <p:sp>
        <p:nvSpPr>
          <p:cNvPr name="TextBox 12" id="12"/>
          <p:cNvSpPr txBox="true"/>
          <p:nvPr/>
        </p:nvSpPr>
        <p:spPr>
          <a:xfrm rot="0">
            <a:off x="12979466" y="2225861"/>
            <a:ext cx="4496458" cy="1410702"/>
          </a:xfrm>
          <a:prstGeom prst="rect">
            <a:avLst/>
          </a:prstGeom>
        </p:spPr>
        <p:txBody>
          <a:bodyPr anchor="t" rtlCol="false" tIns="0" lIns="0" bIns="0" rIns="0">
            <a:spAutoFit/>
          </a:bodyPr>
          <a:lstStyle/>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UserDao: crud người dùng</a:t>
            </a:r>
          </a:p>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ConversationDao: crud hội thoại &amp; thành viên</a:t>
            </a:r>
          </a:p>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MessageDao: lưu và tra cứu tin nhắn (phân trang)</a:t>
            </a:r>
          </a:p>
          <a:p>
            <a:pPr algn="l" marL="288058" indent="-144029" lvl="1">
              <a:lnSpc>
                <a:spcPts val="2268"/>
              </a:lnSpc>
              <a:buFont typeface="Arial"/>
              <a:buChar char="•"/>
            </a:pPr>
            <a:r>
              <a:rPr lang="en-US" sz="1334">
                <a:solidFill>
                  <a:srgbClr val="263E71"/>
                </a:solidFill>
                <a:latin typeface="Montserrat"/>
                <a:ea typeface="Montserrat"/>
                <a:cs typeface="Montserrat"/>
                <a:sym typeface="Montserrat"/>
              </a:rPr>
              <a:t>Đảm bảo tác lên an toàn, dùng WAL</a:t>
            </a:r>
          </a:p>
        </p:txBody>
      </p:sp>
      <p:sp>
        <p:nvSpPr>
          <p:cNvPr name="Freeform 13" id="13"/>
          <p:cNvSpPr/>
          <p:nvPr/>
        </p:nvSpPr>
        <p:spPr>
          <a:xfrm flipH="false" flipV="false" rot="0">
            <a:off x="428233" y="3848060"/>
            <a:ext cx="17425588" cy="4941258"/>
          </a:xfrm>
          <a:custGeom>
            <a:avLst/>
            <a:gdLst/>
            <a:ahLst/>
            <a:cxnLst/>
            <a:rect r="r" b="b" t="t" l="l"/>
            <a:pathLst>
              <a:path h="4941258" w="17425588">
                <a:moveTo>
                  <a:pt x="0" y="0"/>
                </a:moveTo>
                <a:lnTo>
                  <a:pt x="17425587" y="0"/>
                </a:lnTo>
                <a:lnTo>
                  <a:pt x="17425587" y="4941258"/>
                </a:lnTo>
                <a:lnTo>
                  <a:pt x="0" y="4941258"/>
                </a:lnTo>
                <a:lnTo>
                  <a:pt x="0" y="0"/>
                </a:lnTo>
                <a:close/>
              </a:path>
            </a:pathLst>
          </a:custGeom>
          <a:blipFill>
            <a:blip r:embed="rId8"/>
            <a:stretch>
              <a:fillRect l="0" t="0" r="0" b="0"/>
            </a:stretch>
          </a:blipFill>
        </p:spPr>
      </p:sp>
      <p:sp>
        <p:nvSpPr>
          <p:cNvPr name="Freeform 14" id="14"/>
          <p:cNvSpPr/>
          <p:nvPr/>
        </p:nvSpPr>
        <p:spPr>
          <a:xfrm flipH="false" flipV="false" rot="0">
            <a:off x="646872" y="4493047"/>
            <a:ext cx="4143223" cy="4088563"/>
          </a:xfrm>
          <a:custGeom>
            <a:avLst/>
            <a:gdLst/>
            <a:ahLst/>
            <a:cxnLst/>
            <a:rect r="r" b="b" t="t" l="l"/>
            <a:pathLst>
              <a:path h="4088563" w="4143223">
                <a:moveTo>
                  <a:pt x="0" y="0"/>
                </a:moveTo>
                <a:lnTo>
                  <a:pt x="4143224" y="0"/>
                </a:lnTo>
                <a:lnTo>
                  <a:pt x="4143224" y="4088563"/>
                </a:lnTo>
                <a:lnTo>
                  <a:pt x="0" y="4088563"/>
                </a:lnTo>
                <a:lnTo>
                  <a:pt x="0" y="0"/>
                </a:lnTo>
                <a:close/>
              </a:path>
            </a:pathLst>
          </a:custGeom>
          <a:blipFill>
            <a:blip r:embed="rId9"/>
            <a:stretch>
              <a:fillRect l="0" t="0" r="0" b="0"/>
            </a:stretch>
          </a:blipFill>
        </p:spPr>
      </p:sp>
      <p:sp>
        <p:nvSpPr>
          <p:cNvPr name="Freeform 15" id="15"/>
          <p:cNvSpPr/>
          <p:nvPr/>
        </p:nvSpPr>
        <p:spPr>
          <a:xfrm flipH="false" flipV="false" rot="0">
            <a:off x="865512" y="4711687"/>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10"/>
            <a:stretch>
              <a:fillRect l="0" t="0" r="0" b="0"/>
            </a:stretch>
          </a:blipFill>
        </p:spPr>
      </p:sp>
      <p:sp>
        <p:nvSpPr>
          <p:cNvPr name="Freeform 16" id="16"/>
          <p:cNvSpPr/>
          <p:nvPr/>
        </p:nvSpPr>
        <p:spPr>
          <a:xfrm flipH="false" flipV="false" rot="0">
            <a:off x="865512" y="5564382"/>
            <a:ext cx="3705944" cy="1082267"/>
          </a:xfrm>
          <a:custGeom>
            <a:avLst/>
            <a:gdLst/>
            <a:ahLst/>
            <a:cxnLst/>
            <a:rect r="r" b="b" t="t" l="l"/>
            <a:pathLst>
              <a:path h="1082267" w="3705944">
                <a:moveTo>
                  <a:pt x="0" y="0"/>
                </a:moveTo>
                <a:lnTo>
                  <a:pt x="3705944" y="0"/>
                </a:lnTo>
                <a:lnTo>
                  <a:pt x="3705944" y="1082266"/>
                </a:lnTo>
                <a:lnTo>
                  <a:pt x="0" y="1082266"/>
                </a:lnTo>
                <a:lnTo>
                  <a:pt x="0" y="0"/>
                </a:lnTo>
                <a:close/>
              </a:path>
            </a:pathLst>
          </a:custGeom>
          <a:blipFill>
            <a:blip r:embed="rId11"/>
            <a:stretch>
              <a:fillRect l="0" t="0" r="0" b="0"/>
            </a:stretch>
          </a:blipFill>
        </p:spPr>
      </p:sp>
      <p:sp>
        <p:nvSpPr>
          <p:cNvPr name="Freeform 17" id="17"/>
          <p:cNvSpPr/>
          <p:nvPr/>
        </p:nvSpPr>
        <p:spPr>
          <a:xfrm flipH="false" flipV="false" rot="0">
            <a:off x="865512" y="6635716"/>
            <a:ext cx="3705944" cy="1082267"/>
          </a:xfrm>
          <a:custGeom>
            <a:avLst/>
            <a:gdLst/>
            <a:ahLst/>
            <a:cxnLst/>
            <a:rect r="r" b="b" t="t" l="l"/>
            <a:pathLst>
              <a:path h="1082267" w="3705944">
                <a:moveTo>
                  <a:pt x="0" y="0"/>
                </a:moveTo>
                <a:lnTo>
                  <a:pt x="3705944" y="0"/>
                </a:lnTo>
                <a:lnTo>
                  <a:pt x="3705944" y="1082267"/>
                </a:lnTo>
                <a:lnTo>
                  <a:pt x="0" y="1082267"/>
                </a:lnTo>
                <a:lnTo>
                  <a:pt x="0" y="0"/>
                </a:lnTo>
                <a:close/>
              </a:path>
            </a:pathLst>
          </a:custGeom>
          <a:blipFill>
            <a:blip r:embed="rId12"/>
            <a:stretch>
              <a:fillRect l="0" t="0" r="0" b="0"/>
            </a:stretch>
          </a:blipFill>
        </p:spPr>
      </p:sp>
      <p:sp>
        <p:nvSpPr>
          <p:cNvPr name="Freeform 18" id="18"/>
          <p:cNvSpPr/>
          <p:nvPr/>
        </p:nvSpPr>
        <p:spPr>
          <a:xfrm flipH="false" flipV="false" rot="0">
            <a:off x="4571456" y="5990729"/>
            <a:ext cx="1749118" cy="448211"/>
          </a:xfrm>
          <a:custGeom>
            <a:avLst/>
            <a:gdLst/>
            <a:ahLst/>
            <a:cxnLst/>
            <a:rect r="r" b="b" t="t" l="l"/>
            <a:pathLst>
              <a:path h="448211" w="1749118">
                <a:moveTo>
                  <a:pt x="0" y="0"/>
                </a:moveTo>
                <a:lnTo>
                  <a:pt x="1749118" y="0"/>
                </a:lnTo>
                <a:lnTo>
                  <a:pt x="1749118" y="448211"/>
                </a:lnTo>
                <a:lnTo>
                  <a:pt x="0" y="448211"/>
                </a:lnTo>
                <a:lnTo>
                  <a:pt x="0" y="0"/>
                </a:lnTo>
                <a:close/>
              </a:path>
            </a:pathLst>
          </a:custGeom>
          <a:blipFill>
            <a:blip r:embed="rId13"/>
            <a:stretch>
              <a:fillRect l="0" t="0" r="0" b="0"/>
            </a:stretch>
          </a:blipFill>
        </p:spPr>
      </p:sp>
      <p:sp>
        <p:nvSpPr>
          <p:cNvPr name="Freeform 19" id="19"/>
          <p:cNvSpPr/>
          <p:nvPr/>
        </p:nvSpPr>
        <p:spPr>
          <a:xfrm flipH="false" flipV="false" rot="0">
            <a:off x="4571456" y="7062064"/>
            <a:ext cx="1749118" cy="229572"/>
          </a:xfrm>
          <a:custGeom>
            <a:avLst/>
            <a:gdLst/>
            <a:ahLst/>
            <a:cxnLst/>
            <a:rect r="r" b="b" t="t" l="l"/>
            <a:pathLst>
              <a:path h="229572" w="1749118">
                <a:moveTo>
                  <a:pt x="0" y="0"/>
                </a:moveTo>
                <a:lnTo>
                  <a:pt x="1749118" y="0"/>
                </a:lnTo>
                <a:lnTo>
                  <a:pt x="1749118" y="229571"/>
                </a:lnTo>
                <a:lnTo>
                  <a:pt x="0" y="229571"/>
                </a:lnTo>
                <a:lnTo>
                  <a:pt x="0" y="0"/>
                </a:lnTo>
                <a:close/>
              </a:path>
            </a:pathLst>
          </a:custGeom>
          <a:blipFill>
            <a:blip r:embed="rId14"/>
            <a:stretch>
              <a:fillRect l="0" t="0" r="0" b="0"/>
            </a:stretch>
          </a:blipFill>
        </p:spPr>
      </p:sp>
      <p:sp>
        <p:nvSpPr>
          <p:cNvPr name="Freeform 20" id="20"/>
          <p:cNvSpPr/>
          <p:nvPr/>
        </p:nvSpPr>
        <p:spPr>
          <a:xfrm flipH="false" flipV="false" rot="0">
            <a:off x="6309642" y="4493047"/>
            <a:ext cx="5444130" cy="4088563"/>
          </a:xfrm>
          <a:custGeom>
            <a:avLst/>
            <a:gdLst/>
            <a:ahLst/>
            <a:cxnLst/>
            <a:rect r="r" b="b" t="t" l="l"/>
            <a:pathLst>
              <a:path h="4088563" w="5444130">
                <a:moveTo>
                  <a:pt x="0" y="0"/>
                </a:moveTo>
                <a:lnTo>
                  <a:pt x="5444129" y="0"/>
                </a:lnTo>
                <a:lnTo>
                  <a:pt x="5444129" y="4088563"/>
                </a:lnTo>
                <a:lnTo>
                  <a:pt x="0" y="4088563"/>
                </a:lnTo>
                <a:lnTo>
                  <a:pt x="0" y="0"/>
                </a:lnTo>
                <a:close/>
              </a:path>
            </a:pathLst>
          </a:custGeom>
          <a:blipFill>
            <a:blip r:embed="rId15"/>
            <a:stretch>
              <a:fillRect l="0" t="0" r="0" b="0"/>
            </a:stretch>
          </a:blipFill>
        </p:spPr>
      </p:sp>
      <p:sp>
        <p:nvSpPr>
          <p:cNvPr name="Freeform 21" id="21"/>
          <p:cNvSpPr/>
          <p:nvPr/>
        </p:nvSpPr>
        <p:spPr>
          <a:xfrm flipH="false" flipV="false" rot="0">
            <a:off x="6528282" y="4711687"/>
            <a:ext cx="655919" cy="655919"/>
          </a:xfrm>
          <a:custGeom>
            <a:avLst/>
            <a:gdLst/>
            <a:ahLst/>
            <a:cxnLst/>
            <a:rect r="r" b="b" t="t" l="l"/>
            <a:pathLst>
              <a:path h="655919" w="655919">
                <a:moveTo>
                  <a:pt x="0" y="0"/>
                </a:moveTo>
                <a:lnTo>
                  <a:pt x="655919" y="0"/>
                </a:lnTo>
                <a:lnTo>
                  <a:pt x="655919" y="655919"/>
                </a:lnTo>
                <a:lnTo>
                  <a:pt x="0" y="655919"/>
                </a:lnTo>
                <a:lnTo>
                  <a:pt x="0" y="0"/>
                </a:lnTo>
                <a:close/>
              </a:path>
            </a:pathLst>
          </a:custGeom>
          <a:blipFill>
            <a:blip r:embed="rId16"/>
            <a:stretch>
              <a:fillRect l="0" t="0" r="0" b="0"/>
            </a:stretch>
          </a:blipFill>
        </p:spPr>
      </p:sp>
      <p:sp>
        <p:nvSpPr>
          <p:cNvPr name="TextBox 22" id="22"/>
          <p:cNvSpPr txBox="true"/>
          <p:nvPr/>
        </p:nvSpPr>
        <p:spPr>
          <a:xfrm rot="0">
            <a:off x="7422868" y="4753971"/>
            <a:ext cx="2303064"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Server (ChatServer)</a:t>
            </a:r>
          </a:p>
        </p:txBody>
      </p:sp>
      <p:sp>
        <p:nvSpPr>
          <p:cNvPr name="Freeform 23" id="23"/>
          <p:cNvSpPr/>
          <p:nvPr/>
        </p:nvSpPr>
        <p:spPr>
          <a:xfrm flipH="false" flipV="false" rot="0">
            <a:off x="6528282" y="5356674"/>
            <a:ext cx="5006850" cy="863627"/>
          </a:xfrm>
          <a:custGeom>
            <a:avLst/>
            <a:gdLst/>
            <a:ahLst/>
            <a:cxnLst/>
            <a:rect r="r" b="b" t="t" l="l"/>
            <a:pathLst>
              <a:path h="863627" w="5006850">
                <a:moveTo>
                  <a:pt x="0" y="0"/>
                </a:moveTo>
                <a:lnTo>
                  <a:pt x="5006850" y="0"/>
                </a:lnTo>
                <a:lnTo>
                  <a:pt x="5006850" y="863627"/>
                </a:lnTo>
                <a:lnTo>
                  <a:pt x="0" y="863627"/>
                </a:lnTo>
                <a:lnTo>
                  <a:pt x="0" y="0"/>
                </a:lnTo>
                <a:close/>
              </a:path>
            </a:pathLst>
          </a:custGeom>
          <a:blipFill>
            <a:blip r:embed="rId17"/>
            <a:stretch>
              <a:fillRect l="0" t="0" r="0" b="0"/>
            </a:stretch>
          </a:blipFill>
        </p:spPr>
      </p:sp>
      <p:sp>
        <p:nvSpPr>
          <p:cNvPr name="Freeform 24" id="24"/>
          <p:cNvSpPr/>
          <p:nvPr/>
        </p:nvSpPr>
        <p:spPr>
          <a:xfrm flipH="false" flipV="false" rot="0">
            <a:off x="6528282" y="6209369"/>
            <a:ext cx="5006850" cy="1082267"/>
          </a:xfrm>
          <a:custGeom>
            <a:avLst/>
            <a:gdLst/>
            <a:ahLst/>
            <a:cxnLst/>
            <a:rect r="r" b="b" t="t" l="l"/>
            <a:pathLst>
              <a:path h="1082267" w="5006850">
                <a:moveTo>
                  <a:pt x="0" y="0"/>
                </a:moveTo>
                <a:lnTo>
                  <a:pt x="5006850" y="0"/>
                </a:lnTo>
                <a:lnTo>
                  <a:pt x="5006850" y="1082266"/>
                </a:lnTo>
                <a:lnTo>
                  <a:pt x="0" y="1082266"/>
                </a:lnTo>
                <a:lnTo>
                  <a:pt x="0" y="0"/>
                </a:lnTo>
                <a:close/>
              </a:path>
            </a:pathLst>
          </a:custGeom>
          <a:blipFill>
            <a:blip r:embed="rId18"/>
            <a:stretch>
              <a:fillRect l="0" t="0" r="0" b="0"/>
            </a:stretch>
          </a:blipFill>
        </p:spPr>
      </p:sp>
      <p:sp>
        <p:nvSpPr>
          <p:cNvPr name="TextBox 25" id="25"/>
          <p:cNvSpPr txBox="true"/>
          <p:nvPr/>
        </p:nvSpPr>
        <p:spPr>
          <a:xfrm rot="0">
            <a:off x="6746921" y="6634437"/>
            <a:ext cx="4700643" cy="381000"/>
          </a:xfrm>
          <a:prstGeom prst="rect">
            <a:avLst/>
          </a:prstGeom>
        </p:spPr>
        <p:txBody>
          <a:bodyPr anchor="t" rtlCol="false" tIns="0" lIns="0" bIns="0" rIns="0">
            <a:spAutoFit/>
          </a:bodyPr>
          <a:lstStyle/>
          <a:p>
            <a:pPr algn="ctr">
              <a:lnSpc>
                <a:spcPts val="1504"/>
              </a:lnSpc>
            </a:pPr>
            <a:r>
              <a:rPr lang="en-US" sz="1253">
                <a:solidFill>
                  <a:srgbClr val="263E71"/>
                </a:solidFill>
                <a:latin typeface="Montserrat"/>
                <a:ea typeface="Montserrat"/>
                <a:cs typeface="Montserrat"/>
                <a:sym typeface="Montserrat"/>
              </a:rPr>
              <a:t>Phân loại message theo MessageType</a:t>
            </a:r>
          </a:p>
          <a:p>
            <a:pPr algn="ctr">
              <a:lnSpc>
                <a:spcPts val="1504"/>
              </a:lnSpc>
            </a:pPr>
            <a:r>
              <a:rPr lang="en-US" sz="1253">
                <a:solidFill>
                  <a:srgbClr val="263E71"/>
                </a:solidFill>
                <a:latin typeface="Montserrat"/>
                <a:ea typeface="Montserrat"/>
                <a:cs typeface="Montserrat"/>
                <a:sym typeface="Montserrat"/>
              </a:rPr>
              <a:t>chuyển đến Handler phù hợp</a:t>
            </a:r>
          </a:p>
        </p:txBody>
      </p:sp>
      <p:sp>
        <p:nvSpPr>
          <p:cNvPr name="Freeform 26" id="26"/>
          <p:cNvSpPr/>
          <p:nvPr/>
        </p:nvSpPr>
        <p:spPr>
          <a:xfrm flipH="false" flipV="false" rot="0">
            <a:off x="6528282" y="7280704"/>
            <a:ext cx="5006850" cy="1082267"/>
          </a:xfrm>
          <a:custGeom>
            <a:avLst/>
            <a:gdLst/>
            <a:ahLst/>
            <a:cxnLst/>
            <a:rect r="r" b="b" t="t" l="l"/>
            <a:pathLst>
              <a:path h="1082267" w="5006850">
                <a:moveTo>
                  <a:pt x="0" y="0"/>
                </a:moveTo>
                <a:lnTo>
                  <a:pt x="5006850" y="0"/>
                </a:lnTo>
                <a:lnTo>
                  <a:pt x="5006850" y="1082266"/>
                </a:lnTo>
                <a:lnTo>
                  <a:pt x="0" y="1082266"/>
                </a:lnTo>
                <a:lnTo>
                  <a:pt x="0" y="0"/>
                </a:lnTo>
                <a:close/>
              </a:path>
            </a:pathLst>
          </a:custGeom>
          <a:blipFill>
            <a:blip r:embed="rId19"/>
            <a:stretch>
              <a:fillRect l="0" t="0" r="0" b="0"/>
            </a:stretch>
          </a:blipFill>
        </p:spPr>
      </p:sp>
      <p:sp>
        <p:nvSpPr>
          <p:cNvPr name="Freeform 27" id="27"/>
          <p:cNvSpPr/>
          <p:nvPr/>
        </p:nvSpPr>
        <p:spPr>
          <a:xfrm flipH="false" flipV="false" rot="0">
            <a:off x="8922387" y="5990729"/>
            <a:ext cx="437279" cy="448211"/>
          </a:xfrm>
          <a:custGeom>
            <a:avLst/>
            <a:gdLst/>
            <a:ahLst/>
            <a:cxnLst/>
            <a:rect r="r" b="b" t="t" l="l"/>
            <a:pathLst>
              <a:path h="448211" w="437279">
                <a:moveTo>
                  <a:pt x="0" y="0"/>
                </a:moveTo>
                <a:lnTo>
                  <a:pt x="437279" y="0"/>
                </a:lnTo>
                <a:lnTo>
                  <a:pt x="437279" y="448211"/>
                </a:lnTo>
                <a:lnTo>
                  <a:pt x="0" y="448211"/>
                </a:lnTo>
                <a:lnTo>
                  <a:pt x="0" y="0"/>
                </a:lnTo>
                <a:close/>
              </a:path>
            </a:pathLst>
          </a:custGeom>
          <a:blipFill>
            <a:blip r:embed="rId20"/>
            <a:stretch>
              <a:fillRect l="0" t="0" r="0" b="0"/>
            </a:stretch>
          </a:blipFill>
        </p:spPr>
      </p:sp>
      <p:sp>
        <p:nvSpPr>
          <p:cNvPr name="Freeform 28" id="28"/>
          <p:cNvSpPr/>
          <p:nvPr/>
        </p:nvSpPr>
        <p:spPr>
          <a:xfrm flipH="false" flipV="false" rot="0">
            <a:off x="8922387" y="7062064"/>
            <a:ext cx="437279" cy="448211"/>
          </a:xfrm>
          <a:custGeom>
            <a:avLst/>
            <a:gdLst/>
            <a:ahLst/>
            <a:cxnLst/>
            <a:rect r="r" b="b" t="t" l="l"/>
            <a:pathLst>
              <a:path h="448211" w="437279">
                <a:moveTo>
                  <a:pt x="0" y="0"/>
                </a:moveTo>
                <a:lnTo>
                  <a:pt x="437279" y="0"/>
                </a:lnTo>
                <a:lnTo>
                  <a:pt x="437279" y="448211"/>
                </a:lnTo>
                <a:lnTo>
                  <a:pt x="0" y="448211"/>
                </a:lnTo>
                <a:lnTo>
                  <a:pt x="0" y="0"/>
                </a:lnTo>
                <a:close/>
              </a:path>
            </a:pathLst>
          </a:custGeom>
          <a:blipFill>
            <a:blip r:embed="rId21"/>
            <a:stretch>
              <a:fillRect l="0" t="0" r="0" b="0"/>
            </a:stretch>
          </a:blipFill>
        </p:spPr>
      </p:sp>
      <p:sp>
        <p:nvSpPr>
          <p:cNvPr name="Freeform 29" id="29"/>
          <p:cNvSpPr/>
          <p:nvPr/>
        </p:nvSpPr>
        <p:spPr>
          <a:xfrm flipH="false" flipV="false" rot="0">
            <a:off x="428233" y="8570678"/>
            <a:ext cx="17425588" cy="1716322"/>
          </a:xfrm>
          <a:custGeom>
            <a:avLst/>
            <a:gdLst/>
            <a:ahLst/>
            <a:cxnLst/>
            <a:rect r="r" b="b" t="t" l="l"/>
            <a:pathLst>
              <a:path h="1716322" w="17425588">
                <a:moveTo>
                  <a:pt x="0" y="0"/>
                </a:moveTo>
                <a:lnTo>
                  <a:pt x="17425587" y="0"/>
                </a:lnTo>
                <a:lnTo>
                  <a:pt x="17425587" y="1716322"/>
                </a:lnTo>
                <a:lnTo>
                  <a:pt x="0" y="1716322"/>
                </a:lnTo>
                <a:lnTo>
                  <a:pt x="0" y="0"/>
                </a:lnTo>
                <a:close/>
              </a:path>
            </a:pathLst>
          </a:custGeom>
          <a:blipFill>
            <a:blip r:embed="rId22"/>
            <a:stretch>
              <a:fillRect l="0" t="0" r="0" b="0"/>
            </a:stretch>
          </a:blipFill>
        </p:spPr>
      </p:sp>
      <p:sp>
        <p:nvSpPr>
          <p:cNvPr name="Freeform 30" id="30"/>
          <p:cNvSpPr/>
          <p:nvPr/>
        </p:nvSpPr>
        <p:spPr>
          <a:xfrm flipH="false" flipV="false" rot="0">
            <a:off x="646872" y="8778386"/>
            <a:ext cx="666851" cy="655919"/>
          </a:xfrm>
          <a:custGeom>
            <a:avLst/>
            <a:gdLst/>
            <a:ahLst/>
            <a:cxnLst/>
            <a:rect r="r" b="b" t="t" l="l"/>
            <a:pathLst>
              <a:path h="655919" w="666851">
                <a:moveTo>
                  <a:pt x="0" y="0"/>
                </a:moveTo>
                <a:lnTo>
                  <a:pt x="666852" y="0"/>
                </a:lnTo>
                <a:lnTo>
                  <a:pt x="666852" y="655919"/>
                </a:lnTo>
                <a:lnTo>
                  <a:pt x="0" y="655919"/>
                </a:lnTo>
                <a:lnTo>
                  <a:pt x="0" y="0"/>
                </a:lnTo>
                <a:close/>
              </a:path>
            </a:pathLst>
          </a:custGeom>
          <a:blipFill>
            <a:blip r:embed="rId23"/>
            <a:stretch>
              <a:fillRect l="0" t="0" r="0" b="0"/>
            </a:stretch>
          </a:blipFill>
        </p:spPr>
      </p:sp>
      <p:sp>
        <p:nvSpPr>
          <p:cNvPr name="TextBox 31" id="31"/>
          <p:cNvSpPr txBox="true"/>
          <p:nvPr/>
        </p:nvSpPr>
        <p:spPr>
          <a:xfrm rot="0">
            <a:off x="1372756" y="9210103"/>
            <a:ext cx="4496458" cy="644436"/>
          </a:xfrm>
          <a:prstGeom prst="rect">
            <a:avLst/>
          </a:prstGeom>
        </p:spPr>
        <p:txBody>
          <a:bodyPr anchor="t" rtlCol="false" tIns="0" lIns="0" bIns="0" rIns="0">
            <a:spAutoFit/>
          </a:bodyPr>
          <a:lstStyle/>
          <a:p>
            <a:pPr algn="l" marL="270635" indent="-135317" lvl="1">
              <a:lnSpc>
                <a:spcPts val="1754"/>
              </a:lnSpc>
              <a:spcBef>
                <a:spcPct val="0"/>
              </a:spcBef>
              <a:buFont typeface="Arial"/>
              <a:buChar char="•"/>
            </a:pPr>
            <a:r>
              <a:rPr lang="en-US" sz="1253" strike="noStrike" u="none">
                <a:solidFill>
                  <a:srgbClr val="263E71"/>
                </a:solidFill>
                <a:latin typeface="Montserrat"/>
                <a:ea typeface="Montserrat"/>
                <a:cs typeface="Montserrat"/>
                <a:sym typeface="Montserrat"/>
              </a:rPr>
              <a:t>Lưu trữ dữ liệu an toàn, nhất quán</a:t>
            </a:r>
          </a:p>
          <a:p>
            <a:pPr algn="l" marL="270635" indent="-135317" lvl="1">
              <a:lnSpc>
                <a:spcPts val="1754"/>
              </a:lnSpc>
              <a:spcBef>
                <a:spcPct val="0"/>
              </a:spcBef>
              <a:buFont typeface="Arial"/>
              <a:buChar char="•"/>
            </a:pPr>
            <a:r>
              <a:rPr lang="en-US" sz="1253" strike="noStrike" u="none">
                <a:solidFill>
                  <a:srgbClr val="263E71"/>
                </a:solidFill>
                <a:latin typeface="Montserrat"/>
                <a:ea typeface="Montserrat"/>
                <a:cs typeface="Montserrat"/>
                <a:sym typeface="Montserrat"/>
              </a:rPr>
              <a:t>Hỗ trợ vấn tin nhân theo phân trang</a:t>
            </a:r>
          </a:p>
          <a:p>
            <a:pPr algn="l" marL="270635" indent="-135317" lvl="1">
              <a:lnSpc>
                <a:spcPts val="1754"/>
              </a:lnSpc>
              <a:spcBef>
                <a:spcPct val="0"/>
              </a:spcBef>
              <a:buFont typeface="Arial"/>
              <a:buChar char="•"/>
            </a:pPr>
            <a:r>
              <a:rPr lang="en-US" sz="1253" strike="noStrike" u="none">
                <a:solidFill>
                  <a:srgbClr val="263E71"/>
                </a:solidFill>
                <a:latin typeface="Montserrat"/>
                <a:ea typeface="Montserrat"/>
                <a:cs typeface="Montserrat"/>
                <a:sym typeface="Montserrat"/>
              </a:rPr>
              <a:t>Đảm bảo hiệu năng và khả ng mở rộng cơ bản</a:t>
            </a:r>
          </a:p>
        </p:txBody>
      </p:sp>
      <p:sp>
        <p:nvSpPr>
          <p:cNvPr name="Freeform 32" id="32"/>
          <p:cNvSpPr/>
          <p:nvPr/>
        </p:nvSpPr>
        <p:spPr>
          <a:xfrm flipH="false" flipV="false" rot="0">
            <a:off x="6309642" y="8778386"/>
            <a:ext cx="229572" cy="1082267"/>
          </a:xfrm>
          <a:custGeom>
            <a:avLst/>
            <a:gdLst/>
            <a:ahLst/>
            <a:cxnLst/>
            <a:rect r="r" b="b" t="t" l="l"/>
            <a:pathLst>
              <a:path h="1082267" w="229572">
                <a:moveTo>
                  <a:pt x="0" y="0"/>
                </a:moveTo>
                <a:lnTo>
                  <a:pt x="229572" y="0"/>
                </a:lnTo>
                <a:lnTo>
                  <a:pt x="229572" y="1082266"/>
                </a:lnTo>
                <a:lnTo>
                  <a:pt x="0" y="1082266"/>
                </a:lnTo>
                <a:lnTo>
                  <a:pt x="0" y="0"/>
                </a:lnTo>
                <a:close/>
              </a:path>
            </a:pathLst>
          </a:custGeom>
          <a:blipFill>
            <a:blip r:embed="rId24"/>
            <a:stretch>
              <a:fillRect l="0" t="0" r="0" b="0"/>
            </a:stretch>
          </a:blipFill>
        </p:spPr>
      </p:sp>
      <p:sp>
        <p:nvSpPr>
          <p:cNvPr name="Freeform 33" id="33"/>
          <p:cNvSpPr/>
          <p:nvPr/>
        </p:nvSpPr>
        <p:spPr>
          <a:xfrm flipH="false" flipV="false" rot="0">
            <a:off x="6746921" y="8778386"/>
            <a:ext cx="655919" cy="655919"/>
          </a:xfrm>
          <a:custGeom>
            <a:avLst/>
            <a:gdLst/>
            <a:ahLst/>
            <a:cxnLst/>
            <a:rect r="r" b="b" t="t" l="l"/>
            <a:pathLst>
              <a:path h="655919" w="655919">
                <a:moveTo>
                  <a:pt x="0" y="0"/>
                </a:moveTo>
                <a:lnTo>
                  <a:pt x="655920" y="0"/>
                </a:lnTo>
                <a:lnTo>
                  <a:pt x="655920" y="655919"/>
                </a:lnTo>
                <a:lnTo>
                  <a:pt x="0" y="655919"/>
                </a:lnTo>
                <a:lnTo>
                  <a:pt x="0" y="0"/>
                </a:lnTo>
                <a:close/>
              </a:path>
            </a:pathLst>
          </a:custGeom>
          <a:blipFill>
            <a:blip r:embed="rId25"/>
            <a:stretch>
              <a:fillRect l="0" t="0" r="0" b="0"/>
            </a:stretch>
          </a:blipFill>
        </p:spPr>
      </p:sp>
      <p:sp>
        <p:nvSpPr>
          <p:cNvPr name="TextBox 34" id="34"/>
          <p:cNvSpPr txBox="true"/>
          <p:nvPr/>
        </p:nvSpPr>
        <p:spPr>
          <a:xfrm rot="0">
            <a:off x="7459424" y="8921232"/>
            <a:ext cx="1590211"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Công nghệ</a:t>
            </a:r>
          </a:p>
        </p:txBody>
      </p:sp>
      <p:sp>
        <p:nvSpPr>
          <p:cNvPr name="Freeform 35" id="35"/>
          <p:cNvSpPr/>
          <p:nvPr/>
        </p:nvSpPr>
        <p:spPr>
          <a:xfrm flipH="false" flipV="false" rot="0">
            <a:off x="11742839" y="6428009"/>
            <a:ext cx="1322770" cy="218640"/>
          </a:xfrm>
          <a:custGeom>
            <a:avLst/>
            <a:gdLst/>
            <a:ahLst/>
            <a:cxnLst/>
            <a:rect r="r" b="b" t="t" l="l"/>
            <a:pathLst>
              <a:path h="218640" w="1322770">
                <a:moveTo>
                  <a:pt x="0" y="0"/>
                </a:moveTo>
                <a:lnTo>
                  <a:pt x="1322771" y="0"/>
                </a:lnTo>
                <a:lnTo>
                  <a:pt x="1322771" y="218639"/>
                </a:lnTo>
                <a:lnTo>
                  <a:pt x="0" y="218639"/>
                </a:lnTo>
                <a:lnTo>
                  <a:pt x="0" y="0"/>
                </a:lnTo>
                <a:close/>
              </a:path>
            </a:pathLst>
          </a:custGeom>
          <a:blipFill>
            <a:blip r:embed="rId26"/>
            <a:stretch>
              <a:fillRect l="0" t="0" r="0" b="0"/>
            </a:stretch>
          </a:blipFill>
        </p:spPr>
      </p:sp>
      <p:sp>
        <p:nvSpPr>
          <p:cNvPr name="Freeform 36" id="36"/>
          <p:cNvSpPr/>
          <p:nvPr/>
        </p:nvSpPr>
        <p:spPr>
          <a:xfrm flipH="false" flipV="false" rot="0">
            <a:off x="12836038" y="4493047"/>
            <a:ext cx="4799142" cy="4088563"/>
          </a:xfrm>
          <a:custGeom>
            <a:avLst/>
            <a:gdLst/>
            <a:ahLst/>
            <a:cxnLst/>
            <a:rect r="r" b="b" t="t" l="l"/>
            <a:pathLst>
              <a:path h="4088563" w="4799142">
                <a:moveTo>
                  <a:pt x="0" y="0"/>
                </a:moveTo>
                <a:lnTo>
                  <a:pt x="4799143" y="0"/>
                </a:lnTo>
                <a:lnTo>
                  <a:pt x="4799143" y="4088563"/>
                </a:lnTo>
                <a:lnTo>
                  <a:pt x="0" y="4088563"/>
                </a:lnTo>
                <a:lnTo>
                  <a:pt x="0" y="0"/>
                </a:lnTo>
                <a:close/>
              </a:path>
            </a:pathLst>
          </a:custGeom>
          <a:blipFill>
            <a:blip r:embed="rId27"/>
            <a:stretch>
              <a:fillRect l="0" t="0" r="0" b="0"/>
            </a:stretch>
          </a:blipFill>
        </p:spPr>
      </p:sp>
      <p:sp>
        <p:nvSpPr>
          <p:cNvPr name="Freeform 37" id="37"/>
          <p:cNvSpPr/>
          <p:nvPr/>
        </p:nvSpPr>
        <p:spPr>
          <a:xfrm flipH="false" flipV="false" rot="0">
            <a:off x="13054678" y="4711687"/>
            <a:ext cx="655919" cy="655919"/>
          </a:xfrm>
          <a:custGeom>
            <a:avLst/>
            <a:gdLst/>
            <a:ahLst/>
            <a:cxnLst/>
            <a:rect r="r" b="b" t="t" l="l"/>
            <a:pathLst>
              <a:path h="655919" w="655919">
                <a:moveTo>
                  <a:pt x="0" y="0"/>
                </a:moveTo>
                <a:lnTo>
                  <a:pt x="655919" y="0"/>
                </a:lnTo>
                <a:lnTo>
                  <a:pt x="655919" y="655919"/>
                </a:lnTo>
                <a:lnTo>
                  <a:pt x="0" y="655919"/>
                </a:lnTo>
                <a:lnTo>
                  <a:pt x="0" y="0"/>
                </a:lnTo>
                <a:close/>
              </a:path>
            </a:pathLst>
          </a:custGeom>
          <a:blipFill>
            <a:blip r:embed="rId28"/>
            <a:stretch>
              <a:fillRect l="0" t="0" r="0" b="0"/>
            </a:stretch>
          </a:blipFill>
        </p:spPr>
      </p:sp>
      <p:sp>
        <p:nvSpPr>
          <p:cNvPr name="TextBox 38" id="38"/>
          <p:cNvSpPr txBox="true"/>
          <p:nvPr/>
        </p:nvSpPr>
        <p:spPr>
          <a:xfrm rot="0">
            <a:off x="13801989" y="4806432"/>
            <a:ext cx="1809550"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SQLite Database</a:t>
            </a:r>
          </a:p>
        </p:txBody>
      </p:sp>
      <p:sp>
        <p:nvSpPr>
          <p:cNvPr name="Freeform 39" id="39"/>
          <p:cNvSpPr/>
          <p:nvPr/>
        </p:nvSpPr>
        <p:spPr>
          <a:xfrm flipH="false" flipV="false" rot="0">
            <a:off x="13054678" y="5356674"/>
            <a:ext cx="4361863" cy="863627"/>
          </a:xfrm>
          <a:custGeom>
            <a:avLst/>
            <a:gdLst/>
            <a:ahLst/>
            <a:cxnLst/>
            <a:rect r="r" b="b" t="t" l="l"/>
            <a:pathLst>
              <a:path h="863627" w="4361863">
                <a:moveTo>
                  <a:pt x="0" y="0"/>
                </a:moveTo>
                <a:lnTo>
                  <a:pt x="4361863" y="0"/>
                </a:lnTo>
                <a:lnTo>
                  <a:pt x="4361863" y="863627"/>
                </a:lnTo>
                <a:lnTo>
                  <a:pt x="0" y="863627"/>
                </a:lnTo>
                <a:lnTo>
                  <a:pt x="0" y="0"/>
                </a:lnTo>
                <a:close/>
              </a:path>
            </a:pathLst>
          </a:custGeom>
          <a:blipFill>
            <a:blip r:embed="rId29"/>
            <a:stretch>
              <a:fillRect l="0" t="0" r="0" b="0"/>
            </a:stretch>
          </a:blipFill>
        </p:spPr>
      </p:sp>
      <p:sp>
        <p:nvSpPr>
          <p:cNvPr name="TextBox 40" id="40"/>
          <p:cNvSpPr txBox="true"/>
          <p:nvPr/>
        </p:nvSpPr>
        <p:spPr>
          <a:xfrm rot="0">
            <a:off x="13363310" y="5745916"/>
            <a:ext cx="4496458"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(id, type, name, created_at, ...)</a:t>
            </a:r>
          </a:p>
        </p:txBody>
      </p:sp>
      <p:sp>
        <p:nvSpPr>
          <p:cNvPr name="Freeform 41" id="41"/>
          <p:cNvSpPr/>
          <p:nvPr/>
        </p:nvSpPr>
        <p:spPr>
          <a:xfrm flipH="false" flipV="false" rot="0">
            <a:off x="13054678" y="5990729"/>
            <a:ext cx="4361863" cy="874559"/>
          </a:xfrm>
          <a:custGeom>
            <a:avLst/>
            <a:gdLst/>
            <a:ahLst/>
            <a:cxnLst/>
            <a:rect r="r" b="b" t="t" l="l"/>
            <a:pathLst>
              <a:path h="874559" w="4361863">
                <a:moveTo>
                  <a:pt x="0" y="0"/>
                </a:moveTo>
                <a:lnTo>
                  <a:pt x="4361863" y="0"/>
                </a:lnTo>
                <a:lnTo>
                  <a:pt x="4361863" y="874559"/>
                </a:lnTo>
                <a:lnTo>
                  <a:pt x="0" y="874559"/>
                </a:lnTo>
                <a:lnTo>
                  <a:pt x="0" y="0"/>
                </a:lnTo>
                <a:close/>
              </a:path>
            </a:pathLst>
          </a:custGeom>
          <a:blipFill>
            <a:blip r:embed="rId30"/>
            <a:stretch>
              <a:fillRect l="0" t="0" r="0" b="0"/>
            </a:stretch>
          </a:blipFill>
        </p:spPr>
      </p:sp>
      <p:sp>
        <p:nvSpPr>
          <p:cNvPr name="Freeform 42" id="42"/>
          <p:cNvSpPr/>
          <p:nvPr/>
        </p:nvSpPr>
        <p:spPr>
          <a:xfrm flipH="false" flipV="false" rot="0">
            <a:off x="13054678" y="6854356"/>
            <a:ext cx="4361863" cy="863627"/>
          </a:xfrm>
          <a:custGeom>
            <a:avLst/>
            <a:gdLst/>
            <a:ahLst/>
            <a:cxnLst/>
            <a:rect r="r" b="b" t="t" l="l"/>
            <a:pathLst>
              <a:path h="863627" w="4361863">
                <a:moveTo>
                  <a:pt x="0" y="0"/>
                </a:moveTo>
                <a:lnTo>
                  <a:pt x="4361863" y="0"/>
                </a:lnTo>
                <a:lnTo>
                  <a:pt x="4361863" y="863627"/>
                </a:lnTo>
                <a:lnTo>
                  <a:pt x="0" y="863627"/>
                </a:lnTo>
                <a:lnTo>
                  <a:pt x="0" y="0"/>
                </a:lnTo>
                <a:close/>
              </a:path>
            </a:pathLst>
          </a:custGeom>
          <a:blipFill>
            <a:blip r:embed="rId31"/>
            <a:stretch>
              <a:fillRect l="0" t="0" r="0" b="0"/>
            </a:stretch>
          </a:blipFill>
        </p:spPr>
      </p:sp>
      <p:sp>
        <p:nvSpPr>
          <p:cNvPr name="Freeform 43" id="43"/>
          <p:cNvSpPr/>
          <p:nvPr/>
        </p:nvSpPr>
        <p:spPr>
          <a:xfrm flipH="false" flipV="false" rot="0">
            <a:off x="13054678" y="7499343"/>
            <a:ext cx="4361863" cy="863627"/>
          </a:xfrm>
          <a:custGeom>
            <a:avLst/>
            <a:gdLst/>
            <a:ahLst/>
            <a:cxnLst/>
            <a:rect r="r" b="b" t="t" l="l"/>
            <a:pathLst>
              <a:path h="863627" w="4361863">
                <a:moveTo>
                  <a:pt x="0" y="0"/>
                </a:moveTo>
                <a:lnTo>
                  <a:pt x="4361863" y="0"/>
                </a:lnTo>
                <a:lnTo>
                  <a:pt x="4361863" y="863627"/>
                </a:lnTo>
                <a:lnTo>
                  <a:pt x="0" y="863627"/>
                </a:lnTo>
                <a:lnTo>
                  <a:pt x="0" y="0"/>
                </a:lnTo>
                <a:close/>
              </a:path>
            </a:pathLst>
          </a:custGeom>
          <a:blipFill>
            <a:blip r:embed="rId32"/>
            <a:stretch>
              <a:fillRect l="0" t="0" r="0" b="0"/>
            </a:stretch>
          </a:blipFill>
        </p:spPr>
      </p:sp>
      <p:sp>
        <p:nvSpPr>
          <p:cNvPr name="Freeform 44" id="44"/>
          <p:cNvSpPr/>
          <p:nvPr/>
        </p:nvSpPr>
        <p:spPr>
          <a:xfrm flipH="false" flipV="false" rot="0">
            <a:off x="11742839" y="8778386"/>
            <a:ext cx="229572" cy="1082267"/>
          </a:xfrm>
          <a:custGeom>
            <a:avLst/>
            <a:gdLst/>
            <a:ahLst/>
            <a:cxnLst/>
            <a:rect r="r" b="b" t="t" l="l"/>
            <a:pathLst>
              <a:path h="1082267" w="229572">
                <a:moveTo>
                  <a:pt x="0" y="0"/>
                </a:moveTo>
                <a:lnTo>
                  <a:pt x="229572" y="0"/>
                </a:lnTo>
                <a:lnTo>
                  <a:pt x="229572" y="1082266"/>
                </a:lnTo>
                <a:lnTo>
                  <a:pt x="0" y="1082266"/>
                </a:lnTo>
                <a:lnTo>
                  <a:pt x="0" y="0"/>
                </a:lnTo>
                <a:close/>
              </a:path>
            </a:pathLst>
          </a:custGeom>
          <a:blipFill>
            <a:blip r:embed="rId33"/>
            <a:stretch>
              <a:fillRect l="0" t="0" r="0" b="0"/>
            </a:stretch>
          </a:blipFill>
        </p:spPr>
      </p:sp>
      <p:sp>
        <p:nvSpPr>
          <p:cNvPr name="Freeform 45" id="45"/>
          <p:cNvSpPr/>
          <p:nvPr/>
        </p:nvSpPr>
        <p:spPr>
          <a:xfrm flipH="false" flipV="false" rot="0">
            <a:off x="12180119" y="8778386"/>
            <a:ext cx="666851" cy="655919"/>
          </a:xfrm>
          <a:custGeom>
            <a:avLst/>
            <a:gdLst/>
            <a:ahLst/>
            <a:cxnLst/>
            <a:rect r="r" b="b" t="t" l="l"/>
            <a:pathLst>
              <a:path h="655919" w="666851">
                <a:moveTo>
                  <a:pt x="0" y="0"/>
                </a:moveTo>
                <a:lnTo>
                  <a:pt x="666851" y="0"/>
                </a:lnTo>
                <a:lnTo>
                  <a:pt x="666851" y="655919"/>
                </a:lnTo>
                <a:lnTo>
                  <a:pt x="0" y="655919"/>
                </a:lnTo>
                <a:lnTo>
                  <a:pt x="0" y="0"/>
                </a:lnTo>
                <a:close/>
              </a:path>
            </a:pathLst>
          </a:custGeom>
          <a:blipFill>
            <a:blip r:embed="rId34"/>
            <a:stretch>
              <a:fillRect l="0" t="0" r="0" b="0"/>
            </a:stretch>
          </a:blipFill>
        </p:spPr>
      </p:sp>
      <p:sp>
        <p:nvSpPr>
          <p:cNvPr name="TextBox 46" id="46"/>
          <p:cNvSpPr txBox="true"/>
          <p:nvPr/>
        </p:nvSpPr>
        <p:spPr>
          <a:xfrm rot="0">
            <a:off x="12924631" y="8921232"/>
            <a:ext cx="2728798"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Đảm bảo an toàn dữ liệu</a:t>
            </a:r>
          </a:p>
        </p:txBody>
      </p:sp>
      <p:sp>
        <p:nvSpPr>
          <p:cNvPr name="TextBox 47" id="47"/>
          <p:cNvSpPr txBox="true"/>
          <p:nvPr/>
        </p:nvSpPr>
        <p:spPr>
          <a:xfrm rot="0">
            <a:off x="1500704" y="1874637"/>
            <a:ext cx="2467568" cy="439495"/>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SQLite Database (Server)</a:t>
            </a:r>
          </a:p>
        </p:txBody>
      </p:sp>
      <p:sp>
        <p:nvSpPr>
          <p:cNvPr name="TextBox 48" id="48"/>
          <p:cNvSpPr txBox="true"/>
          <p:nvPr/>
        </p:nvSpPr>
        <p:spPr>
          <a:xfrm rot="0">
            <a:off x="12979466" y="1874637"/>
            <a:ext cx="1342365"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DAO Layer</a:t>
            </a:r>
          </a:p>
        </p:txBody>
      </p:sp>
      <p:sp>
        <p:nvSpPr>
          <p:cNvPr name="TextBox 49" id="49"/>
          <p:cNvSpPr txBox="true"/>
          <p:nvPr/>
        </p:nvSpPr>
        <p:spPr>
          <a:xfrm rot="0">
            <a:off x="1683487" y="4806432"/>
            <a:ext cx="1995856" cy="220420"/>
          </a:xfrm>
          <a:prstGeom prst="rect">
            <a:avLst/>
          </a:prstGeom>
        </p:spPr>
        <p:txBody>
          <a:bodyPr anchor="t" rtlCol="false" tIns="0" lIns="0" bIns="0" rIns="0">
            <a:spAutoFit/>
          </a:bodyPr>
          <a:lstStyle/>
          <a:p>
            <a:pPr algn="l">
              <a:lnSpc>
                <a:spcPts val="1766"/>
              </a:lnSpc>
            </a:pPr>
            <a:r>
              <a:rPr lang="en-US" sz="1605" b="true">
                <a:solidFill>
                  <a:srgbClr val="263E71"/>
                </a:solidFill>
                <a:latin typeface="Montserrat Bold"/>
                <a:ea typeface="Montserrat Bold"/>
                <a:cs typeface="Montserrat Bold"/>
                <a:sym typeface="Montserrat Bold"/>
              </a:rPr>
              <a:t>Client (JavaFX)</a:t>
            </a:r>
          </a:p>
        </p:txBody>
      </p:sp>
      <p:sp>
        <p:nvSpPr>
          <p:cNvPr name="TextBox 50" id="50"/>
          <p:cNvSpPr txBox="true"/>
          <p:nvPr/>
        </p:nvSpPr>
        <p:spPr>
          <a:xfrm rot="0">
            <a:off x="1683487" y="5046400"/>
            <a:ext cx="2700023"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Gửi request / Nhận response</a:t>
            </a:r>
          </a:p>
        </p:txBody>
      </p:sp>
      <p:sp>
        <p:nvSpPr>
          <p:cNvPr name="TextBox 51" id="51"/>
          <p:cNvSpPr txBox="true"/>
          <p:nvPr/>
        </p:nvSpPr>
        <p:spPr>
          <a:xfrm rot="0">
            <a:off x="2012496" y="5911571"/>
            <a:ext cx="1214417" cy="167841"/>
          </a:xfrm>
          <a:prstGeom prst="rect">
            <a:avLst/>
          </a:prstGeom>
        </p:spPr>
        <p:txBody>
          <a:bodyPr anchor="t" rtlCol="false" tIns="0" lIns="0" bIns="0" rIns="0">
            <a:spAutoFit/>
          </a:bodyPr>
          <a:lstStyle/>
          <a:p>
            <a:pPr algn="ctr">
              <a:lnSpc>
                <a:spcPts val="1337"/>
              </a:lnSpc>
            </a:pPr>
            <a:r>
              <a:rPr lang="en-US" b="true" sz="1215" spc="121">
                <a:solidFill>
                  <a:srgbClr val="263E71"/>
                </a:solidFill>
                <a:latin typeface="Montserrat Bold"/>
                <a:ea typeface="Montserrat Bold"/>
                <a:cs typeface="Montserrat Bold"/>
                <a:sym typeface="Montserrat Bold"/>
              </a:rPr>
              <a:t>ChatClient</a:t>
            </a:r>
          </a:p>
        </p:txBody>
      </p:sp>
      <p:sp>
        <p:nvSpPr>
          <p:cNvPr name="TextBox 52" id="52"/>
          <p:cNvSpPr txBox="true"/>
          <p:nvPr/>
        </p:nvSpPr>
        <p:spPr>
          <a:xfrm rot="0">
            <a:off x="1738322" y="6116248"/>
            <a:ext cx="2216263" cy="244251"/>
          </a:xfrm>
          <a:prstGeom prst="rect">
            <a:avLst/>
          </a:prstGeom>
        </p:spPr>
        <p:txBody>
          <a:bodyPr anchor="t" rtlCol="false" tIns="0" lIns="0" bIns="0" rIns="0">
            <a:spAutoFit/>
          </a:bodyPr>
          <a:lstStyle/>
          <a:p>
            <a:pPr algn="ctr">
              <a:lnSpc>
                <a:spcPts val="2130"/>
              </a:lnSpc>
            </a:pPr>
            <a:r>
              <a:rPr lang="en-US" sz="1253">
                <a:solidFill>
                  <a:srgbClr val="263E71"/>
                </a:solidFill>
                <a:latin typeface="Montserrat"/>
                <a:ea typeface="Montserrat"/>
                <a:cs typeface="Montserrat"/>
                <a:sym typeface="Montserrat"/>
              </a:rPr>
              <a:t>Gửi request (JSON Lines)</a:t>
            </a:r>
          </a:p>
        </p:txBody>
      </p:sp>
      <p:sp>
        <p:nvSpPr>
          <p:cNvPr name="TextBox 53" id="53"/>
          <p:cNvSpPr txBox="true"/>
          <p:nvPr/>
        </p:nvSpPr>
        <p:spPr>
          <a:xfrm rot="0">
            <a:off x="2007073" y="6863881"/>
            <a:ext cx="1326883" cy="167841"/>
          </a:xfrm>
          <a:prstGeom prst="rect">
            <a:avLst/>
          </a:prstGeom>
        </p:spPr>
        <p:txBody>
          <a:bodyPr anchor="t" rtlCol="false" tIns="0" lIns="0" bIns="0" rIns="0">
            <a:spAutoFit/>
          </a:bodyPr>
          <a:lstStyle/>
          <a:p>
            <a:pPr algn="ctr">
              <a:lnSpc>
                <a:spcPts val="1337"/>
              </a:lnSpc>
            </a:pPr>
            <a:r>
              <a:rPr lang="en-US" b="true" sz="1215" spc="121">
                <a:solidFill>
                  <a:srgbClr val="263E71"/>
                </a:solidFill>
                <a:latin typeface="Montserrat Bold"/>
                <a:ea typeface="Montserrat Bold"/>
                <a:cs typeface="Montserrat Bold"/>
                <a:sym typeface="Montserrat Bold"/>
              </a:rPr>
              <a:t>ChatReceiver</a:t>
            </a:r>
          </a:p>
        </p:txBody>
      </p:sp>
      <p:sp>
        <p:nvSpPr>
          <p:cNvPr name="TextBox 54" id="54"/>
          <p:cNvSpPr txBox="true"/>
          <p:nvPr/>
        </p:nvSpPr>
        <p:spPr>
          <a:xfrm rot="0">
            <a:off x="1313724" y="7144948"/>
            <a:ext cx="2654549" cy="244251"/>
          </a:xfrm>
          <a:prstGeom prst="rect">
            <a:avLst/>
          </a:prstGeom>
        </p:spPr>
        <p:txBody>
          <a:bodyPr anchor="t" rtlCol="false" tIns="0" lIns="0" bIns="0" rIns="0">
            <a:spAutoFit/>
          </a:bodyPr>
          <a:lstStyle/>
          <a:p>
            <a:pPr algn="ctr">
              <a:lnSpc>
                <a:spcPts val="2130"/>
              </a:lnSpc>
            </a:pPr>
            <a:r>
              <a:rPr lang="en-US" sz="1253">
                <a:solidFill>
                  <a:srgbClr val="263E71"/>
                </a:solidFill>
                <a:latin typeface="Montserrat"/>
                <a:ea typeface="Montserrat"/>
                <a:cs typeface="Montserrat"/>
                <a:sym typeface="Montserrat"/>
              </a:rPr>
              <a:t>Nhận response (JSON Lines)</a:t>
            </a:r>
          </a:p>
        </p:txBody>
      </p:sp>
      <p:sp>
        <p:nvSpPr>
          <p:cNvPr name="TextBox 55" id="55"/>
          <p:cNvSpPr txBox="true"/>
          <p:nvPr/>
        </p:nvSpPr>
        <p:spPr>
          <a:xfrm rot="0">
            <a:off x="7422868" y="4974391"/>
            <a:ext cx="2705455"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Xử lý request và thao tác dữ liệu</a:t>
            </a:r>
          </a:p>
        </p:txBody>
      </p:sp>
      <p:sp>
        <p:nvSpPr>
          <p:cNvPr name="TextBox 56" id="56"/>
          <p:cNvSpPr txBox="true"/>
          <p:nvPr/>
        </p:nvSpPr>
        <p:spPr>
          <a:xfrm rot="0">
            <a:off x="8181600" y="5525596"/>
            <a:ext cx="1672279" cy="167705"/>
          </a:xfrm>
          <a:prstGeom prst="rect">
            <a:avLst/>
          </a:prstGeom>
        </p:spPr>
        <p:txBody>
          <a:bodyPr anchor="t" rtlCol="false" tIns="0" lIns="0" bIns="0" rIns="0">
            <a:spAutoFit/>
          </a:bodyPr>
          <a:lstStyle/>
          <a:p>
            <a:pPr algn="ctr">
              <a:lnSpc>
                <a:spcPts val="1325"/>
              </a:lnSpc>
            </a:pPr>
            <a:r>
              <a:rPr lang="en-US" b="true" sz="1205" spc="120">
                <a:solidFill>
                  <a:srgbClr val="263E71"/>
                </a:solidFill>
                <a:latin typeface="Montserrat Bold"/>
                <a:ea typeface="Montserrat Bold"/>
                <a:cs typeface="Montserrat Bold"/>
                <a:sym typeface="Montserrat Bold"/>
              </a:rPr>
              <a:t>SessionValidator</a:t>
            </a:r>
          </a:p>
        </p:txBody>
      </p:sp>
      <p:sp>
        <p:nvSpPr>
          <p:cNvPr name="TextBox 57" id="57"/>
          <p:cNvSpPr txBox="true"/>
          <p:nvPr/>
        </p:nvSpPr>
        <p:spPr>
          <a:xfrm rot="0">
            <a:off x="7459424" y="5637787"/>
            <a:ext cx="3034195" cy="244251"/>
          </a:xfrm>
          <a:prstGeom prst="rect">
            <a:avLst/>
          </a:prstGeom>
        </p:spPr>
        <p:txBody>
          <a:bodyPr anchor="t" rtlCol="false" tIns="0" lIns="0" bIns="0" rIns="0">
            <a:spAutoFit/>
          </a:bodyPr>
          <a:lstStyle/>
          <a:p>
            <a:pPr algn="ctr">
              <a:lnSpc>
                <a:spcPts val="2130"/>
              </a:lnSpc>
            </a:pPr>
            <a:r>
              <a:rPr lang="en-US" sz="1253">
                <a:solidFill>
                  <a:srgbClr val="263E71"/>
                </a:solidFill>
                <a:latin typeface="Montserrat"/>
                <a:ea typeface="Montserrat"/>
                <a:cs typeface="Montserrat"/>
                <a:sym typeface="Montserrat"/>
              </a:rPr>
              <a:t>Kiểm tra xác thực, quyển truy cập</a:t>
            </a:r>
          </a:p>
        </p:txBody>
      </p:sp>
      <p:sp>
        <p:nvSpPr>
          <p:cNvPr name="TextBox 58" id="58"/>
          <p:cNvSpPr txBox="true"/>
          <p:nvPr/>
        </p:nvSpPr>
        <p:spPr>
          <a:xfrm rot="0">
            <a:off x="8208699" y="6363176"/>
            <a:ext cx="1681871" cy="188395"/>
          </a:xfrm>
          <a:prstGeom prst="rect">
            <a:avLst/>
          </a:prstGeom>
        </p:spPr>
        <p:txBody>
          <a:bodyPr anchor="t" rtlCol="false" tIns="0" lIns="0" bIns="0" rIns="0">
            <a:spAutoFit/>
          </a:bodyPr>
          <a:lstStyle/>
          <a:p>
            <a:pPr algn="ctr">
              <a:lnSpc>
                <a:spcPts val="1467"/>
              </a:lnSpc>
            </a:pPr>
            <a:r>
              <a:rPr lang="en-US" b="true" sz="1334" spc="133">
                <a:solidFill>
                  <a:srgbClr val="263E71"/>
                </a:solidFill>
                <a:latin typeface="Montserrat Bold"/>
                <a:ea typeface="Montserrat Bold"/>
                <a:cs typeface="Montserrat Bold"/>
                <a:sym typeface="Montserrat Bold"/>
              </a:rPr>
              <a:t>MessageRouter</a:t>
            </a:r>
          </a:p>
        </p:txBody>
      </p:sp>
      <p:sp>
        <p:nvSpPr>
          <p:cNvPr name="TextBox 59" id="59"/>
          <p:cNvSpPr txBox="true"/>
          <p:nvPr/>
        </p:nvSpPr>
        <p:spPr>
          <a:xfrm rot="0">
            <a:off x="8577116" y="7443954"/>
            <a:ext cx="929476" cy="178323"/>
          </a:xfrm>
          <a:prstGeom prst="rect">
            <a:avLst/>
          </a:prstGeom>
        </p:spPr>
        <p:txBody>
          <a:bodyPr anchor="t" rtlCol="false" tIns="0" lIns="0" bIns="0" rIns="0">
            <a:spAutoFit/>
          </a:bodyPr>
          <a:lstStyle/>
          <a:p>
            <a:pPr algn="ctr">
              <a:lnSpc>
                <a:spcPts val="1420"/>
              </a:lnSpc>
            </a:pPr>
            <a:r>
              <a:rPr lang="en-US" b="true" sz="1291" spc="129">
                <a:solidFill>
                  <a:srgbClr val="263E71"/>
                </a:solidFill>
                <a:latin typeface="Montserrat Bold"/>
                <a:ea typeface="Montserrat Bold"/>
                <a:cs typeface="Montserrat Bold"/>
                <a:sym typeface="Montserrat Bold"/>
              </a:rPr>
              <a:t>Handlers</a:t>
            </a:r>
          </a:p>
        </p:txBody>
      </p:sp>
      <p:sp>
        <p:nvSpPr>
          <p:cNvPr name="TextBox 60" id="60"/>
          <p:cNvSpPr txBox="true"/>
          <p:nvPr/>
        </p:nvSpPr>
        <p:spPr>
          <a:xfrm rot="0">
            <a:off x="6868947" y="7745959"/>
            <a:ext cx="2120281" cy="244251"/>
          </a:xfrm>
          <a:prstGeom prst="rect">
            <a:avLst/>
          </a:prstGeom>
        </p:spPr>
        <p:txBody>
          <a:bodyPr anchor="t" rtlCol="false" tIns="0" lIns="0" bIns="0" rIns="0">
            <a:spAutoFit/>
          </a:bodyPr>
          <a:lstStyle/>
          <a:p>
            <a:pPr algn="ctr" marL="270635" indent="-135317" lvl="1">
              <a:lnSpc>
                <a:spcPts val="2130"/>
              </a:lnSpc>
              <a:buFont typeface="Arial"/>
              <a:buChar char="•"/>
            </a:pPr>
            <a:r>
              <a:rPr lang="en-US" sz="1253">
                <a:solidFill>
                  <a:srgbClr val="263E71"/>
                </a:solidFill>
                <a:latin typeface="Montserrat"/>
                <a:ea typeface="Montserrat"/>
                <a:cs typeface="Montserrat"/>
                <a:sym typeface="Montserrat"/>
              </a:rPr>
              <a:t>AuthHandler</a:t>
            </a:r>
          </a:p>
        </p:txBody>
      </p:sp>
      <p:sp>
        <p:nvSpPr>
          <p:cNvPr name="TextBox 61" id="61"/>
          <p:cNvSpPr txBox="true"/>
          <p:nvPr/>
        </p:nvSpPr>
        <p:spPr>
          <a:xfrm rot="0">
            <a:off x="9298772" y="7972087"/>
            <a:ext cx="2120281" cy="244251"/>
          </a:xfrm>
          <a:prstGeom prst="rect">
            <a:avLst/>
          </a:prstGeom>
        </p:spPr>
        <p:txBody>
          <a:bodyPr anchor="t" rtlCol="false" tIns="0" lIns="0" bIns="0" rIns="0">
            <a:spAutoFit/>
          </a:bodyPr>
          <a:lstStyle/>
          <a:p>
            <a:pPr algn="ctr" marL="270635" indent="-135317" lvl="1">
              <a:lnSpc>
                <a:spcPts val="2130"/>
              </a:lnSpc>
              <a:buFont typeface="Arial"/>
              <a:buChar char="•"/>
            </a:pPr>
            <a:r>
              <a:rPr lang="en-US" sz="1253">
                <a:solidFill>
                  <a:srgbClr val="263E71"/>
                </a:solidFill>
                <a:latin typeface="Montserrat"/>
                <a:ea typeface="Montserrat"/>
                <a:cs typeface="Montserrat"/>
                <a:sym typeface="Montserrat"/>
              </a:rPr>
              <a:t>RegisterHandler</a:t>
            </a:r>
          </a:p>
        </p:txBody>
      </p:sp>
      <p:sp>
        <p:nvSpPr>
          <p:cNvPr name="TextBox 62" id="62"/>
          <p:cNvSpPr txBox="true"/>
          <p:nvPr/>
        </p:nvSpPr>
        <p:spPr>
          <a:xfrm rot="0">
            <a:off x="9298772" y="7717527"/>
            <a:ext cx="2120281" cy="244251"/>
          </a:xfrm>
          <a:prstGeom prst="rect">
            <a:avLst/>
          </a:prstGeom>
        </p:spPr>
        <p:txBody>
          <a:bodyPr anchor="t" rtlCol="false" tIns="0" lIns="0" bIns="0" rIns="0">
            <a:spAutoFit/>
          </a:bodyPr>
          <a:lstStyle/>
          <a:p>
            <a:pPr algn="ctr" marL="270635" indent="-135317" lvl="1">
              <a:lnSpc>
                <a:spcPts val="2130"/>
              </a:lnSpc>
              <a:buFont typeface="Arial"/>
              <a:buChar char="•"/>
            </a:pPr>
            <a:r>
              <a:rPr lang="en-US" sz="1253">
                <a:solidFill>
                  <a:srgbClr val="263E71"/>
                </a:solidFill>
                <a:latin typeface="Montserrat"/>
                <a:ea typeface="Montserrat"/>
                <a:cs typeface="Montserrat"/>
                <a:sym typeface="Montserrat"/>
              </a:rPr>
              <a:t>MessageHandler</a:t>
            </a:r>
          </a:p>
        </p:txBody>
      </p:sp>
      <p:sp>
        <p:nvSpPr>
          <p:cNvPr name="TextBox 63" id="63"/>
          <p:cNvSpPr txBox="true"/>
          <p:nvPr/>
        </p:nvSpPr>
        <p:spPr>
          <a:xfrm rot="0">
            <a:off x="6868947" y="7972087"/>
            <a:ext cx="2120281" cy="244251"/>
          </a:xfrm>
          <a:prstGeom prst="rect">
            <a:avLst/>
          </a:prstGeom>
        </p:spPr>
        <p:txBody>
          <a:bodyPr anchor="t" rtlCol="false" tIns="0" lIns="0" bIns="0" rIns="0">
            <a:spAutoFit/>
          </a:bodyPr>
          <a:lstStyle/>
          <a:p>
            <a:pPr algn="ctr" marL="270635" indent="-135317" lvl="1">
              <a:lnSpc>
                <a:spcPts val="2130"/>
              </a:lnSpc>
              <a:buFont typeface="Arial"/>
              <a:buChar char="•"/>
            </a:pPr>
            <a:r>
              <a:rPr lang="en-US" sz="1253">
                <a:solidFill>
                  <a:srgbClr val="263E71"/>
                </a:solidFill>
                <a:latin typeface="Montserrat"/>
                <a:ea typeface="Montserrat"/>
                <a:cs typeface="Montserrat"/>
                <a:sym typeface="Montserrat"/>
              </a:rPr>
              <a:t>UserSearchHandler</a:t>
            </a:r>
          </a:p>
        </p:txBody>
      </p:sp>
      <p:sp>
        <p:nvSpPr>
          <p:cNvPr name="TextBox 64" id="64"/>
          <p:cNvSpPr txBox="true"/>
          <p:nvPr/>
        </p:nvSpPr>
        <p:spPr>
          <a:xfrm rot="0">
            <a:off x="13710597" y="5064797"/>
            <a:ext cx="2120281"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Wal mode</a:t>
            </a:r>
          </a:p>
        </p:txBody>
      </p:sp>
      <p:sp>
        <p:nvSpPr>
          <p:cNvPr name="TextBox 65" id="65"/>
          <p:cNvSpPr txBox="true"/>
          <p:nvPr/>
        </p:nvSpPr>
        <p:spPr>
          <a:xfrm rot="0">
            <a:off x="13363310" y="5509315"/>
            <a:ext cx="4496458" cy="244251"/>
          </a:xfrm>
          <a:prstGeom prst="rect">
            <a:avLst/>
          </a:prstGeom>
        </p:spPr>
        <p:txBody>
          <a:bodyPr anchor="t" rtlCol="false" tIns="0" lIns="0" bIns="0" rIns="0">
            <a:spAutoFit/>
          </a:bodyPr>
          <a:lstStyle/>
          <a:p>
            <a:pPr algn="l">
              <a:lnSpc>
                <a:spcPts val="2130"/>
              </a:lnSpc>
            </a:pPr>
            <a:r>
              <a:rPr lang="en-US" sz="1253" b="true">
                <a:solidFill>
                  <a:srgbClr val="263E71"/>
                </a:solidFill>
                <a:latin typeface="Montserrat Bold"/>
                <a:ea typeface="Montserrat Bold"/>
                <a:cs typeface="Montserrat Bold"/>
                <a:sym typeface="Montserrat Bold"/>
              </a:rPr>
              <a:t>users</a:t>
            </a:r>
          </a:p>
        </p:txBody>
      </p:sp>
      <p:sp>
        <p:nvSpPr>
          <p:cNvPr name="TextBox 66" id="66"/>
          <p:cNvSpPr txBox="true"/>
          <p:nvPr/>
        </p:nvSpPr>
        <p:spPr>
          <a:xfrm rot="0">
            <a:off x="13363310" y="6249979"/>
            <a:ext cx="4496458" cy="244251"/>
          </a:xfrm>
          <a:prstGeom prst="rect">
            <a:avLst/>
          </a:prstGeom>
        </p:spPr>
        <p:txBody>
          <a:bodyPr anchor="t" rtlCol="false" tIns="0" lIns="0" bIns="0" rIns="0">
            <a:spAutoFit/>
          </a:bodyPr>
          <a:lstStyle/>
          <a:p>
            <a:pPr algn="l">
              <a:lnSpc>
                <a:spcPts val="2130"/>
              </a:lnSpc>
            </a:pPr>
            <a:r>
              <a:rPr lang="en-US" sz="1253" b="true">
                <a:solidFill>
                  <a:srgbClr val="263E71"/>
                </a:solidFill>
                <a:latin typeface="Montserrat Bold"/>
                <a:ea typeface="Montserrat Bold"/>
                <a:cs typeface="Montserrat Bold"/>
                <a:sym typeface="Montserrat Bold"/>
              </a:rPr>
              <a:t>conversations</a:t>
            </a:r>
          </a:p>
        </p:txBody>
      </p:sp>
      <p:sp>
        <p:nvSpPr>
          <p:cNvPr name="TextBox 67" id="67"/>
          <p:cNvSpPr txBox="true"/>
          <p:nvPr/>
        </p:nvSpPr>
        <p:spPr>
          <a:xfrm rot="0">
            <a:off x="13363310" y="6486580"/>
            <a:ext cx="4496458"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(id, type, name, created_at, ...)</a:t>
            </a:r>
          </a:p>
        </p:txBody>
      </p:sp>
      <p:sp>
        <p:nvSpPr>
          <p:cNvPr name="TextBox 68" id="68"/>
          <p:cNvSpPr txBox="true"/>
          <p:nvPr/>
        </p:nvSpPr>
        <p:spPr>
          <a:xfrm rot="0">
            <a:off x="13363310" y="6990643"/>
            <a:ext cx="4496458" cy="244251"/>
          </a:xfrm>
          <a:prstGeom prst="rect">
            <a:avLst/>
          </a:prstGeom>
        </p:spPr>
        <p:txBody>
          <a:bodyPr anchor="t" rtlCol="false" tIns="0" lIns="0" bIns="0" rIns="0">
            <a:spAutoFit/>
          </a:bodyPr>
          <a:lstStyle/>
          <a:p>
            <a:pPr algn="l">
              <a:lnSpc>
                <a:spcPts val="2130"/>
              </a:lnSpc>
            </a:pPr>
            <a:r>
              <a:rPr lang="en-US" sz="1253" b="true">
                <a:solidFill>
                  <a:srgbClr val="263E71"/>
                </a:solidFill>
                <a:latin typeface="Montserrat Bold"/>
                <a:ea typeface="Montserrat Bold"/>
                <a:cs typeface="Montserrat Bold"/>
                <a:sym typeface="Montserrat Bold"/>
              </a:rPr>
              <a:t>conversation_members</a:t>
            </a:r>
          </a:p>
        </p:txBody>
      </p:sp>
      <p:sp>
        <p:nvSpPr>
          <p:cNvPr name="TextBox 69" id="69"/>
          <p:cNvSpPr txBox="true"/>
          <p:nvPr/>
        </p:nvSpPr>
        <p:spPr>
          <a:xfrm rot="0">
            <a:off x="13363310" y="7227244"/>
            <a:ext cx="4496458" cy="2442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(conibration_id, user_id, role, ...)</a:t>
            </a:r>
          </a:p>
        </p:txBody>
      </p:sp>
      <p:sp>
        <p:nvSpPr>
          <p:cNvPr name="TextBox 70" id="70"/>
          <p:cNvSpPr txBox="true"/>
          <p:nvPr/>
        </p:nvSpPr>
        <p:spPr>
          <a:xfrm rot="0">
            <a:off x="13357363" y="7598750"/>
            <a:ext cx="4496458" cy="244251"/>
          </a:xfrm>
          <a:prstGeom prst="rect">
            <a:avLst/>
          </a:prstGeom>
        </p:spPr>
        <p:txBody>
          <a:bodyPr anchor="t" rtlCol="false" tIns="0" lIns="0" bIns="0" rIns="0">
            <a:spAutoFit/>
          </a:bodyPr>
          <a:lstStyle/>
          <a:p>
            <a:pPr algn="l">
              <a:lnSpc>
                <a:spcPts val="2130"/>
              </a:lnSpc>
            </a:pPr>
            <a:r>
              <a:rPr lang="en-US" sz="1253" b="true">
                <a:solidFill>
                  <a:srgbClr val="263E71"/>
                </a:solidFill>
                <a:latin typeface="Montserrat Bold"/>
                <a:ea typeface="Montserrat Bold"/>
                <a:cs typeface="Montserrat Bold"/>
                <a:sym typeface="Montserrat Bold"/>
              </a:rPr>
              <a:t>messages</a:t>
            </a:r>
          </a:p>
        </p:txBody>
      </p:sp>
      <p:sp>
        <p:nvSpPr>
          <p:cNvPr name="TextBox 71" id="71"/>
          <p:cNvSpPr txBox="true"/>
          <p:nvPr/>
        </p:nvSpPr>
        <p:spPr>
          <a:xfrm rot="0">
            <a:off x="13357363" y="7793410"/>
            <a:ext cx="4038451" cy="510951"/>
          </a:xfrm>
          <a:prstGeom prst="rect">
            <a:avLst/>
          </a:prstGeom>
        </p:spPr>
        <p:txBody>
          <a:bodyPr anchor="t" rtlCol="false" tIns="0" lIns="0" bIns="0" rIns="0">
            <a:spAutoFit/>
          </a:bodyPr>
          <a:lstStyle/>
          <a:p>
            <a:pPr algn="l">
              <a:lnSpc>
                <a:spcPts val="2130"/>
              </a:lnSpc>
            </a:pPr>
            <a:r>
              <a:rPr lang="en-US" sz="1253">
                <a:solidFill>
                  <a:srgbClr val="263E71"/>
                </a:solidFill>
                <a:latin typeface="Montserrat"/>
                <a:ea typeface="Montserrat"/>
                <a:cs typeface="Montserrat"/>
                <a:sym typeface="Montserrat"/>
              </a:rPr>
              <a:t>(id, conversation_id, sender_id, content, type, created_at, ...)</a:t>
            </a:r>
          </a:p>
        </p:txBody>
      </p:sp>
      <p:sp>
        <p:nvSpPr>
          <p:cNvPr name="TextBox 72" id="72"/>
          <p:cNvSpPr txBox="true"/>
          <p:nvPr/>
        </p:nvSpPr>
        <p:spPr>
          <a:xfrm rot="0">
            <a:off x="1372756" y="8929420"/>
            <a:ext cx="1899669" cy="198740"/>
          </a:xfrm>
          <a:prstGeom prst="rect">
            <a:avLst/>
          </a:prstGeom>
        </p:spPr>
        <p:txBody>
          <a:bodyPr anchor="t" rtlCol="false" tIns="0" lIns="0" bIns="0" rIns="0">
            <a:spAutoFit/>
          </a:bodyPr>
          <a:lstStyle/>
          <a:p>
            <a:pPr algn="l">
              <a:lnSpc>
                <a:spcPts val="1538"/>
              </a:lnSpc>
            </a:pPr>
            <a:r>
              <a:rPr lang="en-US" sz="1398" b="true">
                <a:solidFill>
                  <a:srgbClr val="263E71"/>
                </a:solidFill>
                <a:latin typeface="Montserrat Bold"/>
                <a:ea typeface="Montserrat Bold"/>
                <a:cs typeface="Montserrat Bold"/>
                <a:sym typeface="Montserrat Bold"/>
              </a:rPr>
              <a:t>Mục tiêu thiết kế</a:t>
            </a:r>
          </a:p>
        </p:txBody>
      </p:sp>
      <p:sp>
        <p:nvSpPr>
          <p:cNvPr name="TextBox 73" id="73"/>
          <p:cNvSpPr txBox="true"/>
          <p:nvPr/>
        </p:nvSpPr>
        <p:spPr>
          <a:xfrm rot="0">
            <a:off x="7459424" y="9246657"/>
            <a:ext cx="4496458" cy="762000"/>
          </a:xfrm>
          <a:prstGeom prst="rect">
            <a:avLst/>
          </a:prstGeom>
        </p:spPr>
        <p:txBody>
          <a:bodyPr anchor="t" rtlCol="false" tIns="0" lIns="0" bIns="0" rIns="0">
            <a:spAutoFit/>
          </a:bodyPr>
          <a:lstStyle/>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SQLite (Wal)</a:t>
            </a:r>
          </a:p>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Java 21</a:t>
            </a:r>
          </a:p>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JDBC (SQLite driver)</a:t>
            </a:r>
          </a:p>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JSON</a:t>
            </a:r>
            <a:r>
              <a:rPr lang="en-US" sz="1253" strike="noStrike" u="none">
                <a:solidFill>
                  <a:srgbClr val="263E71"/>
                </a:solidFill>
                <a:latin typeface="Montserrat"/>
                <a:ea typeface="Montserrat"/>
                <a:cs typeface="Montserrat"/>
                <a:sym typeface="Montserrat"/>
              </a:rPr>
              <a:t> Lines qua TCP</a:t>
            </a:r>
          </a:p>
        </p:txBody>
      </p:sp>
      <p:sp>
        <p:nvSpPr>
          <p:cNvPr name="TextBox 74" id="74"/>
          <p:cNvSpPr txBox="true"/>
          <p:nvPr/>
        </p:nvSpPr>
        <p:spPr>
          <a:xfrm rot="0">
            <a:off x="12924631" y="9283038"/>
            <a:ext cx="4496458" cy="571500"/>
          </a:xfrm>
          <a:prstGeom prst="rect">
            <a:avLst/>
          </a:prstGeom>
        </p:spPr>
        <p:txBody>
          <a:bodyPr anchor="t" rtlCol="false" tIns="0" lIns="0" bIns="0" rIns="0">
            <a:spAutoFit/>
          </a:bodyPr>
          <a:lstStyle/>
          <a:p>
            <a:pPr algn="l" marL="270635" indent="-135317" lvl="1">
              <a:lnSpc>
                <a:spcPts val="1504"/>
              </a:lnSpc>
              <a:buFont typeface="Arial"/>
              <a:buChar char="•"/>
            </a:pPr>
            <a:r>
              <a:rPr lang="en-US" sz="1253">
                <a:solidFill>
                  <a:srgbClr val="263E71"/>
                </a:solidFill>
                <a:latin typeface="Montserrat"/>
                <a:ea typeface="Montserrat"/>
                <a:cs typeface="Montserrat"/>
                <a:sym typeface="Montserrat"/>
              </a:rPr>
              <a:t>K</a:t>
            </a:r>
            <a:r>
              <a:rPr lang="en-US" sz="1253" strike="noStrike" u="none">
                <a:solidFill>
                  <a:srgbClr val="263E71"/>
                </a:solidFill>
                <a:latin typeface="Montserrat"/>
                <a:ea typeface="Montserrat"/>
                <a:cs typeface="Montserrat"/>
                <a:sym typeface="Montserrat"/>
              </a:rPr>
              <a:t>iểm tra xác thực trước khi truy cập dữ liệu</a:t>
            </a:r>
          </a:p>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Chỉ các request hợp lệ mới được thao tác DAO</a:t>
            </a:r>
          </a:p>
          <a:p>
            <a:pPr algn="l" marL="270635" indent="-135317" lvl="1">
              <a:lnSpc>
                <a:spcPts val="1504"/>
              </a:lnSpc>
              <a:buFont typeface="Arial"/>
              <a:buChar char="•"/>
            </a:pPr>
            <a:r>
              <a:rPr lang="en-US" sz="1253" strike="noStrike" u="none">
                <a:solidFill>
                  <a:srgbClr val="263E71"/>
                </a:solidFill>
                <a:latin typeface="Montserrat"/>
                <a:ea typeface="Montserrat"/>
                <a:cs typeface="Montserrat"/>
                <a:sym typeface="Montserrat"/>
              </a:rPr>
              <a:t>Sử</a:t>
            </a:r>
            <a:r>
              <a:rPr lang="en-US" sz="1253" strike="noStrike" u="none">
                <a:solidFill>
                  <a:srgbClr val="263E71"/>
                </a:solidFill>
                <a:latin typeface="Montserrat"/>
                <a:ea typeface="Montserrat"/>
                <a:cs typeface="Montserrat"/>
                <a:sym typeface="Montserrat"/>
              </a:rPr>
              <a:t> dụng prepared statement trong DAO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6" r="0" b="-26"/>
            </a:stretch>
          </a:blipFill>
        </p:spPr>
      </p:sp>
      <p:sp>
        <p:nvSpPr>
          <p:cNvPr name="TextBox 3" id="3"/>
          <p:cNvSpPr txBox="true"/>
          <p:nvPr/>
        </p:nvSpPr>
        <p:spPr>
          <a:xfrm rot="0">
            <a:off x="516651" y="596847"/>
            <a:ext cx="14383638" cy="818492"/>
          </a:xfrm>
          <a:prstGeom prst="rect">
            <a:avLst/>
          </a:prstGeom>
        </p:spPr>
        <p:txBody>
          <a:bodyPr anchor="t" rtlCol="false" tIns="0" lIns="0" bIns="0" rIns="0">
            <a:spAutoFit/>
          </a:bodyPr>
          <a:lstStyle/>
          <a:p>
            <a:pPr algn="l">
              <a:lnSpc>
                <a:spcPts val="6418"/>
              </a:lnSpc>
            </a:pPr>
            <a:r>
              <a:rPr lang="en-US" sz="5348" b="true">
                <a:solidFill>
                  <a:srgbClr val="001F60"/>
                </a:solidFill>
                <a:latin typeface="Montserrat Bold"/>
                <a:ea typeface="Montserrat Bold"/>
                <a:cs typeface="Montserrat Bold"/>
                <a:sym typeface="Montserrat Bold"/>
              </a:rPr>
              <a:t>Lộ trình trình bày các module tiếp theo</a:t>
            </a:r>
          </a:p>
        </p:txBody>
      </p:sp>
      <p:sp>
        <p:nvSpPr>
          <p:cNvPr name="Freeform 4" id="4"/>
          <p:cNvSpPr/>
          <p:nvPr/>
        </p:nvSpPr>
        <p:spPr>
          <a:xfrm flipH="false" flipV="false" rot="0">
            <a:off x="471653" y="2658305"/>
            <a:ext cx="2623677" cy="4077631"/>
          </a:xfrm>
          <a:custGeom>
            <a:avLst/>
            <a:gdLst/>
            <a:ahLst/>
            <a:cxnLst/>
            <a:rect r="r" b="b" t="t" l="l"/>
            <a:pathLst>
              <a:path h="4077631" w="2623677">
                <a:moveTo>
                  <a:pt x="0" y="0"/>
                </a:moveTo>
                <a:lnTo>
                  <a:pt x="2623677" y="0"/>
                </a:lnTo>
                <a:lnTo>
                  <a:pt x="2623677" y="4077631"/>
                </a:lnTo>
                <a:lnTo>
                  <a:pt x="0" y="4077631"/>
                </a:lnTo>
                <a:lnTo>
                  <a:pt x="0" y="0"/>
                </a:lnTo>
                <a:close/>
              </a:path>
            </a:pathLst>
          </a:custGeom>
          <a:blipFill>
            <a:blip r:embed="rId3"/>
            <a:stretch>
              <a:fillRect l="0" t="0" r="0" b="0"/>
            </a:stretch>
          </a:blipFill>
        </p:spPr>
      </p:sp>
      <p:sp>
        <p:nvSpPr>
          <p:cNvPr name="Freeform 5" id="5"/>
          <p:cNvSpPr/>
          <p:nvPr/>
        </p:nvSpPr>
        <p:spPr>
          <a:xfrm flipH="false" flipV="false" rot="0">
            <a:off x="1346212" y="3511000"/>
            <a:ext cx="885491" cy="1082267"/>
          </a:xfrm>
          <a:custGeom>
            <a:avLst/>
            <a:gdLst/>
            <a:ahLst/>
            <a:cxnLst/>
            <a:rect r="r" b="b" t="t" l="l"/>
            <a:pathLst>
              <a:path h="1082267" w="885491">
                <a:moveTo>
                  <a:pt x="0" y="0"/>
                </a:moveTo>
                <a:lnTo>
                  <a:pt x="885491" y="0"/>
                </a:lnTo>
                <a:lnTo>
                  <a:pt x="885491" y="1082267"/>
                </a:lnTo>
                <a:lnTo>
                  <a:pt x="0" y="1082267"/>
                </a:lnTo>
                <a:lnTo>
                  <a:pt x="0" y="0"/>
                </a:lnTo>
                <a:close/>
              </a:path>
            </a:pathLst>
          </a:custGeom>
          <a:blipFill>
            <a:blip r:embed="rId4"/>
            <a:stretch>
              <a:fillRect l="0" t="0" r="0" b="0"/>
            </a:stretch>
          </a:blipFill>
        </p:spPr>
      </p:sp>
      <p:sp>
        <p:nvSpPr>
          <p:cNvPr name="TextBox 6" id="6"/>
          <p:cNvSpPr txBox="true"/>
          <p:nvPr/>
        </p:nvSpPr>
        <p:spPr>
          <a:xfrm rot="0">
            <a:off x="1014055" y="5385252"/>
            <a:ext cx="1517097" cy="974835"/>
          </a:xfrm>
          <a:prstGeom prst="rect">
            <a:avLst/>
          </a:prstGeom>
        </p:spPr>
        <p:txBody>
          <a:bodyPr anchor="t" rtlCol="false" tIns="0" lIns="0" bIns="0" rIns="0">
            <a:spAutoFit/>
          </a:bodyPr>
          <a:lstStyle/>
          <a:p>
            <a:pPr algn="ctr">
              <a:lnSpc>
                <a:spcPts val="2598"/>
              </a:lnSpc>
            </a:pPr>
            <a:r>
              <a:rPr lang="en-US" sz="1856">
                <a:solidFill>
                  <a:srgbClr val="001F60"/>
                </a:solidFill>
                <a:latin typeface="Montserrat"/>
                <a:ea typeface="Montserrat"/>
                <a:cs typeface="Montserrat"/>
                <a:sym typeface="Montserrat"/>
              </a:rPr>
              <a:t>• ChatServer </a:t>
            </a:r>
          </a:p>
          <a:p>
            <a:pPr algn="ctr">
              <a:lnSpc>
                <a:spcPts val="2598"/>
              </a:lnSpc>
            </a:pPr>
            <a:r>
              <a:rPr lang="en-US" sz="1856">
                <a:solidFill>
                  <a:srgbClr val="001F60"/>
                </a:solidFill>
                <a:latin typeface="Montserrat"/>
                <a:ea typeface="Montserrat"/>
                <a:cs typeface="Montserrat"/>
                <a:sym typeface="Montserrat"/>
              </a:rPr>
              <a:t>• Session core •DAO</a:t>
            </a:r>
          </a:p>
        </p:txBody>
      </p:sp>
      <p:sp>
        <p:nvSpPr>
          <p:cNvPr name="Freeform 7" id="7"/>
          <p:cNvSpPr/>
          <p:nvPr/>
        </p:nvSpPr>
        <p:spPr>
          <a:xfrm flipH="false" flipV="false" rot="0">
            <a:off x="2865758" y="4374627"/>
            <a:ext cx="666851" cy="437279"/>
          </a:xfrm>
          <a:custGeom>
            <a:avLst/>
            <a:gdLst/>
            <a:ahLst/>
            <a:cxnLst/>
            <a:rect r="r" b="b" t="t" l="l"/>
            <a:pathLst>
              <a:path h="437279" w="666851">
                <a:moveTo>
                  <a:pt x="0" y="0"/>
                </a:moveTo>
                <a:lnTo>
                  <a:pt x="666852" y="0"/>
                </a:lnTo>
                <a:lnTo>
                  <a:pt x="666852" y="437280"/>
                </a:lnTo>
                <a:lnTo>
                  <a:pt x="0" y="437280"/>
                </a:lnTo>
                <a:lnTo>
                  <a:pt x="0" y="0"/>
                </a:lnTo>
                <a:close/>
              </a:path>
            </a:pathLst>
          </a:custGeom>
          <a:blipFill>
            <a:blip r:embed="rId5"/>
            <a:stretch>
              <a:fillRect l="0" t="0" r="0" b="0"/>
            </a:stretch>
          </a:blipFill>
        </p:spPr>
      </p:sp>
      <p:sp>
        <p:nvSpPr>
          <p:cNvPr name="Freeform 8" id="8"/>
          <p:cNvSpPr/>
          <p:nvPr/>
        </p:nvSpPr>
        <p:spPr>
          <a:xfrm flipH="false" flipV="false" rot="0">
            <a:off x="3303038" y="2658305"/>
            <a:ext cx="2842317" cy="4077631"/>
          </a:xfrm>
          <a:custGeom>
            <a:avLst/>
            <a:gdLst/>
            <a:ahLst/>
            <a:cxnLst/>
            <a:rect r="r" b="b" t="t" l="l"/>
            <a:pathLst>
              <a:path h="4077631" w="2842317">
                <a:moveTo>
                  <a:pt x="0" y="0"/>
                </a:moveTo>
                <a:lnTo>
                  <a:pt x="2842317" y="0"/>
                </a:lnTo>
                <a:lnTo>
                  <a:pt x="2842317" y="4077631"/>
                </a:lnTo>
                <a:lnTo>
                  <a:pt x="0" y="4077631"/>
                </a:lnTo>
                <a:lnTo>
                  <a:pt x="0" y="0"/>
                </a:lnTo>
                <a:close/>
              </a:path>
            </a:pathLst>
          </a:custGeom>
          <a:blipFill>
            <a:blip r:embed="rId6"/>
            <a:stretch>
              <a:fillRect l="0" t="0" r="0" b="0"/>
            </a:stretch>
          </a:blipFill>
        </p:spPr>
      </p:sp>
      <p:sp>
        <p:nvSpPr>
          <p:cNvPr name="Freeform 9" id="9"/>
          <p:cNvSpPr/>
          <p:nvPr/>
        </p:nvSpPr>
        <p:spPr>
          <a:xfrm flipH="false" flipV="false" rot="0">
            <a:off x="4177597" y="3511000"/>
            <a:ext cx="1093199" cy="1082267"/>
          </a:xfrm>
          <a:custGeom>
            <a:avLst/>
            <a:gdLst/>
            <a:ahLst/>
            <a:cxnLst/>
            <a:rect r="r" b="b" t="t" l="l"/>
            <a:pathLst>
              <a:path h="1082267" w="1093199">
                <a:moveTo>
                  <a:pt x="0" y="0"/>
                </a:moveTo>
                <a:lnTo>
                  <a:pt x="1093199" y="0"/>
                </a:lnTo>
                <a:lnTo>
                  <a:pt x="1093199" y="1082267"/>
                </a:lnTo>
                <a:lnTo>
                  <a:pt x="0" y="1082267"/>
                </a:lnTo>
                <a:lnTo>
                  <a:pt x="0" y="0"/>
                </a:lnTo>
                <a:close/>
              </a:path>
            </a:pathLst>
          </a:custGeom>
          <a:blipFill>
            <a:blip r:embed="rId7"/>
            <a:stretch>
              <a:fillRect l="0" t="0" r="0" b="0"/>
            </a:stretch>
          </a:blipFill>
        </p:spPr>
      </p:sp>
      <p:sp>
        <p:nvSpPr>
          <p:cNvPr name="TextBox 10" id="10"/>
          <p:cNvSpPr txBox="true"/>
          <p:nvPr/>
        </p:nvSpPr>
        <p:spPr>
          <a:xfrm rot="0">
            <a:off x="3682684" y="5385252"/>
            <a:ext cx="1992333" cy="974835"/>
          </a:xfrm>
          <a:prstGeom prst="rect">
            <a:avLst/>
          </a:prstGeom>
        </p:spPr>
        <p:txBody>
          <a:bodyPr anchor="t" rtlCol="false" tIns="0" lIns="0" bIns="0" rIns="0">
            <a:spAutoFit/>
          </a:bodyPr>
          <a:lstStyle/>
          <a:p>
            <a:pPr algn="ctr">
              <a:lnSpc>
                <a:spcPts val="2598"/>
              </a:lnSpc>
            </a:pPr>
            <a:r>
              <a:rPr lang="en-US" sz="1856">
                <a:solidFill>
                  <a:srgbClr val="001F60"/>
                </a:solidFill>
                <a:latin typeface="Montserrat"/>
                <a:ea typeface="Montserrat"/>
                <a:cs typeface="Montserrat"/>
                <a:sym typeface="Montserrat"/>
              </a:rPr>
              <a:t>•MessageRouter </a:t>
            </a:r>
          </a:p>
          <a:p>
            <a:pPr algn="ctr">
              <a:lnSpc>
                <a:spcPts val="2598"/>
              </a:lnSpc>
            </a:pPr>
            <a:r>
              <a:rPr lang="en-US" sz="1856">
                <a:solidFill>
                  <a:srgbClr val="001F60"/>
                </a:solidFill>
                <a:latin typeface="Montserrat"/>
                <a:ea typeface="Montserrat"/>
                <a:cs typeface="Montserrat"/>
                <a:sym typeface="Montserrat"/>
              </a:rPr>
              <a:t>• Registry </a:t>
            </a:r>
          </a:p>
          <a:p>
            <a:pPr algn="ctr">
              <a:lnSpc>
                <a:spcPts val="2598"/>
              </a:lnSpc>
            </a:pPr>
            <a:r>
              <a:rPr lang="en-US" sz="1856">
                <a:solidFill>
                  <a:srgbClr val="001F60"/>
                </a:solidFill>
                <a:latin typeface="Montserrat"/>
                <a:ea typeface="Montserrat"/>
                <a:cs typeface="Montserrat"/>
                <a:sym typeface="Montserrat"/>
              </a:rPr>
              <a:t>• Delivery</a:t>
            </a:r>
          </a:p>
        </p:txBody>
      </p:sp>
      <p:sp>
        <p:nvSpPr>
          <p:cNvPr name="Freeform 11" id="11"/>
          <p:cNvSpPr/>
          <p:nvPr/>
        </p:nvSpPr>
        <p:spPr>
          <a:xfrm flipH="false" flipV="false" rot="0">
            <a:off x="5915783" y="4374627"/>
            <a:ext cx="666851" cy="437279"/>
          </a:xfrm>
          <a:custGeom>
            <a:avLst/>
            <a:gdLst/>
            <a:ahLst/>
            <a:cxnLst/>
            <a:rect r="r" b="b" t="t" l="l"/>
            <a:pathLst>
              <a:path h="437279" w="666851">
                <a:moveTo>
                  <a:pt x="0" y="0"/>
                </a:moveTo>
                <a:lnTo>
                  <a:pt x="666851" y="0"/>
                </a:lnTo>
                <a:lnTo>
                  <a:pt x="666851" y="437280"/>
                </a:lnTo>
                <a:lnTo>
                  <a:pt x="0" y="437280"/>
                </a:lnTo>
                <a:lnTo>
                  <a:pt x="0" y="0"/>
                </a:lnTo>
                <a:close/>
              </a:path>
            </a:pathLst>
          </a:custGeom>
          <a:blipFill>
            <a:blip r:embed="rId8"/>
            <a:stretch>
              <a:fillRect l="0" t="0" r="0" b="0"/>
            </a:stretch>
          </a:blipFill>
        </p:spPr>
      </p:sp>
      <p:sp>
        <p:nvSpPr>
          <p:cNvPr name="Freeform 12" id="12"/>
          <p:cNvSpPr/>
          <p:nvPr/>
        </p:nvSpPr>
        <p:spPr>
          <a:xfrm flipH="false" flipV="false" rot="0">
            <a:off x="6353062" y="2658305"/>
            <a:ext cx="2623677" cy="4077631"/>
          </a:xfrm>
          <a:custGeom>
            <a:avLst/>
            <a:gdLst/>
            <a:ahLst/>
            <a:cxnLst/>
            <a:rect r="r" b="b" t="t" l="l"/>
            <a:pathLst>
              <a:path h="4077631" w="2623677">
                <a:moveTo>
                  <a:pt x="0" y="0"/>
                </a:moveTo>
                <a:lnTo>
                  <a:pt x="2623677" y="0"/>
                </a:lnTo>
                <a:lnTo>
                  <a:pt x="2623677" y="4077631"/>
                </a:lnTo>
                <a:lnTo>
                  <a:pt x="0" y="4077631"/>
                </a:lnTo>
                <a:lnTo>
                  <a:pt x="0" y="0"/>
                </a:lnTo>
                <a:close/>
              </a:path>
            </a:pathLst>
          </a:custGeom>
          <a:blipFill>
            <a:blip r:embed="rId9"/>
            <a:stretch>
              <a:fillRect l="0" t="0" r="0" b="0"/>
            </a:stretch>
          </a:blipFill>
        </p:spPr>
      </p:sp>
      <p:sp>
        <p:nvSpPr>
          <p:cNvPr name="Freeform 13" id="13"/>
          <p:cNvSpPr/>
          <p:nvPr/>
        </p:nvSpPr>
        <p:spPr>
          <a:xfrm flipH="false" flipV="false" rot="0">
            <a:off x="7216689" y="3511000"/>
            <a:ext cx="1104131" cy="874559"/>
          </a:xfrm>
          <a:custGeom>
            <a:avLst/>
            <a:gdLst/>
            <a:ahLst/>
            <a:cxnLst/>
            <a:rect r="r" b="b" t="t" l="l"/>
            <a:pathLst>
              <a:path h="874559" w="1104131">
                <a:moveTo>
                  <a:pt x="0" y="0"/>
                </a:moveTo>
                <a:lnTo>
                  <a:pt x="1104131" y="0"/>
                </a:lnTo>
                <a:lnTo>
                  <a:pt x="1104131" y="874559"/>
                </a:lnTo>
                <a:lnTo>
                  <a:pt x="0" y="874559"/>
                </a:lnTo>
                <a:lnTo>
                  <a:pt x="0" y="0"/>
                </a:lnTo>
                <a:close/>
              </a:path>
            </a:pathLst>
          </a:custGeom>
          <a:blipFill>
            <a:blip r:embed="rId10"/>
            <a:stretch>
              <a:fillRect l="0" t="0" r="0" b="0"/>
            </a:stretch>
          </a:blipFill>
        </p:spPr>
      </p:sp>
      <p:sp>
        <p:nvSpPr>
          <p:cNvPr name="TextBox 14" id="14"/>
          <p:cNvSpPr txBox="true"/>
          <p:nvPr/>
        </p:nvSpPr>
        <p:spPr>
          <a:xfrm rot="0">
            <a:off x="7027610" y="5385252"/>
            <a:ext cx="1507295" cy="974835"/>
          </a:xfrm>
          <a:prstGeom prst="rect">
            <a:avLst/>
          </a:prstGeom>
        </p:spPr>
        <p:txBody>
          <a:bodyPr anchor="t" rtlCol="false" tIns="0" lIns="0" bIns="0" rIns="0">
            <a:spAutoFit/>
          </a:bodyPr>
          <a:lstStyle/>
          <a:p>
            <a:pPr algn="ctr">
              <a:lnSpc>
                <a:spcPts val="2598"/>
              </a:lnSpc>
            </a:pPr>
            <a:r>
              <a:rPr lang="en-US" sz="1856">
                <a:solidFill>
                  <a:srgbClr val="001F60"/>
                </a:solidFill>
                <a:latin typeface="Montserrat"/>
                <a:ea typeface="Montserrat"/>
                <a:cs typeface="Montserrat"/>
                <a:sym typeface="Montserrat"/>
              </a:rPr>
              <a:t>• ChatClient</a:t>
            </a:r>
          </a:p>
          <a:p>
            <a:pPr algn="ctr">
              <a:lnSpc>
                <a:spcPts val="2598"/>
              </a:lnSpc>
            </a:pPr>
            <a:r>
              <a:rPr lang="en-US" sz="1856">
                <a:solidFill>
                  <a:srgbClr val="001F60"/>
                </a:solidFill>
                <a:latin typeface="Montserrat"/>
                <a:ea typeface="Montserrat"/>
                <a:cs typeface="Montserrat"/>
                <a:sym typeface="Montserrat"/>
              </a:rPr>
              <a:t>• Receiver </a:t>
            </a:r>
          </a:p>
          <a:p>
            <a:pPr algn="ctr">
              <a:lnSpc>
                <a:spcPts val="2598"/>
              </a:lnSpc>
            </a:pPr>
            <a:r>
              <a:rPr lang="en-US" sz="1856">
                <a:solidFill>
                  <a:srgbClr val="001F60"/>
                </a:solidFill>
                <a:latin typeface="Montserrat"/>
                <a:ea typeface="Montserrat"/>
                <a:cs typeface="Montserrat"/>
                <a:sym typeface="Montserrat"/>
              </a:rPr>
              <a:t>• Dispatch</a:t>
            </a:r>
          </a:p>
        </p:txBody>
      </p:sp>
      <p:sp>
        <p:nvSpPr>
          <p:cNvPr name="Freeform 15" id="15"/>
          <p:cNvSpPr/>
          <p:nvPr/>
        </p:nvSpPr>
        <p:spPr>
          <a:xfrm flipH="false" flipV="false" rot="0">
            <a:off x="8965807" y="4374627"/>
            <a:ext cx="437279" cy="437279"/>
          </a:xfrm>
          <a:custGeom>
            <a:avLst/>
            <a:gdLst/>
            <a:ahLst/>
            <a:cxnLst/>
            <a:rect r="r" b="b" t="t" l="l"/>
            <a:pathLst>
              <a:path h="437279" w="437279">
                <a:moveTo>
                  <a:pt x="0" y="0"/>
                </a:moveTo>
                <a:lnTo>
                  <a:pt x="437280" y="0"/>
                </a:lnTo>
                <a:lnTo>
                  <a:pt x="437280" y="437280"/>
                </a:lnTo>
                <a:lnTo>
                  <a:pt x="0" y="437280"/>
                </a:lnTo>
                <a:lnTo>
                  <a:pt x="0" y="0"/>
                </a:lnTo>
                <a:close/>
              </a:path>
            </a:pathLst>
          </a:custGeom>
          <a:blipFill>
            <a:blip r:embed="rId11"/>
            <a:stretch>
              <a:fillRect l="0" t="0" r="0" b="0"/>
            </a:stretch>
          </a:blipFill>
        </p:spPr>
      </p:sp>
      <p:sp>
        <p:nvSpPr>
          <p:cNvPr name="Freeform 16" id="16"/>
          <p:cNvSpPr/>
          <p:nvPr/>
        </p:nvSpPr>
        <p:spPr>
          <a:xfrm flipH="false" flipV="false" rot="0">
            <a:off x="9392155" y="2658305"/>
            <a:ext cx="2623677" cy="4077631"/>
          </a:xfrm>
          <a:custGeom>
            <a:avLst/>
            <a:gdLst/>
            <a:ahLst/>
            <a:cxnLst/>
            <a:rect r="r" b="b" t="t" l="l"/>
            <a:pathLst>
              <a:path h="4077631" w="2623677">
                <a:moveTo>
                  <a:pt x="0" y="0"/>
                </a:moveTo>
                <a:lnTo>
                  <a:pt x="2623677" y="0"/>
                </a:lnTo>
                <a:lnTo>
                  <a:pt x="2623677" y="4077631"/>
                </a:lnTo>
                <a:lnTo>
                  <a:pt x="0" y="4077631"/>
                </a:lnTo>
                <a:lnTo>
                  <a:pt x="0" y="0"/>
                </a:lnTo>
                <a:close/>
              </a:path>
            </a:pathLst>
          </a:custGeom>
          <a:blipFill>
            <a:blip r:embed="rId12"/>
            <a:stretch>
              <a:fillRect l="0" t="0" r="0" b="0"/>
            </a:stretch>
          </a:blipFill>
        </p:spPr>
      </p:sp>
      <p:sp>
        <p:nvSpPr>
          <p:cNvPr name="Freeform 17" id="17"/>
          <p:cNvSpPr/>
          <p:nvPr/>
        </p:nvSpPr>
        <p:spPr>
          <a:xfrm flipH="false" flipV="false" rot="0">
            <a:off x="10266714" y="3511000"/>
            <a:ext cx="885491" cy="874559"/>
          </a:xfrm>
          <a:custGeom>
            <a:avLst/>
            <a:gdLst/>
            <a:ahLst/>
            <a:cxnLst/>
            <a:rect r="r" b="b" t="t" l="l"/>
            <a:pathLst>
              <a:path h="874559" w="885491">
                <a:moveTo>
                  <a:pt x="0" y="0"/>
                </a:moveTo>
                <a:lnTo>
                  <a:pt x="885491" y="0"/>
                </a:lnTo>
                <a:lnTo>
                  <a:pt x="885491" y="874559"/>
                </a:lnTo>
                <a:lnTo>
                  <a:pt x="0" y="874559"/>
                </a:lnTo>
                <a:lnTo>
                  <a:pt x="0" y="0"/>
                </a:lnTo>
                <a:close/>
              </a:path>
            </a:pathLst>
          </a:custGeom>
          <a:blipFill>
            <a:blip r:embed="rId13"/>
            <a:stretch>
              <a:fillRect l="0" t="0" r="0" b="0"/>
            </a:stretch>
          </a:blipFill>
        </p:spPr>
      </p:sp>
      <p:sp>
        <p:nvSpPr>
          <p:cNvPr name="TextBox 18" id="18"/>
          <p:cNvSpPr txBox="true"/>
          <p:nvPr/>
        </p:nvSpPr>
        <p:spPr>
          <a:xfrm rot="0">
            <a:off x="9540337" y="5105400"/>
            <a:ext cx="2327312" cy="1302794"/>
          </a:xfrm>
          <a:prstGeom prst="rect">
            <a:avLst/>
          </a:prstGeom>
        </p:spPr>
        <p:txBody>
          <a:bodyPr anchor="t" rtlCol="false" tIns="0" lIns="0" bIns="0" rIns="0">
            <a:spAutoFit/>
          </a:bodyPr>
          <a:lstStyle/>
          <a:p>
            <a:pPr algn="ctr">
              <a:lnSpc>
                <a:spcPts val="2598"/>
              </a:lnSpc>
            </a:pPr>
            <a:r>
              <a:rPr lang="en-US" sz="1856">
                <a:solidFill>
                  <a:srgbClr val="001F60"/>
                </a:solidFill>
                <a:latin typeface="Montserrat"/>
                <a:ea typeface="Montserrat"/>
                <a:cs typeface="Montserrat"/>
                <a:sym typeface="Montserrat"/>
              </a:rPr>
              <a:t>• Danh sách hội thoại </a:t>
            </a:r>
          </a:p>
          <a:p>
            <a:pPr algn="ctr">
              <a:lnSpc>
                <a:spcPts val="2598"/>
              </a:lnSpc>
            </a:pPr>
            <a:r>
              <a:rPr lang="en-US" sz="1856">
                <a:solidFill>
                  <a:srgbClr val="001F60"/>
                </a:solidFill>
                <a:latin typeface="Montserrat"/>
                <a:ea typeface="Montserrat"/>
                <a:cs typeface="Montserrat"/>
                <a:sym typeface="Montserrat"/>
              </a:rPr>
              <a:t>• Trạng thái </a:t>
            </a:r>
          </a:p>
          <a:p>
            <a:pPr algn="ctr">
              <a:lnSpc>
                <a:spcPts val="2598"/>
              </a:lnSpc>
            </a:pPr>
            <a:r>
              <a:rPr lang="en-US" sz="1856">
                <a:solidFill>
                  <a:srgbClr val="001F60"/>
                </a:solidFill>
                <a:latin typeface="Montserrat"/>
                <a:ea typeface="Montserrat"/>
                <a:cs typeface="Montserrat"/>
                <a:sym typeface="Montserrat"/>
              </a:rPr>
              <a:t>• Sắp xếp</a:t>
            </a:r>
          </a:p>
        </p:txBody>
      </p:sp>
      <p:sp>
        <p:nvSpPr>
          <p:cNvPr name="Freeform 19" id="19"/>
          <p:cNvSpPr/>
          <p:nvPr/>
        </p:nvSpPr>
        <p:spPr>
          <a:xfrm flipH="false" flipV="false" rot="0">
            <a:off x="12004900" y="4374627"/>
            <a:ext cx="448211" cy="437279"/>
          </a:xfrm>
          <a:custGeom>
            <a:avLst/>
            <a:gdLst/>
            <a:ahLst/>
            <a:cxnLst/>
            <a:rect r="r" b="b" t="t" l="l"/>
            <a:pathLst>
              <a:path h="437279" w="448211">
                <a:moveTo>
                  <a:pt x="0" y="0"/>
                </a:moveTo>
                <a:lnTo>
                  <a:pt x="448211" y="0"/>
                </a:lnTo>
                <a:lnTo>
                  <a:pt x="448211" y="437280"/>
                </a:lnTo>
                <a:lnTo>
                  <a:pt x="0" y="437280"/>
                </a:lnTo>
                <a:lnTo>
                  <a:pt x="0" y="0"/>
                </a:lnTo>
                <a:close/>
              </a:path>
            </a:pathLst>
          </a:custGeom>
          <a:blipFill>
            <a:blip r:embed="rId14"/>
            <a:stretch>
              <a:fillRect l="0" t="0" r="0" b="0"/>
            </a:stretch>
          </a:blipFill>
        </p:spPr>
      </p:sp>
      <p:sp>
        <p:nvSpPr>
          <p:cNvPr name="Freeform 20" id="20"/>
          <p:cNvSpPr/>
          <p:nvPr/>
        </p:nvSpPr>
        <p:spPr>
          <a:xfrm flipH="false" flipV="false" rot="0">
            <a:off x="12223540" y="2658305"/>
            <a:ext cx="2842317" cy="4077631"/>
          </a:xfrm>
          <a:custGeom>
            <a:avLst/>
            <a:gdLst/>
            <a:ahLst/>
            <a:cxnLst/>
            <a:rect r="r" b="b" t="t" l="l"/>
            <a:pathLst>
              <a:path h="4077631" w="2842317">
                <a:moveTo>
                  <a:pt x="0" y="0"/>
                </a:moveTo>
                <a:lnTo>
                  <a:pt x="2842316" y="0"/>
                </a:lnTo>
                <a:lnTo>
                  <a:pt x="2842316" y="4077631"/>
                </a:lnTo>
                <a:lnTo>
                  <a:pt x="0" y="4077631"/>
                </a:lnTo>
                <a:lnTo>
                  <a:pt x="0" y="0"/>
                </a:lnTo>
                <a:close/>
              </a:path>
            </a:pathLst>
          </a:custGeom>
          <a:blipFill>
            <a:blip r:embed="rId15"/>
            <a:stretch>
              <a:fillRect l="0" t="0" r="0" b="0"/>
            </a:stretch>
          </a:blipFill>
        </p:spPr>
      </p:sp>
      <p:sp>
        <p:nvSpPr>
          <p:cNvPr name="Freeform 21" id="21"/>
          <p:cNvSpPr/>
          <p:nvPr/>
        </p:nvSpPr>
        <p:spPr>
          <a:xfrm flipH="false" flipV="false" rot="0">
            <a:off x="13316738" y="3511000"/>
            <a:ext cx="874559" cy="1082267"/>
          </a:xfrm>
          <a:custGeom>
            <a:avLst/>
            <a:gdLst/>
            <a:ahLst/>
            <a:cxnLst/>
            <a:rect r="r" b="b" t="t" l="l"/>
            <a:pathLst>
              <a:path h="1082267" w="874559">
                <a:moveTo>
                  <a:pt x="0" y="0"/>
                </a:moveTo>
                <a:lnTo>
                  <a:pt x="874559" y="0"/>
                </a:lnTo>
                <a:lnTo>
                  <a:pt x="874559" y="1082267"/>
                </a:lnTo>
                <a:lnTo>
                  <a:pt x="0" y="1082267"/>
                </a:lnTo>
                <a:lnTo>
                  <a:pt x="0" y="0"/>
                </a:lnTo>
                <a:close/>
              </a:path>
            </a:pathLst>
          </a:custGeom>
          <a:blipFill>
            <a:blip r:embed="rId16"/>
            <a:stretch>
              <a:fillRect l="0" t="0" r="0" b="0"/>
            </a:stretch>
          </a:blipFill>
        </p:spPr>
      </p:sp>
      <p:sp>
        <p:nvSpPr>
          <p:cNvPr name="TextBox 22" id="22"/>
          <p:cNvSpPr txBox="true"/>
          <p:nvPr/>
        </p:nvSpPr>
        <p:spPr>
          <a:xfrm rot="0">
            <a:off x="12787357" y="5105400"/>
            <a:ext cx="1864385" cy="1302794"/>
          </a:xfrm>
          <a:prstGeom prst="rect">
            <a:avLst/>
          </a:prstGeom>
        </p:spPr>
        <p:txBody>
          <a:bodyPr anchor="t" rtlCol="false" tIns="0" lIns="0" bIns="0" rIns="0">
            <a:spAutoFit/>
          </a:bodyPr>
          <a:lstStyle/>
          <a:p>
            <a:pPr algn="ctr">
              <a:lnSpc>
                <a:spcPts val="2598"/>
              </a:lnSpc>
            </a:pPr>
            <a:r>
              <a:rPr lang="en-US" sz="1856">
                <a:solidFill>
                  <a:srgbClr val="001F60"/>
                </a:solidFill>
                <a:latin typeface="Montserrat"/>
                <a:ea typeface="Montserrat"/>
                <a:cs typeface="Montserrat"/>
                <a:sym typeface="Montserrat"/>
              </a:rPr>
              <a:t>• Gửi nhận tin </a:t>
            </a:r>
          </a:p>
          <a:p>
            <a:pPr algn="ctr">
              <a:lnSpc>
                <a:spcPts val="2598"/>
              </a:lnSpc>
            </a:pPr>
            <a:r>
              <a:rPr lang="en-US" sz="1856">
                <a:solidFill>
                  <a:srgbClr val="001F60"/>
                </a:solidFill>
                <a:latin typeface="Montserrat"/>
                <a:ea typeface="Montserrat"/>
                <a:cs typeface="Montserrat"/>
                <a:sym typeface="Montserrat"/>
              </a:rPr>
              <a:t>• Reply </a:t>
            </a:r>
          </a:p>
          <a:p>
            <a:pPr algn="ctr">
              <a:lnSpc>
                <a:spcPts val="2598"/>
              </a:lnSpc>
            </a:pPr>
            <a:r>
              <a:rPr lang="en-US" sz="1856">
                <a:solidFill>
                  <a:srgbClr val="001F60"/>
                </a:solidFill>
                <a:latin typeface="Montserrat"/>
                <a:ea typeface="Montserrat"/>
                <a:cs typeface="Montserrat"/>
                <a:sym typeface="Montserrat"/>
              </a:rPr>
              <a:t>• Forward </a:t>
            </a:r>
          </a:p>
          <a:p>
            <a:pPr algn="ctr">
              <a:lnSpc>
                <a:spcPts val="2598"/>
              </a:lnSpc>
            </a:pPr>
            <a:r>
              <a:rPr lang="en-US" sz="1856">
                <a:solidFill>
                  <a:srgbClr val="001F60"/>
                </a:solidFill>
                <a:latin typeface="Montserrat"/>
                <a:ea typeface="Montserrat"/>
                <a:cs typeface="Montserrat"/>
                <a:sym typeface="Montserrat"/>
              </a:rPr>
              <a:t>• Emoji</a:t>
            </a:r>
          </a:p>
        </p:txBody>
      </p:sp>
      <p:sp>
        <p:nvSpPr>
          <p:cNvPr name="Freeform 23" id="23"/>
          <p:cNvSpPr/>
          <p:nvPr/>
        </p:nvSpPr>
        <p:spPr>
          <a:xfrm flipH="false" flipV="false" rot="0">
            <a:off x="14836285" y="4374627"/>
            <a:ext cx="666851" cy="437279"/>
          </a:xfrm>
          <a:custGeom>
            <a:avLst/>
            <a:gdLst/>
            <a:ahLst/>
            <a:cxnLst/>
            <a:rect r="r" b="b" t="t" l="l"/>
            <a:pathLst>
              <a:path h="437279" w="666851">
                <a:moveTo>
                  <a:pt x="0" y="0"/>
                </a:moveTo>
                <a:lnTo>
                  <a:pt x="666851" y="0"/>
                </a:lnTo>
                <a:lnTo>
                  <a:pt x="666851" y="437280"/>
                </a:lnTo>
                <a:lnTo>
                  <a:pt x="0" y="437280"/>
                </a:lnTo>
                <a:lnTo>
                  <a:pt x="0" y="0"/>
                </a:lnTo>
                <a:close/>
              </a:path>
            </a:pathLst>
          </a:custGeom>
          <a:blipFill>
            <a:blip r:embed="rId17"/>
            <a:stretch>
              <a:fillRect l="0" t="0" r="0" b="0"/>
            </a:stretch>
          </a:blipFill>
        </p:spPr>
      </p:sp>
      <p:sp>
        <p:nvSpPr>
          <p:cNvPr name="Freeform 24" id="24"/>
          <p:cNvSpPr/>
          <p:nvPr/>
        </p:nvSpPr>
        <p:spPr>
          <a:xfrm flipH="false" flipV="false" rot="0">
            <a:off x="15273564" y="2658305"/>
            <a:ext cx="2842317" cy="4077631"/>
          </a:xfrm>
          <a:custGeom>
            <a:avLst/>
            <a:gdLst/>
            <a:ahLst/>
            <a:cxnLst/>
            <a:rect r="r" b="b" t="t" l="l"/>
            <a:pathLst>
              <a:path h="4077631" w="2842317">
                <a:moveTo>
                  <a:pt x="0" y="0"/>
                </a:moveTo>
                <a:lnTo>
                  <a:pt x="2842317" y="0"/>
                </a:lnTo>
                <a:lnTo>
                  <a:pt x="2842317" y="4077631"/>
                </a:lnTo>
                <a:lnTo>
                  <a:pt x="0" y="4077631"/>
                </a:lnTo>
                <a:lnTo>
                  <a:pt x="0" y="0"/>
                </a:lnTo>
                <a:close/>
              </a:path>
            </a:pathLst>
          </a:custGeom>
          <a:blipFill>
            <a:blip r:embed="rId18"/>
            <a:stretch>
              <a:fillRect l="0" t="0" r="0" b="0"/>
            </a:stretch>
          </a:blipFill>
        </p:spPr>
      </p:sp>
      <p:sp>
        <p:nvSpPr>
          <p:cNvPr name="Freeform 25" id="25"/>
          <p:cNvSpPr/>
          <p:nvPr/>
        </p:nvSpPr>
        <p:spPr>
          <a:xfrm flipH="false" flipV="false" rot="0">
            <a:off x="16137191" y="3511000"/>
            <a:ext cx="885491" cy="1082267"/>
          </a:xfrm>
          <a:custGeom>
            <a:avLst/>
            <a:gdLst/>
            <a:ahLst/>
            <a:cxnLst/>
            <a:rect r="r" b="b" t="t" l="l"/>
            <a:pathLst>
              <a:path h="1082267" w="885491">
                <a:moveTo>
                  <a:pt x="0" y="0"/>
                </a:moveTo>
                <a:lnTo>
                  <a:pt x="885491" y="0"/>
                </a:lnTo>
                <a:lnTo>
                  <a:pt x="885491" y="1082267"/>
                </a:lnTo>
                <a:lnTo>
                  <a:pt x="0" y="1082267"/>
                </a:lnTo>
                <a:lnTo>
                  <a:pt x="0" y="0"/>
                </a:lnTo>
                <a:close/>
              </a:path>
            </a:pathLst>
          </a:custGeom>
          <a:blipFill>
            <a:blip r:embed="rId19"/>
            <a:stretch>
              <a:fillRect l="0" t="0" r="0" b="0"/>
            </a:stretch>
          </a:blipFill>
        </p:spPr>
      </p:sp>
      <p:sp>
        <p:nvSpPr>
          <p:cNvPr name="TextBox 26" id="26"/>
          <p:cNvSpPr txBox="true"/>
          <p:nvPr/>
        </p:nvSpPr>
        <p:spPr>
          <a:xfrm rot="0">
            <a:off x="15636681" y="4595492"/>
            <a:ext cx="2208956" cy="699647"/>
          </a:xfrm>
          <a:prstGeom prst="rect">
            <a:avLst/>
          </a:prstGeom>
        </p:spPr>
        <p:txBody>
          <a:bodyPr anchor="t" rtlCol="false" tIns="0" lIns="0" bIns="0" rIns="0">
            <a:spAutoFit/>
          </a:bodyPr>
          <a:lstStyle/>
          <a:p>
            <a:pPr algn="ctr">
              <a:lnSpc>
                <a:spcPts val="2758"/>
              </a:lnSpc>
            </a:pPr>
            <a:r>
              <a:rPr lang="en-US" sz="2298" b="true">
                <a:solidFill>
                  <a:srgbClr val="001F60"/>
                </a:solidFill>
                <a:latin typeface="Montserrat Bold"/>
                <a:ea typeface="Montserrat Bold"/>
                <a:cs typeface="Montserrat Bold"/>
                <a:sym typeface="Montserrat Bold"/>
              </a:rPr>
              <a:t>Auth / Session và Integration</a:t>
            </a:r>
          </a:p>
        </p:txBody>
      </p:sp>
      <p:sp>
        <p:nvSpPr>
          <p:cNvPr name="TextBox 27" id="27"/>
          <p:cNvSpPr txBox="true"/>
          <p:nvPr/>
        </p:nvSpPr>
        <p:spPr>
          <a:xfrm rot="0">
            <a:off x="15503136" y="5465199"/>
            <a:ext cx="2284785" cy="942995"/>
          </a:xfrm>
          <a:prstGeom prst="rect">
            <a:avLst/>
          </a:prstGeom>
        </p:spPr>
        <p:txBody>
          <a:bodyPr anchor="t" rtlCol="false" tIns="0" lIns="0" bIns="0" rIns="0">
            <a:spAutoFit/>
          </a:bodyPr>
          <a:lstStyle/>
          <a:p>
            <a:pPr algn="ctr">
              <a:lnSpc>
                <a:spcPts val="2545"/>
              </a:lnSpc>
            </a:pPr>
            <a:r>
              <a:rPr lang="en-US" sz="1818">
                <a:solidFill>
                  <a:srgbClr val="001F60"/>
                </a:solidFill>
                <a:latin typeface="Montserrat"/>
                <a:ea typeface="Montserrat"/>
                <a:cs typeface="Montserrat"/>
                <a:sym typeface="Montserrat"/>
              </a:rPr>
              <a:t>• Login </a:t>
            </a:r>
          </a:p>
          <a:p>
            <a:pPr algn="ctr">
              <a:lnSpc>
                <a:spcPts val="2545"/>
              </a:lnSpc>
            </a:pPr>
            <a:r>
              <a:rPr lang="en-US" sz="1818">
                <a:solidFill>
                  <a:srgbClr val="001F60"/>
                </a:solidFill>
                <a:latin typeface="Montserrat"/>
                <a:ea typeface="Montserrat"/>
                <a:cs typeface="Montserrat"/>
                <a:sym typeface="Montserrat"/>
              </a:rPr>
              <a:t>• Single-session </a:t>
            </a:r>
          </a:p>
          <a:p>
            <a:pPr algn="ctr">
              <a:lnSpc>
                <a:spcPts val="2545"/>
              </a:lnSpc>
            </a:pPr>
            <a:r>
              <a:rPr lang="en-US" sz="1818">
                <a:solidFill>
                  <a:srgbClr val="001F60"/>
                </a:solidFill>
                <a:latin typeface="Montserrat"/>
                <a:ea typeface="Montserrat"/>
                <a:cs typeface="Montserrat"/>
                <a:sym typeface="Montserrat"/>
              </a:rPr>
              <a:t>• Kiểm thử tích hợp</a:t>
            </a:r>
          </a:p>
        </p:txBody>
      </p:sp>
      <p:sp>
        <p:nvSpPr>
          <p:cNvPr name="TextBox 28" id="28"/>
          <p:cNvSpPr txBox="true"/>
          <p:nvPr/>
        </p:nvSpPr>
        <p:spPr>
          <a:xfrm rot="0">
            <a:off x="685046"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01</a:t>
            </a:r>
          </a:p>
        </p:txBody>
      </p:sp>
      <p:sp>
        <p:nvSpPr>
          <p:cNvPr name="TextBox 29" id="29"/>
          <p:cNvSpPr txBox="true"/>
          <p:nvPr/>
        </p:nvSpPr>
        <p:spPr>
          <a:xfrm rot="0">
            <a:off x="3682684"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02</a:t>
            </a:r>
          </a:p>
        </p:txBody>
      </p:sp>
      <p:sp>
        <p:nvSpPr>
          <p:cNvPr name="TextBox 30" id="30"/>
          <p:cNvSpPr txBox="true"/>
          <p:nvPr/>
        </p:nvSpPr>
        <p:spPr>
          <a:xfrm rot="0">
            <a:off x="6643766"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03</a:t>
            </a:r>
          </a:p>
        </p:txBody>
      </p:sp>
      <p:sp>
        <p:nvSpPr>
          <p:cNvPr name="TextBox 31" id="31"/>
          <p:cNvSpPr txBox="true"/>
          <p:nvPr/>
        </p:nvSpPr>
        <p:spPr>
          <a:xfrm rot="0">
            <a:off x="9641404"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04</a:t>
            </a:r>
          </a:p>
        </p:txBody>
      </p:sp>
      <p:sp>
        <p:nvSpPr>
          <p:cNvPr name="TextBox 32" id="32"/>
          <p:cNvSpPr txBox="true"/>
          <p:nvPr/>
        </p:nvSpPr>
        <p:spPr>
          <a:xfrm rot="0">
            <a:off x="12620764"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05</a:t>
            </a:r>
          </a:p>
        </p:txBody>
      </p:sp>
      <p:sp>
        <p:nvSpPr>
          <p:cNvPr name="TextBox 33" id="33"/>
          <p:cNvSpPr txBox="true"/>
          <p:nvPr/>
        </p:nvSpPr>
        <p:spPr>
          <a:xfrm rot="0">
            <a:off x="15581846" y="3148077"/>
            <a:ext cx="548348" cy="282825"/>
          </a:xfrm>
          <a:prstGeom prst="rect">
            <a:avLst/>
          </a:prstGeom>
        </p:spPr>
        <p:txBody>
          <a:bodyPr anchor="t" rtlCol="false" tIns="0" lIns="0" bIns="0" rIns="0">
            <a:spAutoFit/>
          </a:bodyPr>
          <a:lstStyle/>
          <a:p>
            <a:pPr algn="ctr">
              <a:lnSpc>
                <a:spcPts val="2227"/>
              </a:lnSpc>
            </a:pPr>
            <a:r>
              <a:rPr lang="en-US" b="true" sz="1856">
                <a:solidFill>
                  <a:srgbClr val="001F60"/>
                </a:solidFill>
                <a:latin typeface="Montserrat Bold"/>
                <a:ea typeface="Montserrat Bold"/>
                <a:cs typeface="Montserrat Bold"/>
                <a:sym typeface="Montserrat Bold"/>
              </a:rPr>
              <a:t>06</a:t>
            </a:r>
          </a:p>
        </p:txBody>
      </p:sp>
      <p:sp>
        <p:nvSpPr>
          <p:cNvPr name="TextBox 34" id="34"/>
          <p:cNvSpPr txBox="true"/>
          <p:nvPr/>
        </p:nvSpPr>
        <p:spPr>
          <a:xfrm rot="0">
            <a:off x="1138405" y="4634015"/>
            <a:ext cx="1093298" cy="348417"/>
          </a:xfrm>
          <a:prstGeom prst="rect">
            <a:avLst/>
          </a:prstGeom>
        </p:spPr>
        <p:txBody>
          <a:bodyPr anchor="t" rtlCol="false" tIns="0" lIns="0" bIns="0" rIns="0">
            <a:spAutoFit/>
          </a:bodyPr>
          <a:lstStyle/>
          <a:p>
            <a:pPr algn="ctr">
              <a:lnSpc>
                <a:spcPts val="2727"/>
              </a:lnSpc>
            </a:pPr>
            <a:r>
              <a:rPr lang="en-US" sz="2273" b="true">
                <a:solidFill>
                  <a:srgbClr val="001F60"/>
                </a:solidFill>
                <a:latin typeface="Montserrat Bold"/>
                <a:ea typeface="Montserrat Bold"/>
                <a:cs typeface="Montserrat Bold"/>
                <a:sym typeface="Montserrat Bold"/>
              </a:rPr>
              <a:t>Server</a:t>
            </a:r>
          </a:p>
        </p:txBody>
      </p:sp>
      <p:sp>
        <p:nvSpPr>
          <p:cNvPr name="TextBox 35" id="35"/>
          <p:cNvSpPr txBox="true"/>
          <p:nvPr/>
        </p:nvSpPr>
        <p:spPr>
          <a:xfrm rot="0">
            <a:off x="4047765" y="4687596"/>
            <a:ext cx="1352862" cy="348417"/>
          </a:xfrm>
          <a:prstGeom prst="rect">
            <a:avLst/>
          </a:prstGeom>
        </p:spPr>
        <p:txBody>
          <a:bodyPr anchor="t" rtlCol="false" tIns="0" lIns="0" bIns="0" rIns="0">
            <a:spAutoFit/>
          </a:bodyPr>
          <a:lstStyle/>
          <a:p>
            <a:pPr algn="ctr">
              <a:lnSpc>
                <a:spcPts val="2727"/>
              </a:lnSpc>
            </a:pPr>
            <a:r>
              <a:rPr lang="en-US" sz="2273" b="true">
                <a:solidFill>
                  <a:srgbClr val="001F60"/>
                </a:solidFill>
                <a:latin typeface="Montserrat Bold"/>
                <a:ea typeface="Montserrat Bold"/>
                <a:cs typeface="Montserrat Bold"/>
                <a:sym typeface="Montserrat Bold"/>
              </a:rPr>
              <a:t>Routing</a:t>
            </a:r>
          </a:p>
        </p:txBody>
      </p:sp>
      <p:sp>
        <p:nvSpPr>
          <p:cNvPr name="TextBox 36" id="36"/>
          <p:cNvSpPr txBox="true"/>
          <p:nvPr/>
        </p:nvSpPr>
        <p:spPr>
          <a:xfrm rot="0">
            <a:off x="6522424" y="4634015"/>
            <a:ext cx="2421689" cy="348417"/>
          </a:xfrm>
          <a:prstGeom prst="rect">
            <a:avLst/>
          </a:prstGeom>
        </p:spPr>
        <p:txBody>
          <a:bodyPr anchor="t" rtlCol="false" tIns="0" lIns="0" bIns="0" rIns="0">
            <a:spAutoFit/>
          </a:bodyPr>
          <a:lstStyle/>
          <a:p>
            <a:pPr algn="ctr">
              <a:lnSpc>
                <a:spcPts val="2727"/>
              </a:lnSpc>
            </a:pPr>
            <a:r>
              <a:rPr lang="en-US" sz="2273" b="true">
                <a:solidFill>
                  <a:srgbClr val="001F60"/>
                </a:solidFill>
                <a:latin typeface="Montserrat Bold"/>
                <a:ea typeface="Montserrat Bold"/>
                <a:cs typeface="Montserrat Bold"/>
                <a:sym typeface="Montserrat Bold"/>
              </a:rPr>
              <a:t>Client Network</a:t>
            </a:r>
          </a:p>
        </p:txBody>
      </p:sp>
      <p:sp>
        <p:nvSpPr>
          <p:cNvPr name="TextBox 37" id="37"/>
          <p:cNvSpPr txBox="true"/>
          <p:nvPr/>
        </p:nvSpPr>
        <p:spPr>
          <a:xfrm rot="0">
            <a:off x="10134918" y="4714909"/>
            <a:ext cx="1298482" cy="348417"/>
          </a:xfrm>
          <a:prstGeom prst="rect">
            <a:avLst/>
          </a:prstGeom>
        </p:spPr>
        <p:txBody>
          <a:bodyPr anchor="t" rtlCol="false" tIns="0" lIns="0" bIns="0" rIns="0">
            <a:spAutoFit/>
          </a:bodyPr>
          <a:lstStyle/>
          <a:p>
            <a:pPr algn="ctr">
              <a:lnSpc>
                <a:spcPts val="2727"/>
              </a:lnSpc>
            </a:pPr>
            <a:r>
              <a:rPr lang="en-US" sz="2273" b="true">
                <a:solidFill>
                  <a:srgbClr val="001F60"/>
                </a:solidFill>
                <a:latin typeface="Montserrat Bold"/>
                <a:ea typeface="Montserrat Bold"/>
                <a:cs typeface="Montserrat Bold"/>
                <a:sym typeface="Montserrat Bold"/>
              </a:rPr>
              <a:t>Sidebar</a:t>
            </a:r>
          </a:p>
        </p:txBody>
      </p:sp>
      <p:sp>
        <p:nvSpPr>
          <p:cNvPr name="TextBox 38" id="38"/>
          <p:cNvSpPr txBox="true"/>
          <p:nvPr/>
        </p:nvSpPr>
        <p:spPr>
          <a:xfrm rot="0">
            <a:off x="13060214" y="4687596"/>
            <a:ext cx="1387608" cy="348417"/>
          </a:xfrm>
          <a:prstGeom prst="rect">
            <a:avLst/>
          </a:prstGeom>
        </p:spPr>
        <p:txBody>
          <a:bodyPr anchor="t" rtlCol="false" tIns="0" lIns="0" bIns="0" rIns="0">
            <a:spAutoFit/>
          </a:bodyPr>
          <a:lstStyle/>
          <a:p>
            <a:pPr algn="ctr">
              <a:lnSpc>
                <a:spcPts val="2727"/>
              </a:lnSpc>
            </a:pPr>
            <a:r>
              <a:rPr lang="en-US" sz="2273" b="true">
                <a:solidFill>
                  <a:srgbClr val="001F60"/>
                </a:solidFill>
                <a:latin typeface="Montserrat Bold"/>
                <a:ea typeface="Montserrat Bold"/>
                <a:cs typeface="Montserrat Bold"/>
                <a:sym typeface="Montserrat Bold"/>
              </a:rPr>
              <a:t>Chat UI</a:t>
            </a:r>
          </a:p>
        </p:txBody>
      </p:sp>
      <p:sp>
        <p:nvSpPr>
          <p:cNvPr name="TextBox 39" id="39"/>
          <p:cNvSpPr txBox="true"/>
          <p:nvPr/>
        </p:nvSpPr>
        <p:spPr>
          <a:xfrm rot="0">
            <a:off x="557098" y="1725979"/>
            <a:ext cx="17090194" cy="602666"/>
          </a:xfrm>
          <a:prstGeom prst="rect">
            <a:avLst/>
          </a:prstGeom>
        </p:spPr>
        <p:txBody>
          <a:bodyPr anchor="t" rtlCol="false" tIns="0" lIns="0" bIns="0" rIns="0">
            <a:spAutoFit/>
          </a:bodyPr>
          <a:lstStyle/>
          <a:p>
            <a:pPr algn="l">
              <a:lnSpc>
                <a:spcPts val="2482"/>
              </a:lnSpc>
            </a:pPr>
            <a:r>
              <a:rPr lang="en-US" sz="2068">
                <a:solidFill>
                  <a:srgbClr val="001F60"/>
                </a:solidFill>
                <a:latin typeface="Montserrat"/>
                <a:ea typeface="Montserrat"/>
                <a:cs typeface="Montserrat"/>
                <a:sym typeface="Montserrat"/>
              </a:rPr>
              <a:t>Sau phần tổng quan kiến trúc, nhóm tiếp tục trình bày theo từng khối chức năng để đi từ lõi hệ thống đến trải nghiệm người dùng và phần tích hợp.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DAHWPkLphfY</dc:identifier>
  <dcterms:modified xsi:type="dcterms:W3CDTF">2011-08-01T06:04:30Z</dcterms:modified>
  <cp:revision>1</cp:revision>
  <dc:title>Nhóm 07:</dc:title>
</cp:coreProperties>
</file>